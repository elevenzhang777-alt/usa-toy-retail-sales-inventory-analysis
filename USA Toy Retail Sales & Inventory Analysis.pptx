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745200" cy="10744200"/>
  <p:notesSz cx="18745200" cy="10744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0" d="100"/>
          <a:sy n="30" d="100"/>
        </p:scale>
        <p:origin x="44" y="2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5890" y="3330702"/>
            <a:ext cx="15933420" cy="22562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11780" y="6016752"/>
            <a:ext cx="13121640" cy="268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37260" y="2471166"/>
            <a:ext cx="8154162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653778" y="2471166"/>
            <a:ext cx="8154162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228600"/>
            <a:ext cx="18288000" cy="323850"/>
          </a:xfrm>
          <a:custGeom>
            <a:avLst/>
            <a:gdLst/>
            <a:ahLst/>
            <a:cxnLst/>
            <a:rect l="l" t="t" r="r" b="b"/>
            <a:pathLst>
              <a:path w="18288000" h="323850">
                <a:moveTo>
                  <a:pt x="18287998" y="323849"/>
                </a:moveTo>
                <a:lnTo>
                  <a:pt x="0" y="3238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23849"/>
                </a:lnTo>
                <a:close/>
              </a:path>
            </a:pathLst>
          </a:custGeom>
          <a:solidFill>
            <a:srgbClr val="3B3A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8587" y="548639"/>
            <a:ext cx="18288000" cy="1222375"/>
          </a:xfrm>
          <a:custGeom>
            <a:avLst/>
            <a:gdLst/>
            <a:ahLst/>
            <a:cxnLst/>
            <a:rect l="l" t="t" r="r" b="b"/>
            <a:pathLst>
              <a:path w="18288000" h="1222375">
                <a:moveTo>
                  <a:pt x="18288000" y="1213485"/>
                </a:moveTo>
                <a:lnTo>
                  <a:pt x="0" y="1213485"/>
                </a:lnTo>
                <a:lnTo>
                  <a:pt x="0" y="1221752"/>
                </a:lnTo>
                <a:lnTo>
                  <a:pt x="18288000" y="1221752"/>
                </a:lnTo>
                <a:lnTo>
                  <a:pt x="18288000" y="1213485"/>
                </a:lnTo>
                <a:close/>
              </a:path>
              <a:path w="18288000" h="1222375">
                <a:moveTo>
                  <a:pt x="18288000" y="0"/>
                </a:moveTo>
                <a:lnTo>
                  <a:pt x="0" y="0"/>
                </a:lnTo>
                <a:lnTo>
                  <a:pt x="0" y="3810"/>
                </a:lnTo>
                <a:lnTo>
                  <a:pt x="18288000" y="381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>
              <a:alpha val="10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600" y="1762124"/>
            <a:ext cx="18288000" cy="64135"/>
          </a:xfrm>
          <a:custGeom>
            <a:avLst/>
            <a:gdLst/>
            <a:ahLst/>
            <a:cxnLst/>
            <a:rect l="l" t="t" r="r" b="b"/>
            <a:pathLst>
              <a:path w="18288000" h="64135">
                <a:moveTo>
                  <a:pt x="0" y="64135"/>
                </a:moveTo>
                <a:lnTo>
                  <a:pt x="18287999" y="64135"/>
                </a:lnTo>
                <a:lnTo>
                  <a:pt x="18287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2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8600" y="552449"/>
            <a:ext cx="18288000" cy="1209675"/>
          </a:xfrm>
          <a:custGeom>
            <a:avLst/>
            <a:gdLst/>
            <a:ahLst/>
            <a:cxnLst/>
            <a:rect l="l" t="t" r="r" b="b"/>
            <a:pathLst>
              <a:path w="18288000" h="1209675">
                <a:moveTo>
                  <a:pt x="18287998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209674"/>
                </a:lnTo>
                <a:close/>
              </a:path>
            </a:pathLst>
          </a:custGeom>
          <a:solidFill>
            <a:srgbClr val="F2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028" y="1054100"/>
            <a:ext cx="154686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61616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7260" y="2471166"/>
            <a:ext cx="16870680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73368" y="9992106"/>
            <a:ext cx="5998464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37260" y="9992106"/>
            <a:ext cx="4311396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496545" y="9992106"/>
            <a:ext cx="4311396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8600" y="219074"/>
            <a:ext cx="18288000" cy="10296525"/>
            <a:chOff x="228600" y="219074"/>
            <a:chExt cx="18288000" cy="10296525"/>
          </a:xfrm>
        </p:grpSpPr>
        <p:sp>
          <p:nvSpPr>
            <p:cNvPr id="4" name="object 4"/>
            <p:cNvSpPr/>
            <p:nvPr/>
          </p:nvSpPr>
          <p:spPr>
            <a:xfrm>
              <a:off x="228600" y="228599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18287998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10286999"/>
                  </a:lnTo>
                  <a:close/>
                </a:path>
              </a:pathLst>
            </a:custGeom>
            <a:solidFill>
              <a:srgbClr val="FAFAFA">
                <a:alpha val="8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24175" y="228599"/>
              <a:ext cx="3495675" cy="2771775"/>
            </a:xfrm>
            <a:custGeom>
              <a:avLst/>
              <a:gdLst/>
              <a:ahLst/>
              <a:cxnLst/>
              <a:rect l="l" t="t" r="r" b="b"/>
              <a:pathLst>
                <a:path w="3495675" h="2771775">
                  <a:moveTo>
                    <a:pt x="3419474" y="2771774"/>
                  </a:moveTo>
                  <a:lnTo>
                    <a:pt x="76199" y="2771774"/>
                  </a:lnTo>
                  <a:lnTo>
                    <a:pt x="23812" y="2747962"/>
                  </a:lnTo>
                  <a:lnTo>
                    <a:pt x="0" y="269557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419474" y="0"/>
                  </a:lnTo>
                  <a:lnTo>
                    <a:pt x="3447454" y="6548"/>
                  </a:lnTo>
                  <a:lnTo>
                    <a:pt x="3471862" y="23812"/>
                  </a:lnTo>
                  <a:lnTo>
                    <a:pt x="3489126" y="48220"/>
                  </a:lnTo>
                  <a:lnTo>
                    <a:pt x="3495674" y="76199"/>
                  </a:lnTo>
                  <a:lnTo>
                    <a:pt x="3495674" y="2695574"/>
                  </a:lnTo>
                  <a:lnTo>
                    <a:pt x="3489126" y="2723554"/>
                  </a:lnTo>
                  <a:lnTo>
                    <a:pt x="3471862" y="2747962"/>
                  </a:lnTo>
                  <a:lnTo>
                    <a:pt x="3447454" y="2765226"/>
                  </a:lnTo>
                  <a:lnTo>
                    <a:pt x="3419474" y="2771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24175" y="228599"/>
              <a:ext cx="3495675" cy="2771775"/>
            </a:xfrm>
            <a:custGeom>
              <a:avLst/>
              <a:gdLst/>
              <a:ahLst/>
              <a:cxnLst/>
              <a:rect l="l" t="t" r="r" b="b"/>
              <a:pathLst>
                <a:path w="3495675" h="2771775">
                  <a:moveTo>
                    <a:pt x="0" y="76199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419474" y="0"/>
                  </a:lnTo>
                  <a:lnTo>
                    <a:pt x="3471862" y="23812"/>
                  </a:lnTo>
                  <a:lnTo>
                    <a:pt x="3495674" y="76199"/>
                  </a:lnTo>
                  <a:lnTo>
                    <a:pt x="3495674" y="2695574"/>
                  </a:lnTo>
                  <a:lnTo>
                    <a:pt x="3489126" y="2723554"/>
                  </a:lnTo>
                  <a:lnTo>
                    <a:pt x="3471862" y="2747962"/>
                  </a:lnTo>
                  <a:lnTo>
                    <a:pt x="3447454" y="2765226"/>
                  </a:lnTo>
                  <a:lnTo>
                    <a:pt x="3419474" y="2771774"/>
                  </a:lnTo>
                  <a:lnTo>
                    <a:pt x="76199" y="2771774"/>
                  </a:lnTo>
                  <a:lnTo>
                    <a:pt x="23812" y="2747962"/>
                  </a:lnTo>
                  <a:lnTo>
                    <a:pt x="0" y="2695574"/>
                  </a:lnTo>
                  <a:lnTo>
                    <a:pt x="0" y="76199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33700" y="238124"/>
              <a:ext cx="3476625" cy="2752725"/>
            </a:xfrm>
            <a:custGeom>
              <a:avLst/>
              <a:gdLst/>
              <a:ahLst/>
              <a:cxnLst/>
              <a:rect l="l" t="t" r="r" b="b"/>
              <a:pathLst>
                <a:path w="3476625" h="2752725">
                  <a:moveTo>
                    <a:pt x="3409949" y="2752724"/>
                  </a:moveTo>
                  <a:lnTo>
                    <a:pt x="66674" y="2752724"/>
                  </a:lnTo>
                  <a:lnTo>
                    <a:pt x="42192" y="2746994"/>
                  </a:lnTo>
                  <a:lnTo>
                    <a:pt x="20835" y="2731888"/>
                  </a:lnTo>
                  <a:lnTo>
                    <a:pt x="5729" y="2710532"/>
                  </a:lnTo>
                  <a:lnTo>
                    <a:pt x="0" y="268604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3409949" y="0"/>
                  </a:lnTo>
                  <a:lnTo>
                    <a:pt x="3434431" y="5729"/>
                  </a:lnTo>
                  <a:lnTo>
                    <a:pt x="3455788" y="20835"/>
                  </a:lnTo>
                  <a:lnTo>
                    <a:pt x="3470894" y="42192"/>
                  </a:lnTo>
                  <a:lnTo>
                    <a:pt x="3476624" y="66674"/>
                  </a:lnTo>
                  <a:lnTo>
                    <a:pt x="3476624" y="2686049"/>
                  </a:lnTo>
                  <a:lnTo>
                    <a:pt x="3470894" y="2710532"/>
                  </a:lnTo>
                  <a:lnTo>
                    <a:pt x="3455788" y="2731888"/>
                  </a:lnTo>
                  <a:lnTo>
                    <a:pt x="3434431" y="2746994"/>
                  </a:lnTo>
                  <a:lnTo>
                    <a:pt x="3409949" y="2752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pc="-10" dirty="0"/>
              <a:t>Revenue</a:t>
            </a: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b="0" spc="-25" dirty="0">
                <a:solidFill>
                  <a:srgbClr val="E66B37"/>
                </a:solidFill>
                <a:latin typeface="Segoe UI Semibold"/>
                <a:cs typeface="Segoe UI Semibold"/>
              </a:rPr>
              <a:t>2M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410325" y="247649"/>
            <a:ext cx="4162425" cy="2762250"/>
            <a:chOff x="6410325" y="247649"/>
            <a:chExt cx="4162425" cy="2762250"/>
          </a:xfrm>
        </p:grpSpPr>
        <p:sp>
          <p:nvSpPr>
            <p:cNvPr id="10" name="object 10"/>
            <p:cNvSpPr/>
            <p:nvPr/>
          </p:nvSpPr>
          <p:spPr>
            <a:xfrm>
              <a:off x="6419849" y="257174"/>
              <a:ext cx="4143375" cy="2743200"/>
            </a:xfrm>
            <a:custGeom>
              <a:avLst/>
              <a:gdLst/>
              <a:ahLst/>
              <a:cxnLst/>
              <a:rect l="l" t="t" r="r" b="b"/>
              <a:pathLst>
                <a:path w="4143375" h="2743200">
                  <a:moveTo>
                    <a:pt x="4067174" y="2743199"/>
                  </a:moveTo>
                  <a:lnTo>
                    <a:pt x="76199" y="2743199"/>
                  </a:lnTo>
                  <a:lnTo>
                    <a:pt x="23812" y="2719387"/>
                  </a:lnTo>
                  <a:lnTo>
                    <a:pt x="0" y="266699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4067174" y="0"/>
                  </a:lnTo>
                  <a:lnTo>
                    <a:pt x="4095154" y="6548"/>
                  </a:lnTo>
                  <a:lnTo>
                    <a:pt x="4119562" y="23812"/>
                  </a:lnTo>
                  <a:lnTo>
                    <a:pt x="4136826" y="48220"/>
                  </a:lnTo>
                  <a:lnTo>
                    <a:pt x="4143374" y="76199"/>
                  </a:lnTo>
                  <a:lnTo>
                    <a:pt x="4143374" y="2666999"/>
                  </a:lnTo>
                  <a:lnTo>
                    <a:pt x="4136826" y="2694979"/>
                  </a:lnTo>
                  <a:lnTo>
                    <a:pt x="4119562" y="2719387"/>
                  </a:lnTo>
                  <a:lnTo>
                    <a:pt x="4095154" y="2736651"/>
                  </a:lnTo>
                  <a:lnTo>
                    <a:pt x="4067174" y="274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19850" y="257174"/>
              <a:ext cx="4143375" cy="2743200"/>
            </a:xfrm>
            <a:custGeom>
              <a:avLst/>
              <a:gdLst/>
              <a:ahLst/>
              <a:cxnLst/>
              <a:rect l="l" t="t" r="r" b="b"/>
              <a:pathLst>
                <a:path w="4143375" h="2743200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4067174" y="0"/>
                  </a:lnTo>
                  <a:lnTo>
                    <a:pt x="4119562" y="23812"/>
                  </a:lnTo>
                  <a:lnTo>
                    <a:pt x="4143374" y="76199"/>
                  </a:lnTo>
                  <a:lnTo>
                    <a:pt x="4143374" y="2666999"/>
                  </a:lnTo>
                  <a:lnTo>
                    <a:pt x="4136826" y="2694979"/>
                  </a:lnTo>
                  <a:lnTo>
                    <a:pt x="4119562" y="2719387"/>
                  </a:lnTo>
                  <a:lnTo>
                    <a:pt x="4095154" y="2736651"/>
                  </a:lnTo>
                  <a:lnTo>
                    <a:pt x="4067174" y="2743199"/>
                  </a:lnTo>
                  <a:lnTo>
                    <a:pt x="76199" y="2743199"/>
                  </a:lnTo>
                  <a:lnTo>
                    <a:pt x="23812" y="2719387"/>
                  </a:lnTo>
                  <a:lnTo>
                    <a:pt x="0" y="2666999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29375" y="266699"/>
              <a:ext cx="4124325" cy="2724150"/>
            </a:xfrm>
            <a:custGeom>
              <a:avLst/>
              <a:gdLst/>
              <a:ahLst/>
              <a:cxnLst/>
              <a:rect l="l" t="t" r="r" b="b"/>
              <a:pathLst>
                <a:path w="4124325" h="2724150">
                  <a:moveTo>
                    <a:pt x="4057649" y="2724149"/>
                  </a:moveTo>
                  <a:lnTo>
                    <a:pt x="66674" y="2724149"/>
                  </a:lnTo>
                  <a:lnTo>
                    <a:pt x="42192" y="2718419"/>
                  </a:lnTo>
                  <a:lnTo>
                    <a:pt x="20835" y="2703313"/>
                  </a:lnTo>
                  <a:lnTo>
                    <a:pt x="5729" y="2681957"/>
                  </a:lnTo>
                  <a:lnTo>
                    <a:pt x="0" y="2657474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4057649" y="0"/>
                  </a:lnTo>
                  <a:lnTo>
                    <a:pt x="4082131" y="5729"/>
                  </a:lnTo>
                  <a:lnTo>
                    <a:pt x="4103488" y="20835"/>
                  </a:lnTo>
                  <a:lnTo>
                    <a:pt x="4118594" y="42192"/>
                  </a:lnTo>
                  <a:lnTo>
                    <a:pt x="4124324" y="66674"/>
                  </a:lnTo>
                  <a:lnTo>
                    <a:pt x="4124324" y="2657474"/>
                  </a:lnTo>
                  <a:lnTo>
                    <a:pt x="4118594" y="2681957"/>
                  </a:lnTo>
                  <a:lnTo>
                    <a:pt x="4103488" y="2703313"/>
                  </a:lnTo>
                  <a:lnTo>
                    <a:pt x="4082131" y="2718419"/>
                  </a:lnTo>
                  <a:lnTo>
                    <a:pt x="4057649" y="2724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4212" y="1063625"/>
            <a:ext cx="2133600" cy="10731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3000" b="1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3000" b="1" spc="-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3000" b="1" spc="-10" dirty="0">
                <a:solidFill>
                  <a:srgbClr val="616161"/>
                </a:solidFill>
                <a:latin typeface="Segoe UI"/>
                <a:cs typeface="Segoe UI"/>
              </a:rPr>
              <a:t>Profit</a:t>
            </a:r>
            <a:endParaRPr sz="30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3000" spc="-10" dirty="0">
                <a:solidFill>
                  <a:srgbClr val="E66B37"/>
                </a:solidFill>
                <a:latin typeface="Segoe UI Semibold"/>
                <a:cs typeface="Segoe UI Semibold"/>
              </a:rPr>
              <a:t>1.07M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553700" y="219074"/>
            <a:ext cx="4010025" cy="2790825"/>
            <a:chOff x="10553700" y="219074"/>
            <a:chExt cx="4010025" cy="2790825"/>
          </a:xfrm>
        </p:grpSpPr>
        <p:sp>
          <p:nvSpPr>
            <p:cNvPr id="15" name="object 15"/>
            <p:cNvSpPr/>
            <p:nvPr/>
          </p:nvSpPr>
          <p:spPr>
            <a:xfrm>
              <a:off x="10563225" y="228599"/>
              <a:ext cx="3990975" cy="2771775"/>
            </a:xfrm>
            <a:custGeom>
              <a:avLst/>
              <a:gdLst/>
              <a:ahLst/>
              <a:cxnLst/>
              <a:rect l="l" t="t" r="r" b="b"/>
              <a:pathLst>
                <a:path w="3990975" h="2771775">
                  <a:moveTo>
                    <a:pt x="3914774" y="2771774"/>
                  </a:moveTo>
                  <a:lnTo>
                    <a:pt x="76199" y="2771774"/>
                  </a:lnTo>
                  <a:lnTo>
                    <a:pt x="23812" y="2747962"/>
                  </a:lnTo>
                  <a:lnTo>
                    <a:pt x="0" y="269557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914774" y="0"/>
                  </a:lnTo>
                  <a:lnTo>
                    <a:pt x="3942754" y="6548"/>
                  </a:lnTo>
                  <a:lnTo>
                    <a:pt x="3967161" y="23812"/>
                  </a:lnTo>
                  <a:lnTo>
                    <a:pt x="3984426" y="48220"/>
                  </a:lnTo>
                  <a:lnTo>
                    <a:pt x="3990974" y="76199"/>
                  </a:lnTo>
                  <a:lnTo>
                    <a:pt x="3990974" y="2695574"/>
                  </a:lnTo>
                  <a:lnTo>
                    <a:pt x="3984426" y="2723554"/>
                  </a:lnTo>
                  <a:lnTo>
                    <a:pt x="3967162" y="2747962"/>
                  </a:lnTo>
                  <a:lnTo>
                    <a:pt x="3942754" y="2765226"/>
                  </a:lnTo>
                  <a:lnTo>
                    <a:pt x="3914774" y="2771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63225" y="228599"/>
              <a:ext cx="3990975" cy="2771775"/>
            </a:xfrm>
            <a:custGeom>
              <a:avLst/>
              <a:gdLst/>
              <a:ahLst/>
              <a:cxnLst/>
              <a:rect l="l" t="t" r="r" b="b"/>
              <a:pathLst>
                <a:path w="3990975" h="277177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914774" y="0"/>
                  </a:lnTo>
                  <a:lnTo>
                    <a:pt x="3967162" y="23812"/>
                  </a:lnTo>
                  <a:lnTo>
                    <a:pt x="3990974" y="76199"/>
                  </a:lnTo>
                  <a:lnTo>
                    <a:pt x="3990974" y="2695574"/>
                  </a:lnTo>
                  <a:lnTo>
                    <a:pt x="3984426" y="2723554"/>
                  </a:lnTo>
                  <a:lnTo>
                    <a:pt x="3967162" y="2747962"/>
                  </a:lnTo>
                  <a:lnTo>
                    <a:pt x="3942754" y="2765226"/>
                  </a:lnTo>
                  <a:lnTo>
                    <a:pt x="3914774" y="2771774"/>
                  </a:lnTo>
                  <a:lnTo>
                    <a:pt x="76199" y="2771774"/>
                  </a:lnTo>
                  <a:lnTo>
                    <a:pt x="23812" y="2747962"/>
                  </a:lnTo>
                  <a:lnTo>
                    <a:pt x="0" y="269557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572750" y="238124"/>
              <a:ext cx="3971925" cy="2752725"/>
            </a:xfrm>
            <a:custGeom>
              <a:avLst/>
              <a:gdLst/>
              <a:ahLst/>
              <a:cxnLst/>
              <a:rect l="l" t="t" r="r" b="b"/>
              <a:pathLst>
                <a:path w="3971925" h="2752725">
                  <a:moveTo>
                    <a:pt x="3905249" y="2752724"/>
                  </a:moveTo>
                  <a:lnTo>
                    <a:pt x="66674" y="2752724"/>
                  </a:lnTo>
                  <a:lnTo>
                    <a:pt x="42192" y="2746994"/>
                  </a:lnTo>
                  <a:lnTo>
                    <a:pt x="20835" y="2731888"/>
                  </a:lnTo>
                  <a:lnTo>
                    <a:pt x="5729" y="2710532"/>
                  </a:lnTo>
                  <a:lnTo>
                    <a:pt x="0" y="268604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3905249" y="0"/>
                  </a:lnTo>
                  <a:lnTo>
                    <a:pt x="3929731" y="5729"/>
                  </a:lnTo>
                  <a:lnTo>
                    <a:pt x="3951088" y="20835"/>
                  </a:lnTo>
                  <a:lnTo>
                    <a:pt x="3966194" y="42192"/>
                  </a:lnTo>
                  <a:lnTo>
                    <a:pt x="3971924" y="66674"/>
                  </a:lnTo>
                  <a:lnTo>
                    <a:pt x="3971924" y="2686049"/>
                  </a:lnTo>
                  <a:lnTo>
                    <a:pt x="3966194" y="2710532"/>
                  </a:lnTo>
                  <a:lnTo>
                    <a:pt x="3951088" y="2731888"/>
                  </a:lnTo>
                  <a:lnTo>
                    <a:pt x="3929731" y="2746994"/>
                  </a:lnTo>
                  <a:lnTo>
                    <a:pt x="3905249" y="2752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361191" y="1054100"/>
            <a:ext cx="2414270" cy="10731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3000" b="1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3000" b="1" spc="-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3000" b="1" spc="-10" dirty="0">
                <a:solidFill>
                  <a:srgbClr val="616161"/>
                </a:solidFill>
                <a:latin typeface="Segoe UI"/>
                <a:cs typeface="Segoe UI"/>
              </a:rPr>
              <a:t>Margin</a:t>
            </a:r>
            <a:endParaRPr sz="30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3000" spc="-10" dirty="0">
                <a:solidFill>
                  <a:srgbClr val="E66B37"/>
                </a:solidFill>
                <a:latin typeface="Segoe UI Semibold"/>
                <a:cs typeface="Segoe UI Semibold"/>
              </a:rPr>
              <a:t>43.62%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544673" y="219074"/>
            <a:ext cx="3971925" cy="2790825"/>
            <a:chOff x="14544673" y="219074"/>
            <a:chExt cx="3971925" cy="2790825"/>
          </a:xfrm>
        </p:grpSpPr>
        <p:sp>
          <p:nvSpPr>
            <p:cNvPr id="20" name="object 20"/>
            <p:cNvSpPr/>
            <p:nvPr/>
          </p:nvSpPr>
          <p:spPr>
            <a:xfrm>
              <a:off x="14554198" y="228599"/>
              <a:ext cx="3952875" cy="2771775"/>
            </a:xfrm>
            <a:custGeom>
              <a:avLst/>
              <a:gdLst/>
              <a:ahLst/>
              <a:cxnLst/>
              <a:rect l="l" t="t" r="r" b="b"/>
              <a:pathLst>
                <a:path w="3952875" h="2771775">
                  <a:moveTo>
                    <a:pt x="3876674" y="2771774"/>
                  </a:moveTo>
                  <a:lnTo>
                    <a:pt x="76199" y="2771774"/>
                  </a:lnTo>
                  <a:lnTo>
                    <a:pt x="23812" y="2747962"/>
                  </a:lnTo>
                  <a:lnTo>
                    <a:pt x="0" y="269557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876674" y="0"/>
                  </a:lnTo>
                  <a:lnTo>
                    <a:pt x="3904653" y="6548"/>
                  </a:lnTo>
                  <a:lnTo>
                    <a:pt x="3929061" y="23812"/>
                  </a:lnTo>
                  <a:lnTo>
                    <a:pt x="3946326" y="48220"/>
                  </a:lnTo>
                  <a:lnTo>
                    <a:pt x="3952874" y="76199"/>
                  </a:lnTo>
                  <a:lnTo>
                    <a:pt x="3952874" y="2695574"/>
                  </a:lnTo>
                  <a:lnTo>
                    <a:pt x="3946326" y="2723554"/>
                  </a:lnTo>
                  <a:lnTo>
                    <a:pt x="3929062" y="2747962"/>
                  </a:lnTo>
                  <a:lnTo>
                    <a:pt x="3904654" y="2765226"/>
                  </a:lnTo>
                  <a:lnTo>
                    <a:pt x="3876674" y="2771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554198" y="228599"/>
              <a:ext cx="3952875" cy="2771775"/>
            </a:xfrm>
            <a:custGeom>
              <a:avLst/>
              <a:gdLst/>
              <a:ahLst/>
              <a:cxnLst/>
              <a:rect l="l" t="t" r="r" b="b"/>
              <a:pathLst>
                <a:path w="3952875" h="277177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876674" y="0"/>
                  </a:lnTo>
                  <a:lnTo>
                    <a:pt x="3929062" y="23812"/>
                  </a:lnTo>
                  <a:lnTo>
                    <a:pt x="3952874" y="76199"/>
                  </a:lnTo>
                  <a:lnTo>
                    <a:pt x="3952874" y="2695574"/>
                  </a:lnTo>
                  <a:lnTo>
                    <a:pt x="3946326" y="2723554"/>
                  </a:lnTo>
                  <a:lnTo>
                    <a:pt x="3929061" y="2747962"/>
                  </a:lnTo>
                  <a:lnTo>
                    <a:pt x="3904653" y="2765226"/>
                  </a:lnTo>
                  <a:lnTo>
                    <a:pt x="3876674" y="2771774"/>
                  </a:lnTo>
                  <a:lnTo>
                    <a:pt x="76199" y="2771774"/>
                  </a:lnTo>
                  <a:lnTo>
                    <a:pt x="23812" y="2747962"/>
                  </a:lnTo>
                  <a:lnTo>
                    <a:pt x="0" y="269557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563723" y="238124"/>
              <a:ext cx="3933825" cy="2752725"/>
            </a:xfrm>
            <a:custGeom>
              <a:avLst/>
              <a:gdLst/>
              <a:ahLst/>
              <a:cxnLst/>
              <a:rect l="l" t="t" r="r" b="b"/>
              <a:pathLst>
                <a:path w="3933825" h="2752725">
                  <a:moveTo>
                    <a:pt x="3867149" y="2752724"/>
                  </a:moveTo>
                  <a:lnTo>
                    <a:pt x="66674" y="2752724"/>
                  </a:lnTo>
                  <a:lnTo>
                    <a:pt x="42192" y="2746994"/>
                  </a:lnTo>
                  <a:lnTo>
                    <a:pt x="20835" y="2731888"/>
                  </a:lnTo>
                  <a:lnTo>
                    <a:pt x="5729" y="2710532"/>
                  </a:lnTo>
                  <a:lnTo>
                    <a:pt x="0" y="268604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3867149" y="0"/>
                  </a:lnTo>
                  <a:lnTo>
                    <a:pt x="3891631" y="5729"/>
                  </a:lnTo>
                  <a:lnTo>
                    <a:pt x="3912988" y="20835"/>
                  </a:lnTo>
                  <a:lnTo>
                    <a:pt x="3928094" y="42192"/>
                  </a:lnTo>
                  <a:lnTo>
                    <a:pt x="3933824" y="66674"/>
                  </a:lnTo>
                  <a:lnTo>
                    <a:pt x="3933824" y="2686049"/>
                  </a:lnTo>
                  <a:lnTo>
                    <a:pt x="3928094" y="2710532"/>
                  </a:lnTo>
                  <a:lnTo>
                    <a:pt x="3912988" y="2731888"/>
                  </a:lnTo>
                  <a:lnTo>
                    <a:pt x="3891631" y="2746994"/>
                  </a:lnTo>
                  <a:lnTo>
                    <a:pt x="3867149" y="2752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567967" y="1054100"/>
            <a:ext cx="1944370" cy="10731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3000" b="1" spc="-30" dirty="0">
                <a:solidFill>
                  <a:srgbClr val="616161"/>
                </a:solidFill>
                <a:latin typeface="Segoe UI"/>
                <a:cs typeface="Segoe UI"/>
              </a:rPr>
              <a:t>Total</a:t>
            </a:r>
            <a:r>
              <a:rPr sz="3000" b="1" spc="-1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3000" b="1" spc="-10" dirty="0">
                <a:solidFill>
                  <a:srgbClr val="616161"/>
                </a:solidFill>
                <a:latin typeface="Segoe UI"/>
                <a:cs typeface="Segoe UI"/>
              </a:rPr>
              <a:t>Units</a:t>
            </a:r>
            <a:endParaRPr sz="30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3000" spc="-20" dirty="0">
                <a:solidFill>
                  <a:srgbClr val="E66B37"/>
                </a:solidFill>
                <a:latin typeface="Segoe UI Semibold"/>
                <a:cs typeface="Segoe UI Semibold"/>
              </a:rPr>
              <a:t>141K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8600" y="5772149"/>
            <a:ext cx="9153525" cy="4743450"/>
            <a:chOff x="228600" y="5772149"/>
            <a:chExt cx="9153525" cy="4743450"/>
          </a:xfrm>
        </p:grpSpPr>
        <p:sp>
          <p:nvSpPr>
            <p:cNvPr id="25" name="object 25"/>
            <p:cNvSpPr/>
            <p:nvPr/>
          </p:nvSpPr>
          <p:spPr>
            <a:xfrm>
              <a:off x="233362" y="5776912"/>
              <a:ext cx="9144000" cy="4733925"/>
            </a:xfrm>
            <a:custGeom>
              <a:avLst/>
              <a:gdLst/>
              <a:ahLst/>
              <a:cxnLst/>
              <a:rect l="l" t="t" r="r" b="b"/>
              <a:pathLst>
                <a:path w="9144000" h="4733925">
                  <a:moveTo>
                    <a:pt x="9077252" y="4733924"/>
                  </a:moveTo>
                  <a:lnTo>
                    <a:pt x="66746" y="4733924"/>
                  </a:lnTo>
                  <a:lnTo>
                    <a:pt x="62101" y="4733467"/>
                  </a:lnTo>
                  <a:lnTo>
                    <a:pt x="24240" y="4716317"/>
                  </a:lnTo>
                  <a:lnTo>
                    <a:pt x="2287" y="4681024"/>
                  </a:lnTo>
                  <a:lnTo>
                    <a:pt x="0" y="4667177"/>
                  </a:lnTo>
                  <a:lnTo>
                    <a:pt x="0" y="46624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9077252" y="0"/>
                  </a:lnTo>
                  <a:lnTo>
                    <a:pt x="9116149" y="14645"/>
                  </a:lnTo>
                  <a:lnTo>
                    <a:pt x="9140355" y="48433"/>
                  </a:lnTo>
                  <a:lnTo>
                    <a:pt x="9143998" y="66746"/>
                  </a:lnTo>
                  <a:lnTo>
                    <a:pt x="9143998" y="4667177"/>
                  </a:lnTo>
                  <a:lnTo>
                    <a:pt x="9129353" y="4706075"/>
                  </a:lnTo>
                  <a:lnTo>
                    <a:pt x="9095565" y="4730281"/>
                  </a:lnTo>
                  <a:lnTo>
                    <a:pt x="9081897" y="4733467"/>
                  </a:lnTo>
                  <a:lnTo>
                    <a:pt x="9077252" y="4733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3362" y="5776912"/>
              <a:ext cx="9144000" cy="4733925"/>
            </a:xfrm>
            <a:custGeom>
              <a:avLst/>
              <a:gdLst/>
              <a:ahLst/>
              <a:cxnLst/>
              <a:rect l="l" t="t" r="r" b="b"/>
              <a:pathLst>
                <a:path w="9144000" h="4733925">
                  <a:moveTo>
                    <a:pt x="0" y="46624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072561" y="0"/>
                  </a:lnTo>
                  <a:lnTo>
                    <a:pt x="9077252" y="0"/>
                  </a:lnTo>
                  <a:lnTo>
                    <a:pt x="9081897" y="457"/>
                  </a:lnTo>
                  <a:lnTo>
                    <a:pt x="9086497" y="1372"/>
                  </a:lnTo>
                  <a:lnTo>
                    <a:pt x="9091097" y="2287"/>
                  </a:lnTo>
                  <a:lnTo>
                    <a:pt x="9126391" y="24240"/>
                  </a:lnTo>
                  <a:lnTo>
                    <a:pt x="9131958" y="31748"/>
                  </a:lnTo>
                  <a:lnTo>
                    <a:pt x="9134564" y="35649"/>
                  </a:lnTo>
                  <a:lnTo>
                    <a:pt x="9136765" y="39765"/>
                  </a:lnTo>
                  <a:lnTo>
                    <a:pt x="9138560" y="44099"/>
                  </a:lnTo>
                  <a:lnTo>
                    <a:pt x="9140355" y="48433"/>
                  </a:lnTo>
                  <a:lnTo>
                    <a:pt x="9141710" y="52900"/>
                  </a:lnTo>
                  <a:lnTo>
                    <a:pt x="9142625" y="57500"/>
                  </a:lnTo>
                  <a:lnTo>
                    <a:pt x="9143541" y="62101"/>
                  </a:lnTo>
                  <a:lnTo>
                    <a:pt x="9143998" y="66746"/>
                  </a:lnTo>
                  <a:lnTo>
                    <a:pt x="9143999" y="71437"/>
                  </a:lnTo>
                  <a:lnTo>
                    <a:pt x="9143999" y="4662487"/>
                  </a:lnTo>
                  <a:lnTo>
                    <a:pt x="9143998" y="4667177"/>
                  </a:lnTo>
                  <a:lnTo>
                    <a:pt x="9143541" y="4671823"/>
                  </a:lnTo>
                  <a:lnTo>
                    <a:pt x="9142625" y="4676423"/>
                  </a:lnTo>
                  <a:lnTo>
                    <a:pt x="9141710" y="4681024"/>
                  </a:lnTo>
                  <a:lnTo>
                    <a:pt x="9140355" y="4685490"/>
                  </a:lnTo>
                  <a:lnTo>
                    <a:pt x="9138560" y="4689824"/>
                  </a:lnTo>
                  <a:lnTo>
                    <a:pt x="9136765" y="4694158"/>
                  </a:lnTo>
                  <a:lnTo>
                    <a:pt x="9134564" y="4698275"/>
                  </a:lnTo>
                  <a:lnTo>
                    <a:pt x="9131958" y="4702175"/>
                  </a:lnTo>
                  <a:lnTo>
                    <a:pt x="9129353" y="4706075"/>
                  </a:lnTo>
                  <a:lnTo>
                    <a:pt x="9095565" y="4730281"/>
                  </a:lnTo>
                  <a:lnTo>
                    <a:pt x="9086497" y="4732551"/>
                  </a:lnTo>
                  <a:lnTo>
                    <a:pt x="9081897" y="4733467"/>
                  </a:lnTo>
                  <a:lnTo>
                    <a:pt x="9077252" y="4733924"/>
                  </a:lnTo>
                  <a:lnTo>
                    <a:pt x="9072561" y="4733924"/>
                  </a:lnTo>
                  <a:lnTo>
                    <a:pt x="71437" y="4733924"/>
                  </a:lnTo>
                  <a:lnTo>
                    <a:pt x="66746" y="4733924"/>
                  </a:lnTo>
                  <a:lnTo>
                    <a:pt x="62101" y="4733467"/>
                  </a:lnTo>
                  <a:lnTo>
                    <a:pt x="57500" y="4732551"/>
                  </a:lnTo>
                  <a:lnTo>
                    <a:pt x="52900" y="4731636"/>
                  </a:lnTo>
                  <a:lnTo>
                    <a:pt x="31748" y="4721885"/>
                  </a:lnTo>
                  <a:lnTo>
                    <a:pt x="27848" y="4719279"/>
                  </a:lnTo>
                  <a:lnTo>
                    <a:pt x="24240" y="4716317"/>
                  </a:lnTo>
                  <a:lnTo>
                    <a:pt x="20923" y="4713000"/>
                  </a:lnTo>
                  <a:lnTo>
                    <a:pt x="17606" y="4709683"/>
                  </a:lnTo>
                  <a:lnTo>
                    <a:pt x="1372" y="4676423"/>
                  </a:lnTo>
                  <a:lnTo>
                    <a:pt x="457" y="4671823"/>
                  </a:lnTo>
                  <a:lnTo>
                    <a:pt x="0" y="4667177"/>
                  </a:lnTo>
                  <a:lnTo>
                    <a:pt x="0" y="466248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039592" y="5857938"/>
            <a:ext cx="1550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 Trend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7824" y="6188074"/>
            <a:ext cx="2924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Quarter,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Month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Name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Day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5266" y="6559401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32K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5266" y="7284094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30K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5266" y="8008788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28K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5266" y="8733482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26K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09612" y="6657975"/>
            <a:ext cx="8505825" cy="2908300"/>
            <a:chOff x="709612" y="6657975"/>
            <a:chExt cx="8505825" cy="2908300"/>
          </a:xfrm>
        </p:grpSpPr>
        <p:sp>
          <p:nvSpPr>
            <p:cNvPr id="30" name="object 30"/>
            <p:cNvSpPr/>
            <p:nvPr/>
          </p:nvSpPr>
          <p:spPr>
            <a:xfrm>
              <a:off x="714374" y="9561512"/>
              <a:ext cx="8496300" cy="0"/>
            </a:xfrm>
            <a:custGeom>
              <a:avLst/>
              <a:gdLst/>
              <a:ahLst/>
              <a:cxnLst/>
              <a:rect l="l" t="t" r="r" b="b"/>
              <a:pathLst>
                <a:path w="8496300">
                  <a:moveTo>
                    <a:pt x="0" y="0"/>
                  </a:moveTo>
                  <a:lnTo>
                    <a:pt x="84962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4374" y="8836818"/>
              <a:ext cx="8496300" cy="0"/>
            </a:xfrm>
            <a:custGeom>
              <a:avLst/>
              <a:gdLst/>
              <a:ahLst/>
              <a:cxnLst/>
              <a:rect l="l" t="t" r="r" b="b"/>
              <a:pathLst>
                <a:path w="8496300">
                  <a:moveTo>
                    <a:pt x="0" y="0"/>
                  </a:moveTo>
                  <a:lnTo>
                    <a:pt x="84962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4374" y="8112125"/>
              <a:ext cx="8496300" cy="0"/>
            </a:xfrm>
            <a:custGeom>
              <a:avLst/>
              <a:gdLst/>
              <a:ahLst/>
              <a:cxnLst/>
              <a:rect l="l" t="t" r="r" b="b"/>
              <a:pathLst>
                <a:path w="8496300">
                  <a:moveTo>
                    <a:pt x="0" y="0"/>
                  </a:moveTo>
                  <a:lnTo>
                    <a:pt x="84962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14374" y="7387430"/>
              <a:ext cx="8496300" cy="0"/>
            </a:xfrm>
            <a:custGeom>
              <a:avLst/>
              <a:gdLst/>
              <a:ahLst/>
              <a:cxnLst/>
              <a:rect l="l" t="t" r="r" b="b"/>
              <a:pathLst>
                <a:path w="8496300">
                  <a:moveTo>
                    <a:pt x="0" y="0"/>
                  </a:moveTo>
                  <a:lnTo>
                    <a:pt x="84962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14374" y="6662737"/>
              <a:ext cx="8496300" cy="0"/>
            </a:xfrm>
            <a:custGeom>
              <a:avLst/>
              <a:gdLst/>
              <a:ahLst/>
              <a:cxnLst/>
              <a:rect l="l" t="t" r="r" b="b"/>
              <a:pathLst>
                <a:path w="8496300">
                  <a:moveTo>
                    <a:pt x="0" y="0"/>
                  </a:moveTo>
                  <a:lnTo>
                    <a:pt x="84962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/>
          <p:nvPr/>
        </p:nvSpPr>
        <p:spPr>
          <a:xfrm>
            <a:off x="870270" y="6680672"/>
            <a:ext cx="8184515" cy="2753995"/>
          </a:xfrm>
          <a:custGeom>
            <a:avLst/>
            <a:gdLst/>
            <a:ahLst/>
            <a:cxnLst/>
            <a:rect l="l" t="t" r="r" b="b"/>
            <a:pathLst>
              <a:path w="8184515" h="2753995">
                <a:moveTo>
                  <a:pt x="0" y="2477336"/>
                </a:moveTo>
                <a:lnTo>
                  <a:pt x="10256" y="2406858"/>
                </a:lnTo>
                <a:lnTo>
                  <a:pt x="20512" y="2336771"/>
                </a:lnTo>
                <a:lnTo>
                  <a:pt x="30768" y="2267465"/>
                </a:lnTo>
                <a:lnTo>
                  <a:pt x="41025" y="2199332"/>
                </a:lnTo>
                <a:lnTo>
                  <a:pt x="51281" y="2132762"/>
                </a:lnTo>
                <a:lnTo>
                  <a:pt x="61537" y="2068146"/>
                </a:lnTo>
                <a:lnTo>
                  <a:pt x="71793" y="2005875"/>
                </a:lnTo>
                <a:lnTo>
                  <a:pt x="82050" y="1946340"/>
                </a:lnTo>
                <a:lnTo>
                  <a:pt x="92306" y="1889932"/>
                </a:lnTo>
                <a:lnTo>
                  <a:pt x="102562" y="1837041"/>
                </a:lnTo>
                <a:lnTo>
                  <a:pt x="112819" y="1788058"/>
                </a:lnTo>
                <a:lnTo>
                  <a:pt x="123075" y="1743374"/>
                </a:lnTo>
                <a:lnTo>
                  <a:pt x="133331" y="1703380"/>
                </a:lnTo>
                <a:lnTo>
                  <a:pt x="153844" y="1639025"/>
                </a:lnTo>
                <a:lnTo>
                  <a:pt x="174356" y="1598119"/>
                </a:lnTo>
                <a:lnTo>
                  <a:pt x="194869" y="1583788"/>
                </a:lnTo>
                <a:lnTo>
                  <a:pt x="243586" y="1590709"/>
                </a:lnTo>
                <a:lnTo>
                  <a:pt x="292303" y="1607220"/>
                </a:lnTo>
                <a:lnTo>
                  <a:pt x="341021" y="1626951"/>
                </a:lnTo>
                <a:lnTo>
                  <a:pt x="389738" y="1643529"/>
                </a:lnTo>
                <a:lnTo>
                  <a:pt x="438455" y="1657533"/>
                </a:lnTo>
                <a:lnTo>
                  <a:pt x="487173" y="1671603"/>
                </a:lnTo>
                <a:lnTo>
                  <a:pt x="535890" y="1682453"/>
                </a:lnTo>
                <a:lnTo>
                  <a:pt x="584607" y="1686800"/>
                </a:lnTo>
                <a:lnTo>
                  <a:pt x="615376" y="1630975"/>
                </a:lnTo>
                <a:lnTo>
                  <a:pt x="625632" y="1591448"/>
                </a:lnTo>
                <a:lnTo>
                  <a:pt x="635889" y="1543894"/>
                </a:lnTo>
                <a:lnTo>
                  <a:pt x="646145" y="1489771"/>
                </a:lnTo>
                <a:lnTo>
                  <a:pt x="656401" y="1430541"/>
                </a:lnTo>
                <a:lnTo>
                  <a:pt x="666657" y="1367662"/>
                </a:lnTo>
                <a:lnTo>
                  <a:pt x="676914" y="1302594"/>
                </a:lnTo>
                <a:lnTo>
                  <a:pt x="687170" y="1236797"/>
                </a:lnTo>
                <a:lnTo>
                  <a:pt x="697426" y="1171728"/>
                </a:lnTo>
                <a:lnTo>
                  <a:pt x="707683" y="1108850"/>
                </a:lnTo>
                <a:lnTo>
                  <a:pt x="717939" y="1049619"/>
                </a:lnTo>
                <a:lnTo>
                  <a:pt x="728195" y="995497"/>
                </a:lnTo>
                <a:lnTo>
                  <a:pt x="738451" y="947943"/>
                </a:lnTo>
                <a:lnTo>
                  <a:pt x="748708" y="908416"/>
                </a:lnTo>
                <a:lnTo>
                  <a:pt x="769220" y="859280"/>
                </a:lnTo>
                <a:lnTo>
                  <a:pt x="779477" y="852591"/>
                </a:lnTo>
                <a:lnTo>
                  <a:pt x="788334" y="858605"/>
                </a:lnTo>
                <a:lnTo>
                  <a:pt x="806050" y="903340"/>
                </a:lnTo>
                <a:lnTo>
                  <a:pt x="823765" y="984162"/>
                </a:lnTo>
                <a:lnTo>
                  <a:pt x="832623" y="1035287"/>
                </a:lnTo>
                <a:lnTo>
                  <a:pt x="841480" y="1092050"/>
                </a:lnTo>
                <a:lnTo>
                  <a:pt x="850338" y="1153325"/>
                </a:lnTo>
                <a:lnTo>
                  <a:pt x="859196" y="1217983"/>
                </a:lnTo>
                <a:lnTo>
                  <a:pt x="868053" y="1284896"/>
                </a:lnTo>
                <a:lnTo>
                  <a:pt x="876911" y="1352937"/>
                </a:lnTo>
                <a:lnTo>
                  <a:pt x="885769" y="1420979"/>
                </a:lnTo>
                <a:lnTo>
                  <a:pt x="894627" y="1487892"/>
                </a:lnTo>
                <a:lnTo>
                  <a:pt x="903484" y="1552550"/>
                </a:lnTo>
                <a:lnTo>
                  <a:pt x="912342" y="1613824"/>
                </a:lnTo>
                <a:lnTo>
                  <a:pt x="921200" y="1670588"/>
                </a:lnTo>
                <a:lnTo>
                  <a:pt x="930057" y="1721713"/>
                </a:lnTo>
                <a:lnTo>
                  <a:pt x="938915" y="1766071"/>
                </a:lnTo>
                <a:lnTo>
                  <a:pt x="956630" y="1829977"/>
                </a:lnTo>
                <a:lnTo>
                  <a:pt x="974346" y="1853284"/>
                </a:lnTo>
                <a:lnTo>
                  <a:pt x="1006824" y="1840087"/>
                </a:lnTo>
                <a:lnTo>
                  <a:pt x="1039302" y="1807093"/>
                </a:lnTo>
                <a:lnTo>
                  <a:pt x="1071780" y="1764201"/>
                </a:lnTo>
                <a:lnTo>
                  <a:pt x="1104259" y="1721309"/>
                </a:lnTo>
                <a:lnTo>
                  <a:pt x="1136737" y="1688316"/>
                </a:lnTo>
                <a:lnTo>
                  <a:pt x="1169215" y="1675118"/>
                </a:lnTo>
                <a:lnTo>
                  <a:pt x="1179471" y="1681747"/>
                </a:lnTo>
                <a:lnTo>
                  <a:pt x="1189728" y="1700671"/>
                </a:lnTo>
                <a:lnTo>
                  <a:pt x="1210240" y="1769617"/>
                </a:lnTo>
                <a:lnTo>
                  <a:pt x="1220496" y="1816747"/>
                </a:lnTo>
                <a:lnTo>
                  <a:pt x="1230753" y="1870385"/>
                </a:lnTo>
                <a:lnTo>
                  <a:pt x="1241009" y="1929085"/>
                </a:lnTo>
                <a:lnTo>
                  <a:pt x="1251265" y="1991402"/>
                </a:lnTo>
                <a:lnTo>
                  <a:pt x="1261522" y="2055888"/>
                </a:lnTo>
                <a:lnTo>
                  <a:pt x="1271778" y="2121097"/>
                </a:lnTo>
                <a:lnTo>
                  <a:pt x="1282034" y="2185583"/>
                </a:lnTo>
                <a:lnTo>
                  <a:pt x="1292290" y="2247900"/>
                </a:lnTo>
                <a:lnTo>
                  <a:pt x="1302547" y="2306600"/>
                </a:lnTo>
                <a:lnTo>
                  <a:pt x="1312803" y="2360238"/>
                </a:lnTo>
                <a:lnTo>
                  <a:pt x="1323059" y="2407367"/>
                </a:lnTo>
                <a:lnTo>
                  <a:pt x="1333315" y="2446541"/>
                </a:lnTo>
                <a:lnTo>
                  <a:pt x="1353828" y="2495237"/>
                </a:lnTo>
                <a:lnTo>
                  <a:pt x="1364084" y="2501867"/>
                </a:lnTo>
                <a:lnTo>
                  <a:pt x="1391923" y="2490370"/>
                </a:lnTo>
                <a:lnTo>
                  <a:pt x="1419761" y="2460504"/>
                </a:lnTo>
                <a:lnTo>
                  <a:pt x="1447600" y="2419203"/>
                </a:lnTo>
                <a:lnTo>
                  <a:pt x="1475438" y="2373403"/>
                </a:lnTo>
                <a:lnTo>
                  <a:pt x="1503277" y="2330037"/>
                </a:lnTo>
                <a:lnTo>
                  <a:pt x="1531115" y="2296043"/>
                </a:lnTo>
                <a:lnTo>
                  <a:pt x="1558954" y="2278353"/>
                </a:lnTo>
                <a:lnTo>
                  <a:pt x="1607671" y="2269660"/>
                </a:lnTo>
                <a:lnTo>
                  <a:pt x="1656388" y="2265709"/>
                </a:lnTo>
                <a:lnTo>
                  <a:pt x="1705105" y="2261758"/>
                </a:lnTo>
                <a:lnTo>
                  <a:pt x="1753823" y="2253065"/>
                </a:lnTo>
                <a:lnTo>
                  <a:pt x="1784592" y="2191574"/>
                </a:lnTo>
                <a:lnTo>
                  <a:pt x="1794848" y="2151071"/>
                </a:lnTo>
                <a:lnTo>
                  <a:pt x="1805104" y="2102924"/>
                </a:lnTo>
                <a:lnTo>
                  <a:pt x="1815360" y="2048548"/>
                </a:lnTo>
                <a:lnTo>
                  <a:pt x="1825617" y="1989359"/>
                </a:lnTo>
                <a:lnTo>
                  <a:pt x="1835873" y="1926771"/>
                </a:lnTo>
                <a:lnTo>
                  <a:pt x="1846129" y="1862201"/>
                </a:lnTo>
                <a:lnTo>
                  <a:pt x="1856386" y="1797063"/>
                </a:lnTo>
                <a:lnTo>
                  <a:pt x="1866642" y="1732773"/>
                </a:lnTo>
                <a:lnTo>
                  <a:pt x="1876898" y="1670746"/>
                </a:lnTo>
                <a:lnTo>
                  <a:pt x="1887154" y="1612397"/>
                </a:lnTo>
                <a:lnTo>
                  <a:pt x="1897411" y="1559142"/>
                </a:lnTo>
                <a:lnTo>
                  <a:pt x="1907667" y="1512396"/>
                </a:lnTo>
                <a:lnTo>
                  <a:pt x="1917923" y="1473575"/>
                </a:lnTo>
                <a:lnTo>
                  <a:pt x="1938436" y="1425365"/>
                </a:lnTo>
                <a:lnTo>
                  <a:pt x="1948692" y="1418808"/>
                </a:lnTo>
                <a:lnTo>
                  <a:pt x="1958435" y="1425320"/>
                </a:lnTo>
                <a:lnTo>
                  <a:pt x="1977922" y="1473374"/>
                </a:lnTo>
                <a:lnTo>
                  <a:pt x="1987666" y="1512222"/>
                </a:lnTo>
                <a:lnTo>
                  <a:pt x="1997409" y="1559153"/>
                </a:lnTo>
                <a:lnTo>
                  <a:pt x="2007153" y="1612820"/>
                </a:lnTo>
                <a:lnTo>
                  <a:pt x="2016896" y="1671877"/>
                </a:lnTo>
                <a:lnTo>
                  <a:pt x="2026640" y="1734976"/>
                </a:lnTo>
                <a:lnTo>
                  <a:pt x="2036383" y="1800769"/>
                </a:lnTo>
                <a:lnTo>
                  <a:pt x="2046127" y="1867910"/>
                </a:lnTo>
                <a:lnTo>
                  <a:pt x="2055870" y="1935051"/>
                </a:lnTo>
                <a:lnTo>
                  <a:pt x="2065614" y="2000844"/>
                </a:lnTo>
                <a:lnTo>
                  <a:pt x="2075357" y="2063943"/>
                </a:lnTo>
                <a:lnTo>
                  <a:pt x="2085101" y="2123000"/>
                </a:lnTo>
                <a:lnTo>
                  <a:pt x="2094844" y="2176668"/>
                </a:lnTo>
                <a:lnTo>
                  <a:pt x="2104587" y="2223599"/>
                </a:lnTo>
                <a:lnTo>
                  <a:pt x="2114331" y="2262446"/>
                </a:lnTo>
                <a:lnTo>
                  <a:pt x="2133818" y="2310500"/>
                </a:lnTo>
                <a:lnTo>
                  <a:pt x="2143561" y="2317012"/>
                </a:lnTo>
                <a:lnTo>
                  <a:pt x="2161277" y="2307238"/>
                </a:lnTo>
                <a:lnTo>
                  <a:pt x="2196707" y="2240037"/>
                </a:lnTo>
                <a:lnTo>
                  <a:pt x="2214423" y="2189934"/>
                </a:lnTo>
                <a:lnTo>
                  <a:pt x="2232138" y="2133715"/>
                </a:lnTo>
                <a:lnTo>
                  <a:pt x="2249854" y="2075041"/>
                </a:lnTo>
                <a:lnTo>
                  <a:pt x="2267569" y="2017574"/>
                </a:lnTo>
                <a:lnTo>
                  <a:pt x="2285284" y="1964979"/>
                </a:lnTo>
                <a:lnTo>
                  <a:pt x="2303000" y="1920918"/>
                </a:lnTo>
                <a:lnTo>
                  <a:pt x="2338430" y="1873046"/>
                </a:lnTo>
                <a:lnTo>
                  <a:pt x="2387148" y="1856550"/>
                </a:lnTo>
                <a:lnTo>
                  <a:pt x="2435865" y="1844767"/>
                </a:lnTo>
                <a:lnTo>
                  <a:pt x="2484582" y="1837697"/>
                </a:lnTo>
                <a:lnTo>
                  <a:pt x="2533300" y="1835341"/>
                </a:lnTo>
                <a:lnTo>
                  <a:pt x="2542579" y="1841390"/>
                </a:lnTo>
                <a:lnTo>
                  <a:pt x="2561138" y="1886217"/>
                </a:lnTo>
                <a:lnTo>
                  <a:pt x="2579697" y="1966747"/>
                </a:lnTo>
                <a:lnTo>
                  <a:pt x="2588977" y="2017426"/>
                </a:lnTo>
                <a:lnTo>
                  <a:pt x="2598256" y="2073459"/>
                </a:lnTo>
                <a:lnTo>
                  <a:pt x="2607536" y="2133659"/>
                </a:lnTo>
                <a:lnTo>
                  <a:pt x="2616815" y="2196833"/>
                </a:lnTo>
                <a:lnTo>
                  <a:pt x="2626095" y="2261793"/>
                </a:lnTo>
                <a:lnTo>
                  <a:pt x="2635374" y="2327347"/>
                </a:lnTo>
                <a:lnTo>
                  <a:pt x="2644654" y="2392307"/>
                </a:lnTo>
                <a:lnTo>
                  <a:pt x="2653933" y="2455481"/>
                </a:lnTo>
                <a:lnTo>
                  <a:pt x="2663213" y="2515680"/>
                </a:lnTo>
                <a:lnTo>
                  <a:pt x="2672492" y="2571714"/>
                </a:lnTo>
                <a:lnTo>
                  <a:pt x="2681772" y="2622393"/>
                </a:lnTo>
                <a:lnTo>
                  <a:pt x="2691051" y="2666525"/>
                </a:lnTo>
                <a:lnTo>
                  <a:pt x="2709610" y="2730394"/>
                </a:lnTo>
                <a:lnTo>
                  <a:pt x="2728169" y="2753799"/>
                </a:lnTo>
                <a:lnTo>
                  <a:pt x="2733737" y="2749826"/>
                </a:lnTo>
                <a:lnTo>
                  <a:pt x="2750440" y="2693934"/>
                </a:lnTo>
                <a:lnTo>
                  <a:pt x="2761575" y="2624657"/>
                </a:lnTo>
                <a:lnTo>
                  <a:pt x="2767143" y="2581802"/>
                </a:lnTo>
                <a:lnTo>
                  <a:pt x="2772711" y="2534088"/>
                </a:lnTo>
                <a:lnTo>
                  <a:pt x="2778278" y="2481976"/>
                </a:lnTo>
                <a:lnTo>
                  <a:pt x="2783846" y="2425929"/>
                </a:lnTo>
                <a:lnTo>
                  <a:pt x="2789414" y="2366411"/>
                </a:lnTo>
                <a:lnTo>
                  <a:pt x="2794981" y="2303884"/>
                </a:lnTo>
                <a:lnTo>
                  <a:pt x="2800549" y="2238812"/>
                </a:lnTo>
                <a:lnTo>
                  <a:pt x="2806117" y="2171656"/>
                </a:lnTo>
                <a:lnTo>
                  <a:pt x="2811684" y="2102880"/>
                </a:lnTo>
                <a:lnTo>
                  <a:pt x="2817252" y="2032948"/>
                </a:lnTo>
                <a:lnTo>
                  <a:pt x="2822820" y="1962320"/>
                </a:lnTo>
                <a:lnTo>
                  <a:pt x="2828387" y="1891462"/>
                </a:lnTo>
                <a:lnTo>
                  <a:pt x="2833955" y="1820835"/>
                </a:lnTo>
                <a:lnTo>
                  <a:pt x="2839523" y="1750902"/>
                </a:lnTo>
                <a:lnTo>
                  <a:pt x="2845091" y="1682126"/>
                </a:lnTo>
                <a:lnTo>
                  <a:pt x="2850658" y="1614971"/>
                </a:lnTo>
                <a:lnTo>
                  <a:pt x="2856226" y="1549898"/>
                </a:lnTo>
                <a:lnTo>
                  <a:pt x="2861794" y="1487371"/>
                </a:lnTo>
                <a:lnTo>
                  <a:pt x="2867361" y="1427853"/>
                </a:lnTo>
                <a:lnTo>
                  <a:pt x="2872929" y="1371807"/>
                </a:lnTo>
                <a:lnTo>
                  <a:pt x="2878497" y="1319695"/>
                </a:lnTo>
                <a:lnTo>
                  <a:pt x="2884064" y="1271980"/>
                </a:lnTo>
                <a:lnTo>
                  <a:pt x="2889632" y="1229125"/>
                </a:lnTo>
                <a:lnTo>
                  <a:pt x="2900767" y="1159848"/>
                </a:lnTo>
                <a:lnTo>
                  <a:pt x="2911903" y="1115567"/>
                </a:lnTo>
                <a:lnTo>
                  <a:pt x="2923038" y="1099983"/>
                </a:lnTo>
                <a:lnTo>
                  <a:pt x="2939277" y="1106626"/>
                </a:lnTo>
                <a:lnTo>
                  <a:pt x="2971756" y="1154751"/>
                </a:lnTo>
                <a:lnTo>
                  <a:pt x="2987995" y="1192891"/>
                </a:lnTo>
                <a:lnTo>
                  <a:pt x="3004234" y="1238186"/>
                </a:lnTo>
                <a:lnTo>
                  <a:pt x="3020473" y="1288965"/>
                </a:lnTo>
                <a:lnTo>
                  <a:pt x="3036712" y="1343557"/>
                </a:lnTo>
                <a:lnTo>
                  <a:pt x="3052951" y="1400290"/>
                </a:lnTo>
                <a:lnTo>
                  <a:pt x="3069190" y="1457491"/>
                </a:lnTo>
                <a:lnTo>
                  <a:pt x="3085429" y="1513490"/>
                </a:lnTo>
                <a:lnTo>
                  <a:pt x="3101668" y="1566615"/>
                </a:lnTo>
                <a:lnTo>
                  <a:pt x="3117907" y="1615193"/>
                </a:lnTo>
                <a:lnTo>
                  <a:pt x="3132897" y="1660990"/>
                </a:lnTo>
                <a:lnTo>
                  <a:pt x="3147887" y="1712798"/>
                </a:lnTo>
                <a:lnTo>
                  <a:pt x="3162877" y="1768935"/>
                </a:lnTo>
                <a:lnTo>
                  <a:pt x="3177867" y="1827717"/>
                </a:lnTo>
                <a:lnTo>
                  <a:pt x="3192857" y="1887459"/>
                </a:lnTo>
                <a:lnTo>
                  <a:pt x="3207847" y="1946479"/>
                </a:lnTo>
                <a:lnTo>
                  <a:pt x="3222837" y="2003092"/>
                </a:lnTo>
                <a:lnTo>
                  <a:pt x="3237827" y="2055615"/>
                </a:lnTo>
                <a:lnTo>
                  <a:pt x="3252817" y="2102364"/>
                </a:lnTo>
                <a:lnTo>
                  <a:pt x="3267807" y="2141655"/>
                </a:lnTo>
                <a:lnTo>
                  <a:pt x="3297787" y="2191129"/>
                </a:lnTo>
                <a:lnTo>
                  <a:pt x="3312777" y="2197945"/>
                </a:lnTo>
                <a:lnTo>
                  <a:pt x="3351751" y="2184953"/>
                </a:lnTo>
                <a:lnTo>
                  <a:pt x="3390724" y="2153934"/>
                </a:lnTo>
                <a:lnTo>
                  <a:pt x="3429698" y="2116819"/>
                </a:lnTo>
                <a:lnTo>
                  <a:pt x="3468672" y="2085541"/>
                </a:lnTo>
                <a:lnTo>
                  <a:pt x="3507646" y="2072033"/>
                </a:lnTo>
                <a:lnTo>
                  <a:pt x="3556363" y="2071477"/>
                </a:lnTo>
                <a:lnTo>
                  <a:pt x="3605081" y="2071225"/>
                </a:lnTo>
                <a:lnTo>
                  <a:pt x="3653798" y="2070972"/>
                </a:lnTo>
                <a:lnTo>
                  <a:pt x="3702515" y="2070417"/>
                </a:lnTo>
                <a:lnTo>
                  <a:pt x="3734993" y="2035118"/>
                </a:lnTo>
                <a:lnTo>
                  <a:pt x="3751233" y="1996293"/>
                </a:lnTo>
                <a:lnTo>
                  <a:pt x="3767472" y="1947701"/>
                </a:lnTo>
                <a:lnTo>
                  <a:pt x="3783711" y="1892606"/>
                </a:lnTo>
                <a:lnTo>
                  <a:pt x="3799950" y="1834270"/>
                </a:lnTo>
                <a:lnTo>
                  <a:pt x="3816189" y="1775957"/>
                </a:lnTo>
                <a:lnTo>
                  <a:pt x="3832428" y="1720929"/>
                </a:lnTo>
                <a:lnTo>
                  <a:pt x="3848667" y="1672449"/>
                </a:lnTo>
                <a:lnTo>
                  <a:pt x="3864906" y="1633781"/>
                </a:lnTo>
                <a:lnTo>
                  <a:pt x="3897385" y="1598931"/>
                </a:lnTo>
                <a:lnTo>
                  <a:pt x="3908211" y="1605977"/>
                </a:lnTo>
                <a:lnTo>
                  <a:pt x="3929863" y="1657466"/>
                </a:lnTo>
                <a:lnTo>
                  <a:pt x="3940689" y="1698658"/>
                </a:lnTo>
                <a:lnTo>
                  <a:pt x="3951515" y="1747979"/>
                </a:lnTo>
                <a:lnTo>
                  <a:pt x="3962341" y="1803804"/>
                </a:lnTo>
                <a:lnTo>
                  <a:pt x="3973167" y="1864507"/>
                </a:lnTo>
                <a:lnTo>
                  <a:pt x="3983993" y="1928462"/>
                </a:lnTo>
                <a:lnTo>
                  <a:pt x="3994819" y="1994043"/>
                </a:lnTo>
                <a:lnTo>
                  <a:pt x="4005645" y="2059624"/>
                </a:lnTo>
                <a:lnTo>
                  <a:pt x="4016471" y="2123579"/>
                </a:lnTo>
                <a:lnTo>
                  <a:pt x="4027297" y="2184282"/>
                </a:lnTo>
                <a:lnTo>
                  <a:pt x="4038123" y="2240107"/>
                </a:lnTo>
                <a:lnTo>
                  <a:pt x="4048949" y="2289429"/>
                </a:lnTo>
                <a:lnTo>
                  <a:pt x="4059776" y="2330620"/>
                </a:lnTo>
                <a:lnTo>
                  <a:pt x="4081428" y="2382109"/>
                </a:lnTo>
                <a:lnTo>
                  <a:pt x="4092254" y="2389155"/>
                </a:lnTo>
                <a:lnTo>
                  <a:pt x="4108493" y="2385468"/>
                </a:lnTo>
                <a:lnTo>
                  <a:pt x="4140971" y="2355969"/>
                </a:lnTo>
                <a:lnTo>
                  <a:pt x="4173449" y="2296971"/>
                </a:lnTo>
                <a:lnTo>
                  <a:pt x="4189688" y="2256409"/>
                </a:lnTo>
                <a:lnTo>
                  <a:pt x="4205927" y="2208473"/>
                </a:lnTo>
                <a:lnTo>
                  <a:pt x="4222167" y="2153163"/>
                </a:lnTo>
                <a:lnTo>
                  <a:pt x="4238406" y="2090477"/>
                </a:lnTo>
                <a:lnTo>
                  <a:pt x="4254645" y="2020417"/>
                </a:lnTo>
                <a:lnTo>
                  <a:pt x="4270884" y="1942982"/>
                </a:lnTo>
                <a:lnTo>
                  <a:pt x="4287123" y="1858172"/>
                </a:lnTo>
                <a:lnTo>
                  <a:pt x="4298586" y="1786239"/>
                </a:lnTo>
                <a:lnTo>
                  <a:pt x="4304317" y="1743692"/>
                </a:lnTo>
                <a:lnTo>
                  <a:pt x="4310049" y="1697221"/>
                </a:lnTo>
                <a:lnTo>
                  <a:pt x="4315780" y="1647171"/>
                </a:lnTo>
                <a:lnTo>
                  <a:pt x="4321512" y="1593887"/>
                </a:lnTo>
                <a:lnTo>
                  <a:pt x="4327243" y="1537716"/>
                </a:lnTo>
                <a:lnTo>
                  <a:pt x="4332975" y="1479004"/>
                </a:lnTo>
                <a:lnTo>
                  <a:pt x="4338706" y="1418097"/>
                </a:lnTo>
                <a:lnTo>
                  <a:pt x="4344438" y="1355341"/>
                </a:lnTo>
                <a:lnTo>
                  <a:pt x="4350169" y="1291081"/>
                </a:lnTo>
                <a:lnTo>
                  <a:pt x="4355900" y="1225664"/>
                </a:lnTo>
                <a:lnTo>
                  <a:pt x="4361632" y="1159436"/>
                </a:lnTo>
                <a:lnTo>
                  <a:pt x="4367363" y="1092743"/>
                </a:lnTo>
                <a:lnTo>
                  <a:pt x="4373095" y="1025930"/>
                </a:lnTo>
                <a:lnTo>
                  <a:pt x="4378826" y="959344"/>
                </a:lnTo>
                <a:lnTo>
                  <a:pt x="4384558" y="893331"/>
                </a:lnTo>
                <a:lnTo>
                  <a:pt x="4390289" y="828237"/>
                </a:lnTo>
                <a:lnTo>
                  <a:pt x="4396021" y="764407"/>
                </a:lnTo>
                <a:lnTo>
                  <a:pt x="4401752" y="702187"/>
                </a:lnTo>
                <a:lnTo>
                  <a:pt x="4407483" y="641925"/>
                </a:lnTo>
                <a:lnTo>
                  <a:pt x="4413215" y="583964"/>
                </a:lnTo>
                <a:lnTo>
                  <a:pt x="4418946" y="528653"/>
                </a:lnTo>
                <a:lnTo>
                  <a:pt x="4424678" y="476336"/>
                </a:lnTo>
                <a:lnTo>
                  <a:pt x="4430409" y="427359"/>
                </a:lnTo>
                <a:lnTo>
                  <a:pt x="4436141" y="382069"/>
                </a:lnTo>
                <a:lnTo>
                  <a:pt x="4441872" y="340812"/>
                </a:lnTo>
                <a:lnTo>
                  <a:pt x="4453335" y="271778"/>
                </a:lnTo>
                <a:lnTo>
                  <a:pt x="4464798" y="223027"/>
                </a:lnTo>
                <a:lnTo>
                  <a:pt x="4481992" y="193982"/>
                </a:lnTo>
                <a:lnTo>
                  <a:pt x="4488952" y="197766"/>
                </a:lnTo>
                <a:lnTo>
                  <a:pt x="4509831" y="250871"/>
                </a:lnTo>
                <a:lnTo>
                  <a:pt x="4523750" y="316500"/>
                </a:lnTo>
                <a:lnTo>
                  <a:pt x="4530710" y="357012"/>
                </a:lnTo>
                <a:lnTo>
                  <a:pt x="4537669" y="402047"/>
                </a:lnTo>
                <a:lnTo>
                  <a:pt x="4544629" y="451147"/>
                </a:lnTo>
                <a:lnTo>
                  <a:pt x="4551588" y="503856"/>
                </a:lnTo>
                <a:lnTo>
                  <a:pt x="4558548" y="559717"/>
                </a:lnTo>
                <a:lnTo>
                  <a:pt x="4565508" y="618273"/>
                </a:lnTo>
                <a:lnTo>
                  <a:pt x="4572467" y="679068"/>
                </a:lnTo>
                <a:lnTo>
                  <a:pt x="4579427" y="741644"/>
                </a:lnTo>
                <a:lnTo>
                  <a:pt x="4586387" y="805545"/>
                </a:lnTo>
                <a:lnTo>
                  <a:pt x="4593346" y="870314"/>
                </a:lnTo>
                <a:lnTo>
                  <a:pt x="4600306" y="935494"/>
                </a:lnTo>
                <a:lnTo>
                  <a:pt x="4607265" y="1000628"/>
                </a:lnTo>
                <a:lnTo>
                  <a:pt x="4614225" y="1065260"/>
                </a:lnTo>
                <a:lnTo>
                  <a:pt x="4621185" y="1128933"/>
                </a:lnTo>
                <a:lnTo>
                  <a:pt x="4628144" y="1191189"/>
                </a:lnTo>
                <a:lnTo>
                  <a:pt x="4635104" y="1251573"/>
                </a:lnTo>
                <a:lnTo>
                  <a:pt x="4642064" y="1309626"/>
                </a:lnTo>
                <a:lnTo>
                  <a:pt x="4649023" y="1364893"/>
                </a:lnTo>
                <a:lnTo>
                  <a:pt x="4655983" y="1416917"/>
                </a:lnTo>
                <a:lnTo>
                  <a:pt x="4662942" y="1465241"/>
                </a:lnTo>
                <a:lnTo>
                  <a:pt x="4669902" y="1509407"/>
                </a:lnTo>
                <a:lnTo>
                  <a:pt x="4676862" y="1548960"/>
                </a:lnTo>
                <a:lnTo>
                  <a:pt x="4689853" y="1617909"/>
                </a:lnTo>
                <a:lnTo>
                  <a:pt x="4702844" y="1685956"/>
                </a:lnTo>
                <a:lnTo>
                  <a:pt x="4715836" y="1752624"/>
                </a:lnTo>
                <a:lnTo>
                  <a:pt x="4728827" y="1817435"/>
                </a:lnTo>
                <a:lnTo>
                  <a:pt x="4741818" y="1879911"/>
                </a:lnTo>
                <a:lnTo>
                  <a:pt x="4754809" y="1939575"/>
                </a:lnTo>
                <a:lnTo>
                  <a:pt x="4767801" y="1995949"/>
                </a:lnTo>
                <a:lnTo>
                  <a:pt x="4780792" y="2048557"/>
                </a:lnTo>
                <a:lnTo>
                  <a:pt x="4793783" y="2096919"/>
                </a:lnTo>
                <a:lnTo>
                  <a:pt x="4806774" y="2140559"/>
                </a:lnTo>
                <a:lnTo>
                  <a:pt x="4819766" y="2179000"/>
                </a:lnTo>
                <a:lnTo>
                  <a:pt x="4845748" y="2238372"/>
                </a:lnTo>
                <a:lnTo>
                  <a:pt x="4871731" y="2271215"/>
                </a:lnTo>
                <a:lnTo>
                  <a:pt x="4920448" y="2296462"/>
                </a:lnTo>
                <a:lnTo>
                  <a:pt x="4969165" y="2309939"/>
                </a:lnTo>
                <a:lnTo>
                  <a:pt x="5017883" y="2321215"/>
                </a:lnTo>
                <a:lnTo>
                  <a:pt x="5066600" y="2339858"/>
                </a:lnTo>
                <a:lnTo>
                  <a:pt x="5105574" y="2367013"/>
                </a:lnTo>
                <a:lnTo>
                  <a:pt x="5144548" y="2402247"/>
                </a:lnTo>
                <a:lnTo>
                  <a:pt x="5183522" y="2437453"/>
                </a:lnTo>
                <a:lnTo>
                  <a:pt x="5222496" y="2464522"/>
                </a:lnTo>
                <a:lnTo>
                  <a:pt x="5261470" y="2475346"/>
                </a:lnTo>
                <a:lnTo>
                  <a:pt x="5275389" y="2470668"/>
                </a:lnTo>
                <a:lnTo>
                  <a:pt x="5303227" y="2435163"/>
                </a:lnTo>
                <a:lnTo>
                  <a:pt x="5331065" y="2369064"/>
                </a:lnTo>
                <a:lnTo>
                  <a:pt x="5344985" y="2326142"/>
                </a:lnTo>
                <a:lnTo>
                  <a:pt x="5358904" y="2277493"/>
                </a:lnTo>
                <a:lnTo>
                  <a:pt x="5372823" y="2223757"/>
                </a:lnTo>
                <a:lnTo>
                  <a:pt x="5386742" y="2165575"/>
                </a:lnTo>
                <a:lnTo>
                  <a:pt x="5400661" y="2103587"/>
                </a:lnTo>
                <a:lnTo>
                  <a:pt x="5414581" y="2038434"/>
                </a:lnTo>
                <a:lnTo>
                  <a:pt x="5428500" y="1970756"/>
                </a:lnTo>
                <a:lnTo>
                  <a:pt x="5442419" y="1901194"/>
                </a:lnTo>
                <a:lnTo>
                  <a:pt x="5456338" y="1830387"/>
                </a:lnTo>
                <a:lnTo>
                  <a:pt x="5463298" y="1792239"/>
                </a:lnTo>
                <a:lnTo>
                  <a:pt x="5470258" y="1749317"/>
                </a:lnTo>
                <a:lnTo>
                  <a:pt x="5477217" y="1702088"/>
                </a:lnTo>
                <a:lnTo>
                  <a:pt x="5484177" y="1651016"/>
                </a:lnTo>
                <a:lnTo>
                  <a:pt x="5491137" y="1596566"/>
                </a:lnTo>
                <a:lnTo>
                  <a:pt x="5498096" y="1539204"/>
                </a:lnTo>
                <a:lnTo>
                  <a:pt x="5505056" y="1479393"/>
                </a:lnTo>
                <a:lnTo>
                  <a:pt x="5512015" y="1417599"/>
                </a:lnTo>
                <a:lnTo>
                  <a:pt x="5518975" y="1354288"/>
                </a:lnTo>
                <a:lnTo>
                  <a:pt x="5525935" y="1289923"/>
                </a:lnTo>
                <a:lnTo>
                  <a:pt x="5532894" y="1224970"/>
                </a:lnTo>
                <a:lnTo>
                  <a:pt x="5539854" y="1159894"/>
                </a:lnTo>
                <a:lnTo>
                  <a:pt x="5546814" y="1095160"/>
                </a:lnTo>
                <a:lnTo>
                  <a:pt x="5553773" y="1031233"/>
                </a:lnTo>
                <a:lnTo>
                  <a:pt x="5560733" y="968577"/>
                </a:lnTo>
                <a:lnTo>
                  <a:pt x="5567692" y="907658"/>
                </a:lnTo>
                <a:lnTo>
                  <a:pt x="5574652" y="848940"/>
                </a:lnTo>
                <a:lnTo>
                  <a:pt x="5581612" y="792890"/>
                </a:lnTo>
                <a:lnTo>
                  <a:pt x="5588571" y="739970"/>
                </a:lnTo>
                <a:lnTo>
                  <a:pt x="5595531" y="690647"/>
                </a:lnTo>
                <a:lnTo>
                  <a:pt x="5602491" y="645386"/>
                </a:lnTo>
                <a:lnTo>
                  <a:pt x="5609450" y="604650"/>
                </a:lnTo>
                <a:lnTo>
                  <a:pt x="5623369" y="538619"/>
                </a:lnTo>
                <a:lnTo>
                  <a:pt x="5637289" y="496272"/>
                </a:lnTo>
                <a:lnTo>
                  <a:pt x="5651208" y="481330"/>
                </a:lnTo>
                <a:lnTo>
                  <a:pt x="5665127" y="487900"/>
                </a:lnTo>
                <a:lnTo>
                  <a:pt x="5692966" y="535799"/>
                </a:lnTo>
                <a:lnTo>
                  <a:pt x="5706885" y="574020"/>
                </a:lnTo>
                <a:lnTo>
                  <a:pt x="5720804" y="619685"/>
                </a:lnTo>
                <a:lnTo>
                  <a:pt x="5734723" y="671238"/>
                </a:lnTo>
                <a:lnTo>
                  <a:pt x="5748643" y="727126"/>
                </a:lnTo>
                <a:lnTo>
                  <a:pt x="5762562" y="785796"/>
                </a:lnTo>
                <a:lnTo>
                  <a:pt x="5776481" y="845693"/>
                </a:lnTo>
                <a:lnTo>
                  <a:pt x="5790400" y="905265"/>
                </a:lnTo>
                <a:lnTo>
                  <a:pt x="5804319" y="962956"/>
                </a:lnTo>
                <a:lnTo>
                  <a:pt x="5818239" y="1017213"/>
                </a:lnTo>
                <a:lnTo>
                  <a:pt x="5832158" y="1066483"/>
                </a:lnTo>
                <a:lnTo>
                  <a:pt x="5846077" y="1109212"/>
                </a:lnTo>
                <a:lnTo>
                  <a:pt x="5863792" y="1160941"/>
                </a:lnTo>
                <a:lnTo>
                  <a:pt x="5881508" y="1215868"/>
                </a:lnTo>
                <a:lnTo>
                  <a:pt x="5899223" y="1272280"/>
                </a:lnTo>
                <a:lnTo>
                  <a:pt x="5916938" y="1328466"/>
                </a:lnTo>
                <a:lnTo>
                  <a:pt x="5934654" y="1382714"/>
                </a:lnTo>
                <a:lnTo>
                  <a:pt x="5952369" y="1433312"/>
                </a:lnTo>
                <a:lnTo>
                  <a:pt x="5970085" y="1478549"/>
                </a:lnTo>
                <a:lnTo>
                  <a:pt x="5987800" y="1516713"/>
                </a:lnTo>
                <a:lnTo>
                  <a:pt x="6023231" y="1564975"/>
                </a:lnTo>
                <a:lnTo>
                  <a:pt x="6040946" y="1571650"/>
                </a:lnTo>
                <a:lnTo>
                  <a:pt x="6073425" y="1560204"/>
                </a:lnTo>
                <a:lnTo>
                  <a:pt x="6105903" y="1531590"/>
                </a:lnTo>
                <a:lnTo>
                  <a:pt x="6138381" y="1494392"/>
                </a:lnTo>
                <a:lnTo>
                  <a:pt x="6170859" y="1457194"/>
                </a:lnTo>
                <a:lnTo>
                  <a:pt x="6203338" y="1428580"/>
                </a:lnTo>
                <a:lnTo>
                  <a:pt x="6235816" y="1417134"/>
                </a:lnTo>
                <a:lnTo>
                  <a:pt x="6246072" y="1423648"/>
                </a:lnTo>
                <a:lnTo>
                  <a:pt x="6256328" y="1442243"/>
                </a:lnTo>
                <a:lnTo>
                  <a:pt x="6276841" y="1509987"/>
                </a:lnTo>
                <a:lnTo>
                  <a:pt x="6287097" y="1556295"/>
                </a:lnTo>
                <a:lnTo>
                  <a:pt x="6297353" y="1608998"/>
                </a:lnTo>
                <a:lnTo>
                  <a:pt x="6307609" y="1666676"/>
                </a:lnTo>
                <a:lnTo>
                  <a:pt x="6317866" y="1727906"/>
                </a:lnTo>
                <a:lnTo>
                  <a:pt x="6328122" y="1791269"/>
                </a:lnTo>
                <a:lnTo>
                  <a:pt x="6338378" y="1855342"/>
                </a:lnTo>
                <a:lnTo>
                  <a:pt x="6348634" y="1918704"/>
                </a:lnTo>
                <a:lnTo>
                  <a:pt x="6358891" y="1979935"/>
                </a:lnTo>
                <a:lnTo>
                  <a:pt x="6369147" y="2037612"/>
                </a:lnTo>
                <a:lnTo>
                  <a:pt x="6379403" y="2090316"/>
                </a:lnTo>
                <a:lnTo>
                  <a:pt x="6389660" y="2136624"/>
                </a:lnTo>
                <a:lnTo>
                  <a:pt x="6399916" y="2175115"/>
                </a:lnTo>
                <a:lnTo>
                  <a:pt x="6420428" y="2222962"/>
                </a:lnTo>
                <a:lnTo>
                  <a:pt x="6430685" y="2229476"/>
                </a:lnTo>
                <a:lnTo>
                  <a:pt x="6438804" y="2223894"/>
                </a:lnTo>
                <a:lnTo>
                  <a:pt x="6455043" y="2182107"/>
                </a:lnTo>
                <a:lnTo>
                  <a:pt x="6471283" y="2105871"/>
                </a:lnTo>
                <a:lnTo>
                  <a:pt x="6479402" y="2057226"/>
                </a:lnTo>
                <a:lnTo>
                  <a:pt x="6487522" y="2002840"/>
                </a:lnTo>
                <a:lnTo>
                  <a:pt x="6495641" y="1943669"/>
                </a:lnTo>
                <a:lnTo>
                  <a:pt x="6503761" y="1880670"/>
                </a:lnTo>
                <a:lnTo>
                  <a:pt x="6511880" y="1814800"/>
                </a:lnTo>
                <a:lnTo>
                  <a:pt x="6520000" y="1747017"/>
                </a:lnTo>
                <a:lnTo>
                  <a:pt x="6528119" y="1678276"/>
                </a:lnTo>
                <a:lnTo>
                  <a:pt x="6536239" y="1609535"/>
                </a:lnTo>
                <a:lnTo>
                  <a:pt x="6544359" y="1541752"/>
                </a:lnTo>
                <a:lnTo>
                  <a:pt x="6552478" y="1475882"/>
                </a:lnTo>
                <a:lnTo>
                  <a:pt x="6560598" y="1412883"/>
                </a:lnTo>
                <a:lnTo>
                  <a:pt x="6568717" y="1353712"/>
                </a:lnTo>
                <a:lnTo>
                  <a:pt x="6576837" y="1299326"/>
                </a:lnTo>
                <a:lnTo>
                  <a:pt x="6584956" y="1250681"/>
                </a:lnTo>
                <a:lnTo>
                  <a:pt x="6593076" y="1208735"/>
                </a:lnTo>
                <a:lnTo>
                  <a:pt x="6609315" y="1148766"/>
                </a:lnTo>
                <a:lnTo>
                  <a:pt x="6625554" y="1127076"/>
                </a:lnTo>
                <a:lnTo>
                  <a:pt x="6649913" y="1134118"/>
                </a:lnTo>
                <a:lnTo>
                  <a:pt x="6698630" y="1184498"/>
                </a:lnTo>
                <a:lnTo>
                  <a:pt x="6722989" y="1223860"/>
                </a:lnTo>
                <a:lnTo>
                  <a:pt x="6747347" y="1270020"/>
                </a:lnTo>
                <a:lnTo>
                  <a:pt x="6771706" y="1320991"/>
                </a:lnTo>
                <a:lnTo>
                  <a:pt x="6796064" y="1374785"/>
                </a:lnTo>
                <a:lnTo>
                  <a:pt x="6820423" y="1429414"/>
                </a:lnTo>
                <a:lnTo>
                  <a:pt x="6836662" y="1468429"/>
                </a:lnTo>
                <a:lnTo>
                  <a:pt x="6852901" y="1512293"/>
                </a:lnTo>
                <a:lnTo>
                  <a:pt x="6869140" y="1560004"/>
                </a:lnTo>
                <a:lnTo>
                  <a:pt x="6885380" y="1610561"/>
                </a:lnTo>
                <a:lnTo>
                  <a:pt x="6901619" y="1662961"/>
                </a:lnTo>
                <a:lnTo>
                  <a:pt x="6917858" y="1716203"/>
                </a:lnTo>
                <a:lnTo>
                  <a:pt x="6934097" y="1769285"/>
                </a:lnTo>
                <a:lnTo>
                  <a:pt x="6950336" y="1821206"/>
                </a:lnTo>
                <a:lnTo>
                  <a:pt x="6966575" y="1870963"/>
                </a:lnTo>
                <a:lnTo>
                  <a:pt x="6982814" y="1917555"/>
                </a:lnTo>
                <a:lnTo>
                  <a:pt x="6999053" y="1959980"/>
                </a:lnTo>
                <a:lnTo>
                  <a:pt x="7015293" y="1997237"/>
                </a:lnTo>
                <a:lnTo>
                  <a:pt x="7043131" y="2054683"/>
                </a:lnTo>
                <a:lnTo>
                  <a:pt x="7070970" y="2108117"/>
                </a:lnTo>
                <a:lnTo>
                  <a:pt x="7098808" y="2155779"/>
                </a:lnTo>
                <a:lnTo>
                  <a:pt x="7126647" y="2195911"/>
                </a:lnTo>
                <a:lnTo>
                  <a:pt x="7154485" y="2226754"/>
                </a:lnTo>
                <a:lnTo>
                  <a:pt x="7210162" y="2253540"/>
                </a:lnTo>
                <a:lnTo>
                  <a:pt x="7234521" y="2248930"/>
                </a:lnTo>
                <a:lnTo>
                  <a:pt x="7283238" y="2212051"/>
                </a:lnTo>
                <a:lnTo>
                  <a:pt x="7307596" y="2179782"/>
                </a:lnTo>
                <a:lnTo>
                  <a:pt x="7331955" y="2138293"/>
                </a:lnTo>
                <a:lnTo>
                  <a:pt x="7356314" y="2087585"/>
                </a:lnTo>
                <a:lnTo>
                  <a:pt x="7380672" y="2027657"/>
                </a:lnTo>
                <a:lnTo>
                  <a:pt x="7405031" y="1958509"/>
                </a:lnTo>
                <a:lnTo>
                  <a:pt x="7414774" y="1917684"/>
                </a:lnTo>
                <a:lnTo>
                  <a:pt x="7424518" y="1855876"/>
                </a:lnTo>
                <a:lnTo>
                  <a:pt x="7429390" y="1817884"/>
                </a:lnTo>
                <a:lnTo>
                  <a:pt x="7434261" y="1775582"/>
                </a:lnTo>
                <a:lnTo>
                  <a:pt x="7439133" y="1729282"/>
                </a:lnTo>
                <a:lnTo>
                  <a:pt x="7444005" y="1679297"/>
                </a:lnTo>
                <a:lnTo>
                  <a:pt x="7448877" y="1625937"/>
                </a:lnTo>
                <a:lnTo>
                  <a:pt x="7453748" y="1569515"/>
                </a:lnTo>
                <a:lnTo>
                  <a:pt x="7458620" y="1510343"/>
                </a:lnTo>
                <a:lnTo>
                  <a:pt x="7463492" y="1448732"/>
                </a:lnTo>
                <a:lnTo>
                  <a:pt x="7468364" y="1384996"/>
                </a:lnTo>
                <a:lnTo>
                  <a:pt x="7473235" y="1319444"/>
                </a:lnTo>
                <a:lnTo>
                  <a:pt x="7478107" y="1252390"/>
                </a:lnTo>
                <a:lnTo>
                  <a:pt x="7482979" y="1184145"/>
                </a:lnTo>
                <a:lnTo>
                  <a:pt x="7487851" y="1115022"/>
                </a:lnTo>
                <a:lnTo>
                  <a:pt x="7492722" y="1045331"/>
                </a:lnTo>
                <a:lnTo>
                  <a:pt x="7497594" y="975386"/>
                </a:lnTo>
                <a:lnTo>
                  <a:pt x="7502466" y="905497"/>
                </a:lnTo>
                <a:lnTo>
                  <a:pt x="7507337" y="835977"/>
                </a:lnTo>
                <a:lnTo>
                  <a:pt x="7512209" y="767138"/>
                </a:lnTo>
                <a:lnTo>
                  <a:pt x="7517081" y="699291"/>
                </a:lnTo>
                <a:lnTo>
                  <a:pt x="7521953" y="632749"/>
                </a:lnTo>
                <a:lnTo>
                  <a:pt x="7526824" y="567824"/>
                </a:lnTo>
                <a:lnTo>
                  <a:pt x="7531696" y="504826"/>
                </a:lnTo>
                <a:lnTo>
                  <a:pt x="7536568" y="444069"/>
                </a:lnTo>
                <a:lnTo>
                  <a:pt x="7541440" y="385864"/>
                </a:lnTo>
                <a:lnTo>
                  <a:pt x="7546311" y="330523"/>
                </a:lnTo>
                <a:lnTo>
                  <a:pt x="7551183" y="278358"/>
                </a:lnTo>
                <a:lnTo>
                  <a:pt x="7556055" y="229680"/>
                </a:lnTo>
                <a:lnTo>
                  <a:pt x="7560927" y="184803"/>
                </a:lnTo>
                <a:lnTo>
                  <a:pt x="7565798" y="144037"/>
                </a:lnTo>
                <a:lnTo>
                  <a:pt x="7575542" y="76087"/>
                </a:lnTo>
                <a:lnTo>
                  <a:pt x="7585285" y="28327"/>
                </a:lnTo>
                <a:lnTo>
                  <a:pt x="7599900" y="0"/>
                </a:lnTo>
                <a:lnTo>
                  <a:pt x="7607395" y="4207"/>
                </a:lnTo>
                <a:lnTo>
                  <a:pt x="7629880" y="62815"/>
                </a:lnTo>
                <a:lnTo>
                  <a:pt x="7644870" y="134578"/>
                </a:lnTo>
                <a:lnTo>
                  <a:pt x="7652365" y="178577"/>
                </a:lnTo>
                <a:lnTo>
                  <a:pt x="7659860" y="227237"/>
                </a:lnTo>
                <a:lnTo>
                  <a:pt x="7667355" y="279995"/>
                </a:lnTo>
                <a:lnTo>
                  <a:pt x="7674850" y="336288"/>
                </a:lnTo>
                <a:lnTo>
                  <a:pt x="7682345" y="395553"/>
                </a:lnTo>
                <a:lnTo>
                  <a:pt x="7689840" y="457227"/>
                </a:lnTo>
                <a:lnTo>
                  <a:pt x="7697335" y="520746"/>
                </a:lnTo>
                <a:lnTo>
                  <a:pt x="7704830" y="585549"/>
                </a:lnTo>
                <a:lnTo>
                  <a:pt x="7712325" y="651070"/>
                </a:lnTo>
                <a:lnTo>
                  <a:pt x="7719820" y="716748"/>
                </a:lnTo>
                <a:lnTo>
                  <a:pt x="7727315" y="782020"/>
                </a:lnTo>
                <a:lnTo>
                  <a:pt x="7734810" y="846321"/>
                </a:lnTo>
                <a:lnTo>
                  <a:pt x="7742305" y="909090"/>
                </a:lnTo>
                <a:lnTo>
                  <a:pt x="7749800" y="969763"/>
                </a:lnTo>
                <a:lnTo>
                  <a:pt x="7757295" y="1027777"/>
                </a:lnTo>
                <a:lnTo>
                  <a:pt x="7764789" y="1082568"/>
                </a:lnTo>
                <a:lnTo>
                  <a:pt x="7772284" y="1133575"/>
                </a:lnTo>
                <a:lnTo>
                  <a:pt x="7779779" y="1180233"/>
                </a:lnTo>
                <a:lnTo>
                  <a:pt x="7787274" y="1221980"/>
                </a:lnTo>
                <a:lnTo>
                  <a:pt x="7814256" y="1338086"/>
                </a:lnTo>
                <a:lnTo>
                  <a:pt x="7833743" y="1405493"/>
                </a:lnTo>
                <a:lnTo>
                  <a:pt x="7853230" y="1462447"/>
                </a:lnTo>
                <a:lnTo>
                  <a:pt x="7872717" y="1510919"/>
                </a:lnTo>
                <a:lnTo>
                  <a:pt x="7892204" y="1552882"/>
                </a:lnTo>
                <a:lnTo>
                  <a:pt x="7911691" y="1590306"/>
                </a:lnTo>
                <a:lnTo>
                  <a:pt x="7931178" y="1625166"/>
                </a:lnTo>
                <a:lnTo>
                  <a:pt x="7950665" y="1659432"/>
                </a:lnTo>
                <a:lnTo>
                  <a:pt x="7970152" y="1695076"/>
                </a:lnTo>
                <a:lnTo>
                  <a:pt x="7989639" y="1734072"/>
                </a:lnTo>
                <a:lnTo>
                  <a:pt x="8013998" y="1784327"/>
                </a:lnTo>
                <a:lnTo>
                  <a:pt x="8038356" y="1832018"/>
                </a:lnTo>
                <a:lnTo>
                  <a:pt x="8062715" y="1877510"/>
                </a:lnTo>
                <a:lnTo>
                  <a:pt x="8087074" y="1921170"/>
                </a:lnTo>
                <a:lnTo>
                  <a:pt x="8111432" y="1963364"/>
                </a:lnTo>
                <a:lnTo>
                  <a:pt x="8135791" y="2004459"/>
                </a:lnTo>
                <a:lnTo>
                  <a:pt x="8160150" y="2044821"/>
                </a:lnTo>
                <a:lnTo>
                  <a:pt x="8184508" y="2084816"/>
                </a:lnTo>
              </a:path>
            </a:pathLst>
          </a:custGeom>
          <a:ln w="28574">
            <a:solidFill>
              <a:srgbClr val="118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194158" y="6649649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31.4K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312066" y="6723637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31.9K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63373" y="693699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30.6K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91642" y="7308259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29.6K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635204" y="7555651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28.9K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558243" y="7564880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28.9K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337720" y="758274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28.8K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506935" y="7713920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28.5K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660857" y="7874476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28.0K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47982" y="787280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28.0K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532589" y="788508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28.0K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07034" y="8039456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09550" y="8054599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881380" y="8130786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830073" y="8070861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89027" y="800462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96773" y="8200629"/>
            <a:ext cx="343535" cy="3803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355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27.4K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701804" y="8189740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45465" y="829100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999289" y="8313840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168504" y="8286055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753112" y="829528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27.6K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727458" y="8452904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117196" y="8414177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686511" y="8576922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050596" y="8596685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465988" y="870873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583896" y="8726882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896674" y="880845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024942" y="8921582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219811" y="8526085"/>
            <a:ext cx="511809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26.2K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26.2K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142850" y="8953114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855727" y="9040649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922328" y="8977177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04419" y="911279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2165" y="9200974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076250" y="8923182"/>
            <a:ext cx="511809" cy="4724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72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25.6K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440334" y="920946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24.3K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778766" y="9063495"/>
            <a:ext cx="511809" cy="306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25.5K</a:t>
            </a:r>
            <a:endParaRPr sz="950">
              <a:latin typeface="Segoe UI"/>
              <a:cs typeface="Segoe UI"/>
            </a:endParaRPr>
          </a:p>
          <a:p>
            <a:pPr marL="207010">
              <a:lnSpc>
                <a:spcPts val="1105"/>
              </a:lnSpc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25.1K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5266" y="9458176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24K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1702" y="9545319"/>
            <a:ext cx="8317865" cy="6445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r>
              <a:rPr sz="1050" spc="18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4</a:t>
            </a:r>
            <a:r>
              <a:rPr sz="1050" spc="200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5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6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7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8</a:t>
            </a:r>
            <a:r>
              <a:rPr sz="1050" spc="200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9</a:t>
            </a:r>
            <a:r>
              <a:rPr sz="1050" spc="39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13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14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15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16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17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18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19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21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22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23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24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25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26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27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28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29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30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31</a:t>
            </a:r>
            <a:r>
              <a:rPr sz="1050" spc="39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4</a:t>
            </a:r>
            <a:r>
              <a:rPr sz="1050" spc="200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5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6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7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8</a:t>
            </a:r>
            <a:r>
              <a:rPr sz="1050" spc="200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9</a:t>
            </a:r>
            <a:r>
              <a:rPr sz="1050" spc="39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r>
              <a:rPr sz="1050" spc="1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2750185">
              <a:lnSpc>
                <a:spcPct val="100000"/>
              </a:lnSpc>
              <a:spcBef>
                <a:spcPts val="290"/>
              </a:spcBef>
              <a:tabLst>
                <a:tab pos="6904990" algn="l"/>
              </a:tabLst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January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February</a:t>
            </a:r>
            <a:endParaRPr sz="1050">
              <a:latin typeface="Segoe UI"/>
              <a:cs typeface="Segoe UI"/>
            </a:endParaRPr>
          </a:p>
          <a:p>
            <a:pPr marR="26034" algn="ctr">
              <a:lnSpc>
                <a:spcPct val="100000"/>
              </a:lnSpc>
              <a:spcBef>
                <a:spcPts val="515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Q1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28600" y="3000374"/>
            <a:ext cx="18278475" cy="7353300"/>
            <a:chOff x="228600" y="3000374"/>
            <a:chExt cx="18278475" cy="7353300"/>
          </a:xfrm>
        </p:grpSpPr>
        <p:sp>
          <p:nvSpPr>
            <p:cNvPr id="82" name="object 82"/>
            <p:cNvSpPr/>
            <p:nvPr/>
          </p:nvSpPr>
          <p:spPr>
            <a:xfrm>
              <a:off x="714375" y="10280649"/>
              <a:ext cx="8496300" cy="73025"/>
            </a:xfrm>
            <a:custGeom>
              <a:avLst/>
              <a:gdLst/>
              <a:ahLst/>
              <a:cxnLst/>
              <a:rect l="l" t="t" r="r" b="b"/>
              <a:pathLst>
                <a:path w="8496300" h="73025">
                  <a:moveTo>
                    <a:pt x="8473440" y="73025"/>
                  </a:moveTo>
                  <a:lnTo>
                    <a:pt x="22856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8463250" y="0"/>
                  </a:lnTo>
                  <a:lnTo>
                    <a:pt x="8495331" y="28187"/>
                  </a:lnTo>
                  <a:lnTo>
                    <a:pt x="8496298" y="33047"/>
                  </a:lnTo>
                  <a:lnTo>
                    <a:pt x="8496298" y="43152"/>
                  </a:lnTo>
                  <a:lnTo>
                    <a:pt x="8473440" y="73025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14375" y="10280649"/>
              <a:ext cx="4054475" cy="73025"/>
            </a:xfrm>
            <a:custGeom>
              <a:avLst/>
              <a:gdLst/>
              <a:ahLst/>
              <a:cxnLst/>
              <a:rect l="l" t="t" r="r" b="b"/>
              <a:pathLst>
                <a:path w="4054475" h="73025">
                  <a:moveTo>
                    <a:pt x="4031550" y="73025"/>
                  </a:moveTo>
                  <a:lnTo>
                    <a:pt x="22856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021359" y="0"/>
                  </a:lnTo>
                  <a:lnTo>
                    <a:pt x="4053439" y="28187"/>
                  </a:lnTo>
                  <a:lnTo>
                    <a:pt x="4054406" y="33047"/>
                  </a:lnTo>
                  <a:lnTo>
                    <a:pt x="4054406" y="43152"/>
                  </a:lnTo>
                  <a:lnTo>
                    <a:pt x="4031550" y="73025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14375" y="10280649"/>
              <a:ext cx="4054475" cy="73025"/>
            </a:xfrm>
            <a:custGeom>
              <a:avLst/>
              <a:gdLst/>
              <a:ahLst/>
              <a:cxnLst/>
              <a:rect l="l" t="t" r="r" b="b"/>
              <a:pathLst>
                <a:path w="4054475" h="73025">
                  <a:moveTo>
                    <a:pt x="22856" y="73025"/>
                  </a:move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016307" y="0"/>
                  </a:lnTo>
                  <a:lnTo>
                    <a:pt x="4021359" y="0"/>
                  </a:lnTo>
                  <a:lnTo>
                    <a:pt x="4026219" y="966"/>
                  </a:lnTo>
                  <a:lnTo>
                    <a:pt x="4053439" y="28187"/>
                  </a:lnTo>
                  <a:lnTo>
                    <a:pt x="4054407" y="38099"/>
                  </a:lnTo>
                  <a:lnTo>
                    <a:pt x="4054406" y="43152"/>
                  </a:lnTo>
                  <a:lnTo>
                    <a:pt x="4035554" y="71366"/>
                  </a:lnTo>
                  <a:lnTo>
                    <a:pt x="4031550" y="73025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33362" y="3005137"/>
              <a:ext cx="18268950" cy="2762250"/>
            </a:xfrm>
            <a:custGeom>
              <a:avLst/>
              <a:gdLst/>
              <a:ahLst/>
              <a:cxnLst/>
              <a:rect l="l" t="t" r="r" b="b"/>
              <a:pathLst>
                <a:path w="18268950" h="2762250">
                  <a:moveTo>
                    <a:pt x="18202200" y="2762249"/>
                  </a:moveTo>
                  <a:lnTo>
                    <a:pt x="66746" y="2762249"/>
                  </a:lnTo>
                  <a:lnTo>
                    <a:pt x="62101" y="2761791"/>
                  </a:lnTo>
                  <a:lnTo>
                    <a:pt x="24240" y="2744642"/>
                  </a:lnTo>
                  <a:lnTo>
                    <a:pt x="2287" y="2709349"/>
                  </a:lnTo>
                  <a:lnTo>
                    <a:pt x="0" y="2695502"/>
                  </a:lnTo>
                  <a:lnTo>
                    <a:pt x="0" y="26908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8202200" y="0"/>
                  </a:lnTo>
                  <a:lnTo>
                    <a:pt x="18241097" y="14645"/>
                  </a:lnTo>
                  <a:lnTo>
                    <a:pt x="18265304" y="48433"/>
                  </a:lnTo>
                  <a:lnTo>
                    <a:pt x="18268947" y="66746"/>
                  </a:lnTo>
                  <a:lnTo>
                    <a:pt x="18268947" y="2695502"/>
                  </a:lnTo>
                  <a:lnTo>
                    <a:pt x="18254301" y="2734400"/>
                  </a:lnTo>
                  <a:lnTo>
                    <a:pt x="18220513" y="2758606"/>
                  </a:lnTo>
                  <a:lnTo>
                    <a:pt x="18206845" y="2761791"/>
                  </a:lnTo>
                  <a:lnTo>
                    <a:pt x="18202200" y="2762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33362" y="3005137"/>
              <a:ext cx="18268950" cy="2762250"/>
            </a:xfrm>
            <a:custGeom>
              <a:avLst/>
              <a:gdLst/>
              <a:ahLst/>
              <a:cxnLst/>
              <a:rect l="l" t="t" r="r" b="b"/>
              <a:pathLst>
                <a:path w="18268950" h="2762250">
                  <a:moveTo>
                    <a:pt x="0" y="26908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8197511" y="0"/>
                  </a:lnTo>
                  <a:lnTo>
                    <a:pt x="18202200" y="0"/>
                  </a:lnTo>
                  <a:lnTo>
                    <a:pt x="18206845" y="457"/>
                  </a:lnTo>
                  <a:lnTo>
                    <a:pt x="18244707" y="17606"/>
                  </a:lnTo>
                  <a:lnTo>
                    <a:pt x="18248024" y="20923"/>
                  </a:lnTo>
                  <a:lnTo>
                    <a:pt x="18251341" y="24240"/>
                  </a:lnTo>
                  <a:lnTo>
                    <a:pt x="18267575" y="57500"/>
                  </a:lnTo>
                  <a:lnTo>
                    <a:pt x="18268490" y="62101"/>
                  </a:lnTo>
                  <a:lnTo>
                    <a:pt x="18268947" y="66746"/>
                  </a:lnTo>
                  <a:lnTo>
                    <a:pt x="18268948" y="71437"/>
                  </a:lnTo>
                  <a:lnTo>
                    <a:pt x="18268948" y="2690812"/>
                  </a:lnTo>
                  <a:lnTo>
                    <a:pt x="18268947" y="2695502"/>
                  </a:lnTo>
                  <a:lnTo>
                    <a:pt x="18268490" y="2700148"/>
                  </a:lnTo>
                  <a:lnTo>
                    <a:pt x="18267575" y="2704748"/>
                  </a:lnTo>
                  <a:lnTo>
                    <a:pt x="18266660" y="2709349"/>
                  </a:lnTo>
                  <a:lnTo>
                    <a:pt x="18256907" y="2730500"/>
                  </a:lnTo>
                  <a:lnTo>
                    <a:pt x="18254301" y="2734400"/>
                  </a:lnTo>
                  <a:lnTo>
                    <a:pt x="18251341" y="2738009"/>
                  </a:lnTo>
                  <a:lnTo>
                    <a:pt x="18248024" y="2741326"/>
                  </a:lnTo>
                  <a:lnTo>
                    <a:pt x="18244707" y="2744642"/>
                  </a:lnTo>
                  <a:lnTo>
                    <a:pt x="18241097" y="2747603"/>
                  </a:lnTo>
                  <a:lnTo>
                    <a:pt x="18237197" y="2750209"/>
                  </a:lnTo>
                  <a:lnTo>
                    <a:pt x="18233298" y="2752816"/>
                  </a:lnTo>
                  <a:lnTo>
                    <a:pt x="18211446" y="2760876"/>
                  </a:lnTo>
                  <a:lnTo>
                    <a:pt x="18206845" y="2761791"/>
                  </a:lnTo>
                  <a:lnTo>
                    <a:pt x="18202200" y="2762249"/>
                  </a:lnTo>
                  <a:lnTo>
                    <a:pt x="18197511" y="2762249"/>
                  </a:lnTo>
                  <a:lnTo>
                    <a:pt x="71437" y="2762249"/>
                  </a:lnTo>
                  <a:lnTo>
                    <a:pt x="66746" y="2762249"/>
                  </a:lnTo>
                  <a:lnTo>
                    <a:pt x="62101" y="2761791"/>
                  </a:lnTo>
                  <a:lnTo>
                    <a:pt x="57500" y="2760876"/>
                  </a:lnTo>
                  <a:lnTo>
                    <a:pt x="52900" y="2759961"/>
                  </a:lnTo>
                  <a:lnTo>
                    <a:pt x="31748" y="2750210"/>
                  </a:lnTo>
                  <a:lnTo>
                    <a:pt x="27848" y="2747604"/>
                  </a:lnTo>
                  <a:lnTo>
                    <a:pt x="3642" y="2713816"/>
                  </a:lnTo>
                  <a:lnTo>
                    <a:pt x="1372" y="2704748"/>
                  </a:lnTo>
                  <a:lnTo>
                    <a:pt x="457" y="2700148"/>
                  </a:lnTo>
                  <a:lnTo>
                    <a:pt x="0" y="2695502"/>
                  </a:lnTo>
                  <a:lnTo>
                    <a:pt x="0" y="269081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8282235" y="3086163"/>
            <a:ext cx="2190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42424"/>
                </a:solidFill>
                <a:latin typeface="Tahoma"/>
                <a:cs typeface="Tahoma"/>
              </a:rPr>
              <a:t>Category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77824" y="3416300"/>
            <a:ext cx="2041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Product_Category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84224" y="3873205"/>
            <a:ext cx="276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0.3M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84224" y="4345353"/>
            <a:ext cx="276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0.2M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84224" y="4817500"/>
            <a:ext cx="276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0.1M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738187" y="3958831"/>
            <a:ext cx="17611725" cy="1426210"/>
            <a:chOff x="738187" y="3958831"/>
            <a:chExt cx="17611725" cy="1426210"/>
          </a:xfrm>
        </p:grpSpPr>
        <p:sp>
          <p:nvSpPr>
            <p:cNvPr id="90" name="object 90"/>
            <p:cNvSpPr/>
            <p:nvPr/>
          </p:nvSpPr>
          <p:spPr>
            <a:xfrm>
              <a:off x="742949" y="5380037"/>
              <a:ext cx="17602200" cy="0"/>
            </a:xfrm>
            <a:custGeom>
              <a:avLst/>
              <a:gdLst/>
              <a:ahLst/>
              <a:cxnLst/>
              <a:rect l="l" t="t" r="r" b="b"/>
              <a:pathLst>
                <a:path w="17602200">
                  <a:moveTo>
                    <a:pt x="0" y="0"/>
                  </a:moveTo>
                  <a:lnTo>
                    <a:pt x="17602198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42949" y="4435741"/>
              <a:ext cx="17602200" cy="472440"/>
            </a:xfrm>
            <a:custGeom>
              <a:avLst/>
              <a:gdLst/>
              <a:ahLst/>
              <a:cxnLst/>
              <a:rect l="l" t="t" r="r" b="b"/>
              <a:pathLst>
                <a:path w="17602200" h="472439">
                  <a:moveTo>
                    <a:pt x="0" y="472147"/>
                  </a:moveTo>
                  <a:lnTo>
                    <a:pt x="431955" y="472147"/>
                  </a:lnTo>
                </a:path>
                <a:path w="17602200" h="472439">
                  <a:moveTo>
                    <a:pt x="955830" y="472147"/>
                  </a:moveTo>
                  <a:lnTo>
                    <a:pt x="1511845" y="472147"/>
                  </a:lnTo>
                </a:path>
                <a:path w="17602200" h="472439">
                  <a:moveTo>
                    <a:pt x="2035720" y="472147"/>
                  </a:moveTo>
                  <a:lnTo>
                    <a:pt x="2591734" y="472147"/>
                  </a:lnTo>
                </a:path>
                <a:path w="17602200" h="472439">
                  <a:moveTo>
                    <a:pt x="3115609" y="472147"/>
                  </a:moveTo>
                  <a:lnTo>
                    <a:pt x="3671624" y="472147"/>
                  </a:lnTo>
                </a:path>
                <a:path w="17602200" h="472439">
                  <a:moveTo>
                    <a:pt x="4195499" y="472147"/>
                  </a:moveTo>
                  <a:lnTo>
                    <a:pt x="4751513" y="472147"/>
                  </a:lnTo>
                </a:path>
                <a:path w="17602200" h="472439">
                  <a:moveTo>
                    <a:pt x="5275388" y="472147"/>
                  </a:moveTo>
                  <a:lnTo>
                    <a:pt x="5831403" y="472147"/>
                  </a:lnTo>
                </a:path>
                <a:path w="17602200" h="472439">
                  <a:moveTo>
                    <a:pt x="6355278" y="472147"/>
                  </a:moveTo>
                  <a:lnTo>
                    <a:pt x="6911292" y="472147"/>
                  </a:lnTo>
                </a:path>
                <a:path w="17602200" h="472439">
                  <a:moveTo>
                    <a:pt x="7435167" y="472147"/>
                  </a:moveTo>
                  <a:lnTo>
                    <a:pt x="7991181" y="472147"/>
                  </a:lnTo>
                </a:path>
                <a:path w="17602200" h="472439">
                  <a:moveTo>
                    <a:pt x="8515056" y="472147"/>
                  </a:moveTo>
                  <a:lnTo>
                    <a:pt x="9071071" y="472147"/>
                  </a:lnTo>
                </a:path>
                <a:path w="17602200" h="472439">
                  <a:moveTo>
                    <a:pt x="9594946" y="472147"/>
                  </a:moveTo>
                  <a:lnTo>
                    <a:pt x="10150960" y="472147"/>
                  </a:lnTo>
                </a:path>
                <a:path w="17602200" h="472439">
                  <a:moveTo>
                    <a:pt x="10674835" y="472147"/>
                  </a:moveTo>
                  <a:lnTo>
                    <a:pt x="11230850" y="472147"/>
                  </a:lnTo>
                </a:path>
                <a:path w="17602200" h="472439">
                  <a:moveTo>
                    <a:pt x="11754725" y="472147"/>
                  </a:moveTo>
                  <a:lnTo>
                    <a:pt x="12310740" y="472147"/>
                  </a:lnTo>
                </a:path>
                <a:path w="17602200" h="472439">
                  <a:moveTo>
                    <a:pt x="12834615" y="472147"/>
                  </a:moveTo>
                  <a:lnTo>
                    <a:pt x="13390629" y="472147"/>
                  </a:lnTo>
                </a:path>
                <a:path w="17602200" h="472439">
                  <a:moveTo>
                    <a:pt x="13914504" y="472147"/>
                  </a:moveTo>
                  <a:lnTo>
                    <a:pt x="14470519" y="472147"/>
                  </a:lnTo>
                </a:path>
                <a:path w="17602200" h="472439">
                  <a:moveTo>
                    <a:pt x="0" y="0"/>
                  </a:moveTo>
                  <a:lnTo>
                    <a:pt x="431955" y="0"/>
                  </a:lnTo>
                </a:path>
                <a:path w="17602200" h="472439">
                  <a:moveTo>
                    <a:pt x="955830" y="0"/>
                  </a:moveTo>
                  <a:lnTo>
                    <a:pt x="17602198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42949" y="3963593"/>
              <a:ext cx="17602200" cy="0"/>
            </a:xfrm>
            <a:custGeom>
              <a:avLst/>
              <a:gdLst/>
              <a:ahLst/>
              <a:cxnLst/>
              <a:rect l="l" t="t" r="r" b="b"/>
              <a:pathLst>
                <a:path w="17602200">
                  <a:moveTo>
                    <a:pt x="0" y="0"/>
                  </a:moveTo>
                  <a:lnTo>
                    <a:pt x="17602198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1268022" y="3878471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0.27M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1174902" y="4094987"/>
            <a:ext cx="16722725" cy="1280795"/>
          </a:xfrm>
          <a:custGeom>
            <a:avLst/>
            <a:gdLst/>
            <a:ahLst/>
            <a:cxnLst/>
            <a:rect l="l" t="t" r="r" b="b"/>
            <a:pathLst>
              <a:path w="16722725" h="1280795">
                <a:moveTo>
                  <a:pt x="523875" y="0"/>
                </a:moveTo>
                <a:lnTo>
                  <a:pt x="0" y="0"/>
                </a:lnTo>
                <a:lnTo>
                  <a:pt x="0" y="1280287"/>
                </a:lnTo>
                <a:lnTo>
                  <a:pt x="523875" y="1280287"/>
                </a:lnTo>
                <a:lnTo>
                  <a:pt x="523875" y="0"/>
                </a:lnTo>
                <a:close/>
              </a:path>
              <a:path w="16722725" h="1280795">
                <a:moveTo>
                  <a:pt x="1603756" y="348932"/>
                </a:moveTo>
                <a:lnTo>
                  <a:pt x="1079881" y="348932"/>
                </a:lnTo>
                <a:lnTo>
                  <a:pt x="1079881" y="1280287"/>
                </a:lnTo>
                <a:lnTo>
                  <a:pt x="1603756" y="1280287"/>
                </a:lnTo>
                <a:lnTo>
                  <a:pt x="1603756" y="348932"/>
                </a:lnTo>
                <a:close/>
              </a:path>
              <a:path w="16722725" h="1280795">
                <a:moveTo>
                  <a:pt x="2683649" y="376021"/>
                </a:moveTo>
                <a:lnTo>
                  <a:pt x="2159774" y="376021"/>
                </a:lnTo>
                <a:lnTo>
                  <a:pt x="2159774" y="1280287"/>
                </a:lnTo>
                <a:lnTo>
                  <a:pt x="2683649" y="1280287"/>
                </a:lnTo>
                <a:lnTo>
                  <a:pt x="2683649" y="376021"/>
                </a:lnTo>
                <a:close/>
              </a:path>
              <a:path w="16722725" h="1280795">
                <a:moveTo>
                  <a:pt x="3763543" y="383159"/>
                </a:moveTo>
                <a:lnTo>
                  <a:pt x="3239668" y="383159"/>
                </a:lnTo>
                <a:lnTo>
                  <a:pt x="3239668" y="1280287"/>
                </a:lnTo>
                <a:lnTo>
                  <a:pt x="3763543" y="1280287"/>
                </a:lnTo>
                <a:lnTo>
                  <a:pt x="3763543" y="383159"/>
                </a:lnTo>
                <a:close/>
              </a:path>
              <a:path w="16722725" h="1280795">
                <a:moveTo>
                  <a:pt x="4843424" y="422148"/>
                </a:moveTo>
                <a:lnTo>
                  <a:pt x="4319549" y="422148"/>
                </a:lnTo>
                <a:lnTo>
                  <a:pt x="4319549" y="1280287"/>
                </a:lnTo>
                <a:lnTo>
                  <a:pt x="4843424" y="1280287"/>
                </a:lnTo>
                <a:lnTo>
                  <a:pt x="4843424" y="422148"/>
                </a:lnTo>
                <a:close/>
              </a:path>
              <a:path w="16722725" h="1280795">
                <a:moveTo>
                  <a:pt x="5923318" y="502081"/>
                </a:moveTo>
                <a:lnTo>
                  <a:pt x="5399443" y="502081"/>
                </a:lnTo>
                <a:lnTo>
                  <a:pt x="5399443" y="1280287"/>
                </a:lnTo>
                <a:lnTo>
                  <a:pt x="5923318" y="1280287"/>
                </a:lnTo>
                <a:lnTo>
                  <a:pt x="5923318" y="502081"/>
                </a:lnTo>
                <a:close/>
              </a:path>
              <a:path w="16722725" h="1280795">
                <a:moveTo>
                  <a:pt x="7003212" y="510133"/>
                </a:moveTo>
                <a:lnTo>
                  <a:pt x="6479337" y="510133"/>
                </a:lnTo>
                <a:lnTo>
                  <a:pt x="6479337" y="1280287"/>
                </a:lnTo>
                <a:lnTo>
                  <a:pt x="7003212" y="1280287"/>
                </a:lnTo>
                <a:lnTo>
                  <a:pt x="7003212" y="510133"/>
                </a:lnTo>
                <a:close/>
              </a:path>
              <a:path w="16722725" h="1280795">
                <a:moveTo>
                  <a:pt x="8083093" y="515924"/>
                </a:moveTo>
                <a:lnTo>
                  <a:pt x="7559218" y="515924"/>
                </a:lnTo>
                <a:lnTo>
                  <a:pt x="7559218" y="1280287"/>
                </a:lnTo>
                <a:lnTo>
                  <a:pt x="8083093" y="1280287"/>
                </a:lnTo>
                <a:lnTo>
                  <a:pt x="8083093" y="515924"/>
                </a:lnTo>
                <a:close/>
              </a:path>
              <a:path w="16722725" h="1280795">
                <a:moveTo>
                  <a:pt x="9162986" y="559752"/>
                </a:moveTo>
                <a:lnTo>
                  <a:pt x="8639111" y="559752"/>
                </a:lnTo>
                <a:lnTo>
                  <a:pt x="8639111" y="1280287"/>
                </a:lnTo>
                <a:lnTo>
                  <a:pt x="9162986" y="1280287"/>
                </a:lnTo>
                <a:lnTo>
                  <a:pt x="9162986" y="559752"/>
                </a:lnTo>
                <a:close/>
              </a:path>
              <a:path w="16722725" h="1280795">
                <a:moveTo>
                  <a:pt x="10242880" y="578993"/>
                </a:moveTo>
                <a:lnTo>
                  <a:pt x="9719005" y="578993"/>
                </a:lnTo>
                <a:lnTo>
                  <a:pt x="9719005" y="1280287"/>
                </a:lnTo>
                <a:lnTo>
                  <a:pt x="10242880" y="1280287"/>
                </a:lnTo>
                <a:lnTo>
                  <a:pt x="10242880" y="578993"/>
                </a:lnTo>
                <a:close/>
              </a:path>
              <a:path w="16722725" h="1280795">
                <a:moveTo>
                  <a:pt x="11322761" y="579145"/>
                </a:moveTo>
                <a:lnTo>
                  <a:pt x="10798886" y="579145"/>
                </a:lnTo>
                <a:lnTo>
                  <a:pt x="10798886" y="1280287"/>
                </a:lnTo>
                <a:lnTo>
                  <a:pt x="11322761" y="1280287"/>
                </a:lnTo>
                <a:lnTo>
                  <a:pt x="11322761" y="579145"/>
                </a:lnTo>
                <a:close/>
              </a:path>
              <a:path w="16722725" h="1280795">
                <a:moveTo>
                  <a:pt x="12402655" y="599846"/>
                </a:moveTo>
                <a:lnTo>
                  <a:pt x="11878780" y="599846"/>
                </a:lnTo>
                <a:lnTo>
                  <a:pt x="11878780" y="1280287"/>
                </a:lnTo>
                <a:lnTo>
                  <a:pt x="12402655" y="1280287"/>
                </a:lnTo>
                <a:lnTo>
                  <a:pt x="12402655" y="599846"/>
                </a:lnTo>
                <a:close/>
              </a:path>
              <a:path w="16722725" h="1280795">
                <a:moveTo>
                  <a:pt x="13482549" y="699046"/>
                </a:moveTo>
                <a:lnTo>
                  <a:pt x="12958674" y="699046"/>
                </a:lnTo>
                <a:lnTo>
                  <a:pt x="12958674" y="1280287"/>
                </a:lnTo>
                <a:lnTo>
                  <a:pt x="13482549" y="1280287"/>
                </a:lnTo>
                <a:lnTo>
                  <a:pt x="13482549" y="699046"/>
                </a:lnTo>
                <a:close/>
              </a:path>
              <a:path w="16722725" h="1280795">
                <a:moveTo>
                  <a:pt x="14562430" y="731342"/>
                </a:moveTo>
                <a:lnTo>
                  <a:pt x="14038555" y="731342"/>
                </a:lnTo>
                <a:lnTo>
                  <a:pt x="14038555" y="1280287"/>
                </a:lnTo>
                <a:lnTo>
                  <a:pt x="14562430" y="1280287"/>
                </a:lnTo>
                <a:lnTo>
                  <a:pt x="14562430" y="731342"/>
                </a:lnTo>
                <a:close/>
              </a:path>
              <a:path w="16722725" h="1280795">
                <a:moveTo>
                  <a:pt x="15642324" y="916305"/>
                </a:moveTo>
                <a:lnTo>
                  <a:pt x="15118449" y="916305"/>
                </a:lnTo>
                <a:lnTo>
                  <a:pt x="15118449" y="1280287"/>
                </a:lnTo>
                <a:lnTo>
                  <a:pt x="15642324" y="1280287"/>
                </a:lnTo>
                <a:lnTo>
                  <a:pt x="15642324" y="916305"/>
                </a:lnTo>
                <a:close/>
              </a:path>
              <a:path w="16722725" h="1280795">
                <a:moveTo>
                  <a:pt x="16722217" y="1230490"/>
                </a:moveTo>
                <a:lnTo>
                  <a:pt x="16198342" y="1230490"/>
                </a:lnTo>
                <a:lnTo>
                  <a:pt x="16198342" y="1280287"/>
                </a:lnTo>
                <a:lnTo>
                  <a:pt x="16722217" y="1280287"/>
                </a:lnTo>
                <a:lnTo>
                  <a:pt x="16722217" y="123049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2347912" y="4227409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0.20M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427801" y="4254493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0.19M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507691" y="4261633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0.19M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587580" y="4300630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0.18M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667470" y="4380562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747359" y="4388611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827248" y="4394402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0.16M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9907138" y="4438230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0987028" y="4457471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2066917" y="4457625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0.15M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3146806" y="4478320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0.14M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4226697" y="4577521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5306586" y="4609815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0.12M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5724643" y="4794783"/>
            <a:ext cx="26333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4370" algn="l"/>
                <a:tab pos="2620010" algn="l"/>
              </a:tabLst>
            </a:pPr>
            <a:r>
              <a:rPr sz="900" u="sng" dirty="0">
                <a:solidFill>
                  <a:srgbClr val="616161"/>
                </a:solidFill>
                <a:uFill>
                  <a:solidFill>
                    <a:srgbClr val="F0F0F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900" u="sng" spc="-10" dirty="0">
                <a:solidFill>
                  <a:srgbClr val="616161"/>
                </a:solidFill>
                <a:uFill>
                  <a:solidFill>
                    <a:srgbClr val="F0F0F0"/>
                  </a:solidFill>
                </a:uFill>
                <a:latin typeface="Segoe UI"/>
                <a:cs typeface="Segoe UI"/>
              </a:rPr>
              <a:t>0.08M</a:t>
            </a:r>
            <a:r>
              <a:rPr sz="900" u="sng" dirty="0">
                <a:solidFill>
                  <a:srgbClr val="616161"/>
                </a:solidFill>
                <a:uFill>
                  <a:solidFill>
                    <a:srgbClr val="F0F0F0"/>
                  </a:solidFill>
                </a:uFill>
                <a:latin typeface="Segoe UI"/>
                <a:cs typeface="Segoe UI"/>
              </a:rPr>
              <a:t>	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7466364" y="5108966"/>
            <a:ext cx="3378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0.01M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84224" y="5289648"/>
            <a:ext cx="2762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0.0M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072460" y="5400674"/>
            <a:ext cx="7448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Action </a:t>
            </a: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Figures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208607" y="5400674"/>
            <a:ext cx="6324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Toy</a:t>
            </a:r>
            <a:r>
              <a:rPr sz="900" spc="-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Vehicles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408005" y="5400674"/>
            <a:ext cx="393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Puzzles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282958" y="5400674"/>
            <a:ext cx="8032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Baby</a:t>
            </a:r>
            <a:r>
              <a:rPr sz="9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Toddler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418212" y="5400674"/>
            <a:ext cx="692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Outdoor </a:t>
            </a: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Play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584868" y="5400674"/>
            <a:ext cx="5194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STEM </a:t>
            </a: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Kits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588260" y="5400674"/>
            <a:ext cx="6724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Arts</a:t>
            </a:r>
            <a:r>
              <a:rPr sz="9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&amp;</a:t>
            </a:r>
            <a:r>
              <a:rPr sz="900" spc="-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Crafts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8699106" y="5400674"/>
            <a:ext cx="610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Educational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9945832" y="5400674"/>
            <a:ext cx="2768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Dolls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0814981" y="5400674"/>
            <a:ext cx="697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Board </a:t>
            </a: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Games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1915854" y="5400674"/>
            <a:ext cx="6559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Pretend </a:t>
            </a: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Play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13005716" y="5400674"/>
            <a:ext cx="63627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Card</a:t>
            </a: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Games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4009853" y="5400674"/>
            <a:ext cx="7880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Building </a:t>
            </a: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Blocks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5335904" y="5400674"/>
            <a:ext cx="2952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Plush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6282145" y="5400674"/>
            <a:ext cx="5626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16161"/>
                </a:solidFill>
                <a:latin typeface="Segoe UI"/>
                <a:cs typeface="Segoe UI"/>
              </a:rPr>
              <a:t>Model </a:t>
            </a:r>
            <a:r>
              <a:rPr sz="900" spc="-20" dirty="0">
                <a:solidFill>
                  <a:srgbClr val="616161"/>
                </a:solidFill>
                <a:latin typeface="Segoe UI"/>
                <a:cs typeface="Segoe UI"/>
              </a:rPr>
              <a:t>Kits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7342835" y="5400674"/>
            <a:ext cx="600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616161"/>
                </a:solidFill>
                <a:latin typeface="Segoe UI"/>
                <a:cs typeface="Segoe UI"/>
              </a:rPr>
              <a:t>Collectibles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9382124" y="5772149"/>
            <a:ext cx="9124950" cy="4743450"/>
            <a:chOff x="9382124" y="5772149"/>
            <a:chExt cx="9124950" cy="4743450"/>
          </a:xfrm>
        </p:grpSpPr>
        <p:sp>
          <p:nvSpPr>
            <p:cNvPr id="131" name="object 131"/>
            <p:cNvSpPr/>
            <p:nvPr/>
          </p:nvSpPr>
          <p:spPr>
            <a:xfrm>
              <a:off x="9386886" y="5776912"/>
              <a:ext cx="9115425" cy="4733925"/>
            </a:xfrm>
            <a:custGeom>
              <a:avLst/>
              <a:gdLst/>
              <a:ahLst/>
              <a:cxnLst/>
              <a:rect l="l" t="t" r="r" b="b"/>
              <a:pathLst>
                <a:path w="9115425" h="4733925">
                  <a:moveTo>
                    <a:pt x="9048677" y="4733924"/>
                  </a:moveTo>
                  <a:lnTo>
                    <a:pt x="66746" y="4733924"/>
                  </a:lnTo>
                  <a:lnTo>
                    <a:pt x="62101" y="4733467"/>
                  </a:lnTo>
                  <a:lnTo>
                    <a:pt x="24240" y="4716317"/>
                  </a:lnTo>
                  <a:lnTo>
                    <a:pt x="2287" y="4681024"/>
                  </a:lnTo>
                  <a:lnTo>
                    <a:pt x="0" y="4667177"/>
                  </a:lnTo>
                  <a:lnTo>
                    <a:pt x="0" y="46624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9048677" y="0"/>
                  </a:lnTo>
                  <a:lnTo>
                    <a:pt x="9087574" y="14645"/>
                  </a:lnTo>
                  <a:lnTo>
                    <a:pt x="9111779" y="48433"/>
                  </a:lnTo>
                  <a:lnTo>
                    <a:pt x="9115423" y="66746"/>
                  </a:lnTo>
                  <a:lnTo>
                    <a:pt x="9115423" y="4667177"/>
                  </a:lnTo>
                  <a:lnTo>
                    <a:pt x="9100777" y="4706075"/>
                  </a:lnTo>
                  <a:lnTo>
                    <a:pt x="9066990" y="4730281"/>
                  </a:lnTo>
                  <a:lnTo>
                    <a:pt x="9053322" y="4733467"/>
                  </a:lnTo>
                  <a:lnTo>
                    <a:pt x="9048677" y="47339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386886" y="5776912"/>
              <a:ext cx="9115425" cy="4733925"/>
            </a:xfrm>
            <a:custGeom>
              <a:avLst/>
              <a:gdLst/>
              <a:ahLst/>
              <a:cxnLst/>
              <a:rect l="l" t="t" r="r" b="b"/>
              <a:pathLst>
                <a:path w="9115425" h="4733925">
                  <a:moveTo>
                    <a:pt x="0" y="46624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043986" y="0"/>
                  </a:lnTo>
                  <a:lnTo>
                    <a:pt x="9048677" y="0"/>
                  </a:lnTo>
                  <a:lnTo>
                    <a:pt x="9053323" y="457"/>
                  </a:lnTo>
                  <a:lnTo>
                    <a:pt x="9057923" y="1372"/>
                  </a:lnTo>
                  <a:lnTo>
                    <a:pt x="9062523" y="2287"/>
                  </a:lnTo>
                  <a:lnTo>
                    <a:pt x="9066990" y="3642"/>
                  </a:lnTo>
                  <a:lnTo>
                    <a:pt x="9071323" y="5437"/>
                  </a:lnTo>
                  <a:lnTo>
                    <a:pt x="9075657" y="7232"/>
                  </a:lnTo>
                  <a:lnTo>
                    <a:pt x="9079774" y="9433"/>
                  </a:lnTo>
                  <a:lnTo>
                    <a:pt x="9083673" y="12039"/>
                  </a:lnTo>
                  <a:lnTo>
                    <a:pt x="9087574" y="14645"/>
                  </a:lnTo>
                  <a:lnTo>
                    <a:pt x="9091183" y="17606"/>
                  </a:lnTo>
                  <a:lnTo>
                    <a:pt x="9094499" y="20923"/>
                  </a:lnTo>
                  <a:lnTo>
                    <a:pt x="9097816" y="24240"/>
                  </a:lnTo>
                  <a:lnTo>
                    <a:pt x="9114966" y="62101"/>
                  </a:lnTo>
                  <a:lnTo>
                    <a:pt x="9115424" y="71437"/>
                  </a:lnTo>
                  <a:lnTo>
                    <a:pt x="9115424" y="4662487"/>
                  </a:lnTo>
                  <a:lnTo>
                    <a:pt x="9103383" y="4702175"/>
                  </a:lnTo>
                  <a:lnTo>
                    <a:pt x="9094499" y="4713000"/>
                  </a:lnTo>
                  <a:lnTo>
                    <a:pt x="9091183" y="4716317"/>
                  </a:lnTo>
                  <a:lnTo>
                    <a:pt x="9087574" y="4719278"/>
                  </a:lnTo>
                  <a:lnTo>
                    <a:pt x="9083673" y="4721884"/>
                  </a:lnTo>
                  <a:lnTo>
                    <a:pt x="9079774" y="4724490"/>
                  </a:lnTo>
                  <a:lnTo>
                    <a:pt x="9075657" y="4726691"/>
                  </a:lnTo>
                  <a:lnTo>
                    <a:pt x="9071323" y="4728486"/>
                  </a:lnTo>
                  <a:lnTo>
                    <a:pt x="9066990" y="4730281"/>
                  </a:lnTo>
                  <a:lnTo>
                    <a:pt x="9062523" y="4731636"/>
                  </a:lnTo>
                  <a:lnTo>
                    <a:pt x="9057923" y="4732551"/>
                  </a:lnTo>
                  <a:lnTo>
                    <a:pt x="9053322" y="4733467"/>
                  </a:lnTo>
                  <a:lnTo>
                    <a:pt x="9048677" y="4733924"/>
                  </a:lnTo>
                  <a:lnTo>
                    <a:pt x="9043986" y="4733924"/>
                  </a:lnTo>
                  <a:lnTo>
                    <a:pt x="71437" y="4733924"/>
                  </a:lnTo>
                  <a:lnTo>
                    <a:pt x="66746" y="4733924"/>
                  </a:lnTo>
                  <a:lnTo>
                    <a:pt x="62101" y="4733467"/>
                  </a:lnTo>
                  <a:lnTo>
                    <a:pt x="57500" y="4732551"/>
                  </a:lnTo>
                  <a:lnTo>
                    <a:pt x="52900" y="4731636"/>
                  </a:lnTo>
                  <a:lnTo>
                    <a:pt x="31748" y="4721885"/>
                  </a:lnTo>
                  <a:lnTo>
                    <a:pt x="27848" y="4719279"/>
                  </a:lnTo>
                  <a:lnTo>
                    <a:pt x="24240" y="4716317"/>
                  </a:lnTo>
                  <a:lnTo>
                    <a:pt x="20923" y="4713000"/>
                  </a:lnTo>
                  <a:lnTo>
                    <a:pt x="17606" y="4709683"/>
                  </a:lnTo>
                  <a:lnTo>
                    <a:pt x="1372" y="4676423"/>
                  </a:lnTo>
                  <a:lnTo>
                    <a:pt x="457" y="4671823"/>
                  </a:lnTo>
                  <a:lnTo>
                    <a:pt x="0" y="4667177"/>
                  </a:lnTo>
                  <a:lnTo>
                    <a:pt x="0" y="466248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13012737" y="5857938"/>
            <a:ext cx="18827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5" dirty="0">
                <a:solidFill>
                  <a:srgbClr val="242424"/>
                </a:solidFill>
                <a:latin typeface="Tahoma"/>
                <a:cs typeface="Tahoma"/>
              </a:rPr>
              <a:t>Gross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242424"/>
                </a:solidFill>
                <a:latin typeface="Tahoma"/>
                <a:cs typeface="Tahoma"/>
              </a:rPr>
              <a:t>Profit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0" dirty="0">
                <a:solidFill>
                  <a:srgbClr val="242424"/>
                </a:solidFill>
                <a:latin typeface="Tahoma"/>
                <a:cs typeface="Tahoma"/>
              </a:rPr>
              <a:t>Trend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9531349" y="6188074"/>
            <a:ext cx="3134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Profit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Quarter,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Month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Name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Day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7439506" y="672682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14.1K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9538790" y="6905079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14K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9538790" y="7634535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13K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538790" y="8363991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12K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9863136" y="7003653"/>
            <a:ext cx="8477250" cy="2198370"/>
            <a:chOff x="9863136" y="7003653"/>
            <a:chExt cx="8477250" cy="2198370"/>
          </a:xfrm>
        </p:grpSpPr>
        <p:sp>
          <p:nvSpPr>
            <p:cNvPr id="136" name="object 136"/>
            <p:cNvSpPr/>
            <p:nvPr/>
          </p:nvSpPr>
          <p:spPr>
            <a:xfrm>
              <a:off x="9867899" y="9196783"/>
              <a:ext cx="8467725" cy="0"/>
            </a:xfrm>
            <a:custGeom>
              <a:avLst/>
              <a:gdLst/>
              <a:ahLst/>
              <a:cxnLst/>
              <a:rect l="l" t="t" r="r" b="b"/>
              <a:pathLst>
                <a:path w="8467725">
                  <a:moveTo>
                    <a:pt x="0" y="0"/>
                  </a:moveTo>
                  <a:lnTo>
                    <a:pt x="84677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9867899" y="8467327"/>
              <a:ext cx="8467725" cy="0"/>
            </a:xfrm>
            <a:custGeom>
              <a:avLst/>
              <a:gdLst/>
              <a:ahLst/>
              <a:cxnLst/>
              <a:rect l="l" t="t" r="r" b="b"/>
              <a:pathLst>
                <a:path w="8467725">
                  <a:moveTo>
                    <a:pt x="0" y="0"/>
                  </a:moveTo>
                  <a:lnTo>
                    <a:pt x="84677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9867899" y="7737871"/>
              <a:ext cx="8467725" cy="0"/>
            </a:xfrm>
            <a:custGeom>
              <a:avLst/>
              <a:gdLst/>
              <a:ahLst/>
              <a:cxnLst/>
              <a:rect l="l" t="t" r="r" b="b"/>
              <a:pathLst>
                <a:path w="8467725">
                  <a:moveTo>
                    <a:pt x="0" y="0"/>
                  </a:moveTo>
                  <a:lnTo>
                    <a:pt x="84677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867899" y="7008415"/>
              <a:ext cx="8467725" cy="0"/>
            </a:xfrm>
            <a:custGeom>
              <a:avLst/>
              <a:gdLst/>
              <a:ahLst/>
              <a:cxnLst/>
              <a:rect l="l" t="t" r="r" b="b"/>
              <a:pathLst>
                <a:path w="8467725">
                  <a:moveTo>
                    <a:pt x="0" y="0"/>
                  </a:moveTo>
                  <a:lnTo>
                    <a:pt x="84677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9538790" y="9093447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11K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5" name="object 145"/>
          <p:cNvSpPr/>
          <p:nvPr/>
        </p:nvSpPr>
        <p:spPr>
          <a:xfrm>
            <a:off x="10023270" y="6951832"/>
            <a:ext cx="8157209" cy="2588260"/>
          </a:xfrm>
          <a:custGeom>
            <a:avLst/>
            <a:gdLst/>
            <a:ahLst/>
            <a:cxnLst/>
            <a:rect l="l" t="t" r="r" b="b"/>
            <a:pathLst>
              <a:path w="8157209" h="2588259">
                <a:moveTo>
                  <a:pt x="0" y="2273401"/>
                </a:moveTo>
                <a:lnTo>
                  <a:pt x="12138" y="2206735"/>
                </a:lnTo>
                <a:lnTo>
                  <a:pt x="24276" y="2140571"/>
                </a:lnTo>
                <a:lnTo>
                  <a:pt x="36415" y="2075410"/>
                </a:lnTo>
                <a:lnTo>
                  <a:pt x="48553" y="2011752"/>
                </a:lnTo>
                <a:lnTo>
                  <a:pt x="60691" y="1950099"/>
                </a:lnTo>
                <a:lnTo>
                  <a:pt x="72830" y="1890952"/>
                </a:lnTo>
                <a:lnTo>
                  <a:pt x="84968" y="1834813"/>
                </a:lnTo>
                <a:lnTo>
                  <a:pt x="97106" y="1782183"/>
                </a:lnTo>
                <a:lnTo>
                  <a:pt x="109245" y="1733563"/>
                </a:lnTo>
                <a:lnTo>
                  <a:pt x="121383" y="1689454"/>
                </a:lnTo>
                <a:lnTo>
                  <a:pt x="133522" y="1650357"/>
                </a:lnTo>
                <a:lnTo>
                  <a:pt x="157798" y="1589207"/>
                </a:lnTo>
                <a:lnTo>
                  <a:pt x="182075" y="1554122"/>
                </a:lnTo>
                <a:lnTo>
                  <a:pt x="242767" y="1538546"/>
                </a:lnTo>
                <a:lnTo>
                  <a:pt x="291320" y="1532075"/>
                </a:lnTo>
                <a:lnTo>
                  <a:pt x="339874" y="1528192"/>
                </a:lnTo>
                <a:lnTo>
                  <a:pt x="388427" y="1526897"/>
                </a:lnTo>
                <a:lnTo>
                  <a:pt x="427270" y="1535953"/>
                </a:lnTo>
                <a:lnTo>
                  <a:pt x="466113" y="1557548"/>
                </a:lnTo>
                <a:lnTo>
                  <a:pt x="504956" y="1583322"/>
                </a:lnTo>
                <a:lnTo>
                  <a:pt x="543798" y="1604916"/>
                </a:lnTo>
                <a:lnTo>
                  <a:pt x="582641" y="1613972"/>
                </a:lnTo>
                <a:lnTo>
                  <a:pt x="594779" y="1606370"/>
                </a:lnTo>
                <a:lnTo>
                  <a:pt x="606918" y="1584886"/>
                </a:lnTo>
                <a:lnTo>
                  <a:pt x="631195" y="1508203"/>
                </a:lnTo>
                <a:lnTo>
                  <a:pt x="643333" y="1456972"/>
                </a:lnTo>
                <a:lnTo>
                  <a:pt x="655471" y="1399790"/>
                </a:lnTo>
                <a:lnTo>
                  <a:pt x="667610" y="1338643"/>
                </a:lnTo>
                <a:lnTo>
                  <a:pt x="679748" y="1275512"/>
                </a:lnTo>
                <a:lnTo>
                  <a:pt x="691886" y="1212381"/>
                </a:lnTo>
                <a:lnTo>
                  <a:pt x="704025" y="1151234"/>
                </a:lnTo>
                <a:lnTo>
                  <a:pt x="716163" y="1094052"/>
                </a:lnTo>
                <a:lnTo>
                  <a:pt x="728301" y="1042820"/>
                </a:lnTo>
                <a:lnTo>
                  <a:pt x="740440" y="999521"/>
                </a:lnTo>
                <a:lnTo>
                  <a:pt x="764717" y="944654"/>
                </a:lnTo>
                <a:lnTo>
                  <a:pt x="776855" y="937052"/>
                </a:lnTo>
                <a:lnTo>
                  <a:pt x="787077" y="943650"/>
                </a:lnTo>
                <a:lnTo>
                  <a:pt x="807520" y="992120"/>
                </a:lnTo>
                <a:lnTo>
                  <a:pt x="817742" y="1031111"/>
                </a:lnTo>
                <a:lnTo>
                  <a:pt x="827964" y="1078021"/>
                </a:lnTo>
                <a:lnTo>
                  <a:pt x="838186" y="1131409"/>
                </a:lnTo>
                <a:lnTo>
                  <a:pt x="848407" y="1189836"/>
                </a:lnTo>
                <a:lnTo>
                  <a:pt x="858629" y="1251863"/>
                </a:lnTo>
                <a:lnTo>
                  <a:pt x="868851" y="1316049"/>
                </a:lnTo>
                <a:lnTo>
                  <a:pt x="879073" y="1380954"/>
                </a:lnTo>
                <a:lnTo>
                  <a:pt x="889295" y="1445140"/>
                </a:lnTo>
                <a:lnTo>
                  <a:pt x="899516" y="1507167"/>
                </a:lnTo>
                <a:lnTo>
                  <a:pt x="909738" y="1565594"/>
                </a:lnTo>
                <a:lnTo>
                  <a:pt x="919960" y="1618982"/>
                </a:lnTo>
                <a:lnTo>
                  <a:pt x="930182" y="1665892"/>
                </a:lnTo>
                <a:lnTo>
                  <a:pt x="940403" y="1704883"/>
                </a:lnTo>
                <a:lnTo>
                  <a:pt x="960847" y="1753353"/>
                </a:lnTo>
                <a:lnTo>
                  <a:pt x="971069" y="1759951"/>
                </a:lnTo>
                <a:lnTo>
                  <a:pt x="995346" y="1748170"/>
                </a:lnTo>
                <a:lnTo>
                  <a:pt x="1019622" y="1717109"/>
                </a:lnTo>
                <a:lnTo>
                  <a:pt x="1043899" y="1673196"/>
                </a:lnTo>
                <a:lnTo>
                  <a:pt x="1068176" y="1622857"/>
                </a:lnTo>
                <a:lnTo>
                  <a:pt x="1092452" y="1572518"/>
                </a:lnTo>
                <a:lnTo>
                  <a:pt x="1116729" y="1528605"/>
                </a:lnTo>
                <a:lnTo>
                  <a:pt x="1141006" y="1497545"/>
                </a:lnTo>
                <a:lnTo>
                  <a:pt x="1165283" y="1485763"/>
                </a:lnTo>
                <a:lnTo>
                  <a:pt x="1174531" y="1491953"/>
                </a:lnTo>
                <a:lnTo>
                  <a:pt x="1193028" y="1537823"/>
                </a:lnTo>
                <a:lnTo>
                  <a:pt x="1202276" y="1575067"/>
                </a:lnTo>
                <a:lnTo>
                  <a:pt x="1211524" y="1620226"/>
                </a:lnTo>
                <a:lnTo>
                  <a:pt x="1220772" y="1672082"/>
                </a:lnTo>
                <a:lnTo>
                  <a:pt x="1230021" y="1729419"/>
                </a:lnTo>
                <a:lnTo>
                  <a:pt x="1239269" y="1791018"/>
                </a:lnTo>
                <a:lnTo>
                  <a:pt x="1248517" y="1855662"/>
                </a:lnTo>
                <a:lnTo>
                  <a:pt x="1257765" y="1922132"/>
                </a:lnTo>
                <a:lnTo>
                  <a:pt x="1267014" y="1989211"/>
                </a:lnTo>
                <a:lnTo>
                  <a:pt x="1276262" y="2055681"/>
                </a:lnTo>
                <a:lnTo>
                  <a:pt x="1285510" y="2120325"/>
                </a:lnTo>
                <a:lnTo>
                  <a:pt x="1294759" y="2181924"/>
                </a:lnTo>
                <a:lnTo>
                  <a:pt x="1304007" y="2239260"/>
                </a:lnTo>
                <a:lnTo>
                  <a:pt x="1313255" y="2291117"/>
                </a:lnTo>
                <a:lnTo>
                  <a:pt x="1322503" y="2336276"/>
                </a:lnTo>
                <a:lnTo>
                  <a:pt x="1331752" y="2373520"/>
                </a:lnTo>
                <a:lnTo>
                  <a:pt x="1350248" y="2419389"/>
                </a:lnTo>
                <a:lnTo>
                  <a:pt x="1359497" y="2425580"/>
                </a:lnTo>
                <a:lnTo>
                  <a:pt x="1383773" y="2416277"/>
                </a:lnTo>
                <a:lnTo>
                  <a:pt x="1408050" y="2391154"/>
                </a:lnTo>
                <a:lnTo>
                  <a:pt x="1432327" y="2354389"/>
                </a:lnTo>
                <a:lnTo>
                  <a:pt x="1456603" y="2310162"/>
                </a:lnTo>
                <a:lnTo>
                  <a:pt x="1480880" y="2262651"/>
                </a:lnTo>
                <a:lnTo>
                  <a:pt x="1505157" y="2216034"/>
                </a:lnTo>
                <a:lnTo>
                  <a:pt x="1529434" y="2174491"/>
                </a:lnTo>
                <a:lnTo>
                  <a:pt x="1553710" y="2142201"/>
                </a:lnTo>
                <a:lnTo>
                  <a:pt x="1592553" y="2109820"/>
                </a:lnTo>
                <a:lnTo>
                  <a:pt x="1631396" y="2090020"/>
                </a:lnTo>
                <a:lnTo>
                  <a:pt x="1670239" y="2072715"/>
                </a:lnTo>
                <a:lnTo>
                  <a:pt x="1709082" y="2047814"/>
                </a:lnTo>
                <a:lnTo>
                  <a:pt x="1747924" y="2005231"/>
                </a:lnTo>
                <a:lnTo>
                  <a:pt x="1777803" y="1938736"/>
                </a:lnTo>
                <a:lnTo>
                  <a:pt x="1792743" y="1890774"/>
                </a:lnTo>
                <a:lnTo>
                  <a:pt x="1807682" y="1836155"/>
                </a:lnTo>
                <a:lnTo>
                  <a:pt x="1822622" y="1777244"/>
                </a:lnTo>
                <a:lnTo>
                  <a:pt x="1837561" y="1716406"/>
                </a:lnTo>
                <a:lnTo>
                  <a:pt x="1852501" y="1656008"/>
                </a:lnTo>
                <a:lnTo>
                  <a:pt x="1867440" y="1598412"/>
                </a:lnTo>
                <a:lnTo>
                  <a:pt x="1882380" y="1545985"/>
                </a:lnTo>
                <a:lnTo>
                  <a:pt x="1897320" y="1501092"/>
                </a:lnTo>
                <a:lnTo>
                  <a:pt x="1927199" y="1443366"/>
                </a:lnTo>
                <a:lnTo>
                  <a:pt x="1942138" y="1435263"/>
                </a:lnTo>
                <a:lnTo>
                  <a:pt x="1954276" y="1442661"/>
                </a:lnTo>
                <a:lnTo>
                  <a:pt x="1978553" y="1496059"/>
                </a:lnTo>
                <a:lnTo>
                  <a:pt x="1990692" y="1538198"/>
                </a:lnTo>
                <a:lnTo>
                  <a:pt x="2002830" y="1588058"/>
                </a:lnTo>
                <a:lnTo>
                  <a:pt x="2014968" y="1643707"/>
                </a:lnTo>
                <a:lnTo>
                  <a:pt x="2027107" y="1703217"/>
                </a:lnTo>
                <a:lnTo>
                  <a:pt x="2039245" y="1764656"/>
                </a:lnTo>
                <a:lnTo>
                  <a:pt x="2051383" y="1826096"/>
                </a:lnTo>
                <a:lnTo>
                  <a:pt x="2063522" y="1885605"/>
                </a:lnTo>
                <a:lnTo>
                  <a:pt x="2075660" y="1941255"/>
                </a:lnTo>
                <a:lnTo>
                  <a:pt x="2087799" y="1991114"/>
                </a:lnTo>
                <a:lnTo>
                  <a:pt x="2099937" y="2033253"/>
                </a:lnTo>
                <a:lnTo>
                  <a:pt x="2124214" y="2086651"/>
                </a:lnTo>
                <a:lnTo>
                  <a:pt x="2136352" y="2094049"/>
                </a:lnTo>
                <a:lnTo>
                  <a:pt x="2152536" y="2085189"/>
                </a:lnTo>
                <a:lnTo>
                  <a:pt x="2184905" y="2023691"/>
                </a:lnTo>
                <a:lnTo>
                  <a:pt x="2201090" y="1977307"/>
                </a:lnTo>
                <a:lnTo>
                  <a:pt x="2217274" y="1924668"/>
                </a:lnTo>
                <a:lnTo>
                  <a:pt x="2233459" y="1868903"/>
                </a:lnTo>
                <a:lnTo>
                  <a:pt x="2249643" y="1813137"/>
                </a:lnTo>
                <a:lnTo>
                  <a:pt x="2265828" y="1760499"/>
                </a:lnTo>
                <a:lnTo>
                  <a:pt x="2282012" y="1714114"/>
                </a:lnTo>
                <a:lnTo>
                  <a:pt x="2298197" y="1677111"/>
                </a:lnTo>
                <a:lnTo>
                  <a:pt x="2330566" y="1643756"/>
                </a:lnTo>
                <a:lnTo>
                  <a:pt x="2369409" y="1649726"/>
                </a:lnTo>
                <a:lnTo>
                  <a:pt x="2408251" y="1667636"/>
                </a:lnTo>
                <a:lnTo>
                  <a:pt x="2447094" y="1697485"/>
                </a:lnTo>
                <a:lnTo>
                  <a:pt x="2485937" y="1739274"/>
                </a:lnTo>
                <a:lnTo>
                  <a:pt x="2524780" y="1793003"/>
                </a:lnTo>
                <a:lnTo>
                  <a:pt x="2547628" y="1850753"/>
                </a:lnTo>
                <a:lnTo>
                  <a:pt x="2559053" y="1894238"/>
                </a:lnTo>
                <a:lnTo>
                  <a:pt x="2570477" y="1945361"/>
                </a:lnTo>
                <a:lnTo>
                  <a:pt x="2581901" y="2002545"/>
                </a:lnTo>
                <a:lnTo>
                  <a:pt x="2593326" y="2064215"/>
                </a:lnTo>
                <a:lnTo>
                  <a:pt x="2604750" y="2128792"/>
                </a:lnTo>
                <a:lnTo>
                  <a:pt x="2616174" y="2194702"/>
                </a:lnTo>
                <a:lnTo>
                  <a:pt x="2627599" y="2260367"/>
                </a:lnTo>
                <a:lnTo>
                  <a:pt x="2639023" y="2324211"/>
                </a:lnTo>
                <a:lnTo>
                  <a:pt x="2650447" y="2384658"/>
                </a:lnTo>
                <a:lnTo>
                  <a:pt x="2661872" y="2440130"/>
                </a:lnTo>
                <a:lnTo>
                  <a:pt x="2673296" y="2489052"/>
                </a:lnTo>
                <a:lnTo>
                  <a:pt x="2684720" y="2529846"/>
                </a:lnTo>
                <a:lnTo>
                  <a:pt x="2707569" y="2580748"/>
                </a:lnTo>
                <a:lnTo>
                  <a:pt x="2718993" y="2587702"/>
                </a:lnTo>
                <a:lnTo>
                  <a:pt x="2724542" y="2583796"/>
                </a:lnTo>
                <a:lnTo>
                  <a:pt x="2741189" y="2528852"/>
                </a:lnTo>
                <a:lnTo>
                  <a:pt x="2752287" y="2460751"/>
                </a:lnTo>
                <a:lnTo>
                  <a:pt x="2757836" y="2418623"/>
                </a:lnTo>
                <a:lnTo>
                  <a:pt x="2763385" y="2371718"/>
                </a:lnTo>
                <a:lnTo>
                  <a:pt x="2768934" y="2320490"/>
                </a:lnTo>
                <a:lnTo>
                  <a:pt x="2774483" y="2265395"/>
                </a:lnTo>
                <a:lnTo>
                  <a:pt x="2780032" y="2206887"/>
                </a:lnTo>
                <a:lnTo>
                  <a:pt x="2785581" y="2145421"/>
                </a:lnTo>
                <a:lnTo>
                  <a:pt x="2791130" y="2081452"/>
                </a:lnTo>
                <a:lnTo>
                  <a:pt x="2796679" y="2015436"/>
                </a:lnTo>
                <a:lnTo>
                  <a:pt x="2802228" y="1947828"/>
                </a:lnTo>
                <a:lnTo>
                  <a:pt x="2807777" y="1879082"/>
                </a:lnTo>
                <a:lnTo>
                  <a:pt x="2813326" y="1809653"/>
                </a:lnTo>
                <a:lnTo>
                  <a:pt x="2818875" y="1739997"/>
                </a:lnTo>
                <a:lnTo>
                  <a:pt x="2824424" y="1670568"/>
                </a:lnTo>
                <a:lnTo>
                  <a:pt x="2829973" y="1601822"/>
                </a:lnTo>
                <a:lnTo>
                  <a:pt x="2835522" y="1534213"/>
                </a:lnTo>
                <a:lnTo>
                  <a:pt x="2841071" y="1468197"/>
                </a:lnTo>
                <a:lnTo>
                  <a:pt x="2846620" y="1404229"/>
                </a:lnTo>
                <a:lnTo>
                  <a:pt x="2852169" y="1342763"/>
                </a:lnTo>
                <a:lnTo>
                  <a:pt x="2857718" y="1284255"/>
                </a:lnTo>
                <a:lnTo>
                  <a:pt x="2863267" y="1229159"/>
                </a:lnTo>
                <a:lnTo>
                  <a:pt x="2868816" y="1177931"/>
                </a:lnTo>
                <a:lnTo>
                  <a:pt x="2874365" y="1131026"/>
                </a:lnTo>
                <a:lnTo>
                  <a:pt x="2879914" y="1088899"/>
                </a:lnTo>
                <a:lnTo>
                  <a:pt x="2891012" y="1020797"/>
                </a:lnTo>
                <a:lnTo>
                  <a:pt x="2902109" y="977267"/>
                </a:lnTo>
                <a:lnTo>
                  <a:pt x="2913207" y="961948"/>
                </a:lnTo>
                <a:lnTo>
                  <a:pt x="2930863" y="968871"/>
                </a:lnTo>
                <a:lnTo>
                  <a:pt x="2966175" y="1019188"/>
                </a:lnTo>
                <a:lnTo>
                  <a:pt x="2983831" y="1059207"/>
                </a:lnTo>
                <a:lnTo>
                  <a:pt x="3001486" y="1106883"/>
                </a:lnTo>
                <a:lnTo>
                  <a:pt x="3019142" y="1160528"/>
                </a:lnTo>
                <a:lnTo>
                  <a:pt x="3036798" y="1218453"/>
                </a:lnTo>
                <a:lnTo>
                  <a:pt x="3054454" y="1278972"/>
                </a:lnTo>
                <a:lnTo>
                  <a:pt x="3072110" y="1340397"/>
                </a:lnTo>
                <a:lnTo>
                  <a:pt x="3089765" y="1401039"/>
                </a:lnTo>
                <a:lnTo>
                  <a:pt x="3107421" y="1459211"/>
                </a:lnTo>
                <a:lnTo>
                  <a:pt x="3119560" y="1501619"/>
                </a:lnTo>
                <a:lnTo>
                  <a:pt x="3131698" y="1550483"/>
                </a:lnTo>
                <a:lnTo>
                  <a:pt x="3143836" y="1604534"/>
                </a:lnTo>
                <a:lnTo>
                  <a:pt x="3155975" y="1662505"/>
                </a:lnTo>
                <a:lnTo>
                  <a:pt x="3168113" y="1723126"/>
                </a:lnTo>
                <a:lnTo>
                  <a:pt x="3180252" y="1785130"/>
                </a:lnTo>
                <a:lnTo>
                  <a:pt x="3192390" y="1847248"/>
                </a:lnTo>
                <a:lnTo>
                  <a:pt x="3204528" y="1908212"/>
                </a:lnTo>
                <a:lnTo>
                  <a:pt x="3216667" y="1966754"/>
                </a:lnTo>
                <a:lnTo>
                  <a:pt x="3228805" y="2021605"/>
                </a:lnTo>
                <a:lnTo>
                  <a:pt x="3240943" y="2071497"/>
                </a:lnTo>
                <a:lnTo>
                  <a:pt x="3253082" y="2115162"/>
                </a:lnTo>
                <a:lnTo>
                  <a:pt x="3265220" y="2151332"/>
                </a:lnTo>
                <a:lnTo>
                  <a:pt x="3289497" y="2196111"/>
                </a:lnTo>
                <a:lnTo>
                  <a:pt x="3301635" y="2202184"/>
                </a:lnTo>
                <a:lnTo>
                  <a:pt x="3329380" y="2192794"/>
                </a:lnTo>
                <a:lnTo>
                  <a:pt x="3357125" y="2167770"/>
                </a:lnTo>
                <a:lnTo>
                  <a:pt x="3384870" y="2131827"/>
                </a:lnTo>
                <a:lnTo>
                  <a:pt x="3412614" y="2089682"/>
                </a:lnTo>
                <a:lnTo>
                  <a:pt x="3440359" y="2046053"/>
                </a:lnTo>
                <a:lnTo>
                  <a:pt x="3468104" y="2005656"/>
                </a:lnTo>
                <a:lnTo>
                  <a:pt x="3495849" y="1973208"/>
                </a:lnTo>
                <a:lnTo>
                  <a:pt x="3534692" y="1941120"/>
                </a:lnTo>
                <a:lnTo>
                  <a:pt x="3573535" y="1916233"/>
                </a:lnTo>
                <a:lnTo>
                  <a:pt x="3612377" y="1892625"/>
                </a:lnTo>
                <a:lnTo>
                  <a:pt x="3651220" y="1864374"/>
                </a:lnTo>
                <a:lnTo>
                  <a:pt x="3690063" y="1825559"/>
                </a:lnTo>
                <a:lnTo>
                  <a:pt x="3714340" y="1790060"/>
                </a:lnTo>
                <a:lnTo>
                  <a:pt x="3738616" y="1744247"/>
                </a:lnTo>
                <a:lnTo>
                  <a:pt x="3762893" y="1692758"/>
                </a:lnTo>
                <a:lnTo>
                  <a:pt x="3787170" y="1640230"/>
                </a:lnTo>
                <a:lnTo>
                  <a:pt x="3811446" y="1591301"/>
                </a:lnTo>
                <a:lnTo>
                  <a:pt x="3835723" y="1550609"/>
                </a:lnTo>
                <a:lnTo>
                  <a:pt x="3860000" y="1522793"/>
                </a:lnTo>
                <a:lnTo>
                  <a:pt x="3884277" y="1512490"/>
                </a:lnTo>
                <a:lnTo>
                  <a:pt x="3897224" y="1520705"/>
                </a:lnTo>
                <a:lnTo>
                  <a:pt x="3923119" y="1579542"/>
                </a:lnTo>
                <a:lnTo>
                  <a:pt x="3936067" y="1625580"/>
                </a:lnTo>
                <a:lnTo>
                  <a:pt x="3949015" y="1679641"/>
                </a:lnTo>
                <a:lnTo>
                  <a:pt x="3961962" y="1739433"/>
                </a:lnTo>
                <a:lnTo>
                  <a:pt x="3974910" y="1802663"/>
                </a:lnTo>
                <a:lnTo>
                  <a:pt x="3987857" y="1867040"/>
                </a:lnTo>
                <a:lnTo>
                  <a:pt x="4000805" y="1930271"/>
                </a:lnTo>
                <a:lnTo>
                  <a:pt x="4013753" y="1990063"/>
                </a:lnTo>
                <a:lnTo>
                  <a:pt x="4026700" y="2044124"/>
                </a:lnTo>
                <a:lnTo>
                  <a:pt x="4039648" y="2090162"/>
                </a:lnTo>
                <a:lnTo>
                  <a:pt x="4065543" y="2148999"/>
                </a:lnTo>
                <a:lnTo>
                  <a:pt x="4078491" y="2157213"/>
                </a:lnTo>
                <a:lnTo>
                  <a:pt x="4094675" y="2153058"/>
                </a:lnTo>
                <a:lnTo>
                  <a:pt x="4127044" y="2120886"/>
                </a:lnTo>
                <a:lnTo>
                  <a:pt x="4159413" y="2059265"/>
                </a:lnTo>
                <a:lnTo>
                  <a:pt x="4175597" y="2018299"/>
                </a:lnTo>
                <a:lnTo>
                  <a:pt x="4191782" y="1971037"/>
                </a:lnTo>
                <a:lnTo>
                  <a:pt x="4207966" y="1917833"/>
                </a:lnTo>
                <a:lnTo>
                  <a:pt x="4224151" y="1859043"/>
                </a:lnTo>
                <a:lnTo>
                  <a:pt x="4240335" y="1795021"/>
                </a:lnTo>
                <a:lnTo>
                  <a:pt x="4256520" y="1726124"/>
                </a:lnTo>
                <a:lnTo>
                  <a:pt x="4272705" y="1652706"/>
                </a:lnTo>
                <a:lnTo>
                  <a:pt x="4287091" y="1574642"/>
                </a:lnTo>
                <a:lnTo>
                  <a:pt x="4294284" y="1528217"/>
                </a:lnTo>
                <a:lnTo>
                  <a:pt x="4301477" y="1477558"/>
                </a:lnTo>
                <a:lnTo>
                  <a:pt x="4308670" y="1423188"/>
                </a:lnTo>
                <a:lnTo>
                  <a:pt x="4315863" y="1365629"/>
                </a:lnTo>
                <a:lnTo>
                  <a:pt x="4323056" y="1305401"/>
                </a:lnTo>
                <a:lnTo>
                  <a:pt x="4330249" y="1243026"/>
                </a:lnTo>
                <a:lnTo>
                  <a:pt x="4337442" y="1179026"/>
                </a:lnTo>
                <a:lnTo>
                  <a:pt x="4344636" y="1113923"/>
                </a:lnTo>
                <a:lnTo>
                  <a:pt x="4351829" y="1048238"/>
                </a:lnTo>
                <a:lnTo>
                  <a:pt x="4359022" y="982492"/>
                </a:lnTo>
                <a:lnTo>
                  <a:pt x="4366215" y="917208"/>
                </a:lnTo>
                <a:lnTo>
                  <a:pt x="4373408" y="852907"/>
                </a:lnTo>
                <a:lnTo>
                  <a:pt x="4380601" y="790111"/>
                </a:lnTo>
                <a:lnTo>
                  <a:pt x="4387794" y="729341"/>
                </a:lnTo>
                <a:lnTo>
                  <a:pt x="4394987" y="671118"/>
                </a:lnTo>
                <a:lnTo>
                  <a:pt x="4402180" y="615965"/>
                </a:lnTo>
                <a:lnTo>
                  <a:pt x="4409373" y="564403"/>
                </a:lnTo>
                <a:lnTo>
                  <a:pt x="4416567" y="516954"/>
                </a:lnTo>
                <a:lnTo>
                  <a:pt x="4423760" y="474139"/>
                </a:lnTo>
                <a:lnTo>
                  <a:pt x="4430953" y="436480"/>
                </a:lnTo>
                <a:lnTo>
                  <a:pt x="4445339" y="378715"/>
                </a:lnTo>
                <a:lnTo>
                  <a:pt x="4466918" y="343778"/>
                </a:lnTo>
                <a:lnTo>
                  <a:pt x="4475011" y="348129"/>
                </a:lnTo>
                <a:lnTo>
                  <a:pt x="4499287" y="408475"/>
                </a:lnTo>
                <a:lnTo>
                  <a:pt x="4515472" y="481949"/>
                </a:lnTo>
                <a:lnTo>
                  <a:pt x="4523564" y="526810"/>
                </a:lnTo>
                <a:lnTo>
                  <a:pt x="4531656" y="576264"/>
                </a:lnTo>
                <a:lnTo>
                  <a:pt x="4539748" y="629696"/>
                </a:lnTo>
                <a:lnTo>
                  <a:pt x="4547841" y="686489"/>
                </a:lnTo>
                <a:lnTo>
                  <a:pt x="4555933" y="746026"/>
                </a:lnTo>
                <a:lnTo>
                  <a:pt x="4564025" y="807691"/>
                </a:lnTo>
                <a:lnTo>
                  <a:pt x="4572117" y="870868"/>
                </a:lnTo>
                <a:lnTo>
                  <a:pt x="4580210" y="934940"/>
                </a:lnTo>
                <a:lnTo>
                  <a:pt x="4588302" y="999290"/>
                </a:lnTo>
                <a:lnTo>
                  <a:pt x="4596394" y="1063302"/>
                </a:lnTo>
                <a:lnTo>
                  <a:pt x="4604486" y="1126360"/>
                </a:lnTo>
                <a:lnTo>
                  <a:pt x="4612579" y="1187847"/>
                </a:lnTo>
                <a:lnTo>
                  <a:pt x="4620671" y="1247146"/>
                </a:lnTo>
                <a:lnTo>
                  <a:pt x="4628763" y="1303642"/>
                </a:lnTo>
                <a:lnTo>
                  <a:pt x="4636856" y="1356717"/>
                </a:lnTo>
                <a:lnTo>
                  <a:pt x="4644948" y="1405756"/>
                </a:lnTo>
                <a:lnTo>
                  <a:pt x="4653040" y="1450142"/>
                </a:lnTo>
                <a:lnTo>
                  <a:pt x="4661132" y="1489257"/>
                </a:lnTo>
                <a:lnTo>
                  <a:pt x="4676072" y="1555613"/>
                </a:lnTo>
                <a:lnTo>
                  <a:pt x="4691011" y="1620403"/>
                </a:lnTo>
                <a:lnTo>
                  <a:pt x="4705951" y="1683120"/>
                </a:lnTo>
                <a:lnTo>
                  <a:pt x="4720890" y="1743260"/>
                </a:lnTo>
                <a:lnTo>
                  <a:pt x="4735830" y="1800315"/>
                </a:lnTo>
                <a:lnTo>
                  <a:pt x="4750769" y="1853780"/>
                </a:lnTo>
                <a:lnTo>
                  <a:pt x="4765709" y="1903149"/>
                </a:lnTo>
                <a:lnTo>
                  <a:pt x="4780648" y="1947915"/>
                </a:lnTo>
                <a:lnTo>
                  <a:pt x="4795588" y="1987573"/>
                </a:lnTo>
                <a:lnTo>
                  <a:pt x="4825467" y="2049538"/>
                </a:lnTo>
                <a:lnTo>
                  <a:pt x="4855346" y="2084997"/>
                </a:lnTo>
                <a:lnTo>
                  <a:pt x="4903899" y="2109676"/>
                </a:lnTo>
                <a:lnTo>
                  <a:pt x="4952453" y="2122565"/>
                </a:lnTo>
                <a:lnTo>
                  <a:pt x="5001006" y="2133615"/>
                </a:lnTo>
                <a:lnTo>
                  <a:pt x="5049560" y="2152778"/>
                </a:lnTo>
                <a:lnTo>
                  <a:pt x="5088402" y="2181393"/>
                </a:lnTo>
                <a:lnTo>
                  <a:pt x="5127245" y="2218928"/>
                </a:lnTo>
                <a:lnTo>
                  <a:pt x="5166088" y="2256607"/>
                </a:lnTo>
                <a:lnTo>
                  <a:pt x="5204931" y="2285651"/>
                </a:lnTo>
                <a:lnTo>
                  <a:pt x="5243774" y="2297283"/>
                </a:lnTo>
                <a:lnTo>
                  <a:pt x="5263195" y="2293152"/>
                </a:lnTo>
                <a:lnTo>
                  <a:pt x="5282617" y="2280757"/>
                </a:lnTo>
                <a:lnTo>
                  <a:pt x="5321460" y="2231179"/>
                </a:lnTo>
                <a:lnTo>
                  <a:pt x="5340881" y="2193996"/>
                </a:lnTo>
                <a:lnTo>
                  <a:pt x="5360302" y="2148549"/>
                </a:lnTo>
                <a:lnTo>
                  <a:pt x="5379724" y="2094840"/>
                </a:lnTo>
                <a:lnTo>
                  <a:pt x="5399145" y="2032868"/>
                </a:lnTo>
                <a:lnTo>
                  <a:pt x="5418566" y="1962632"/>
                </a:lnTo>
                <a:lnTo>
                  <a:pt x="5437988" y="1884134"/>
                </a:lnTo>
                <a:lnTo>
                  <a:pt x="5452374" y="1811106"/>
                </a:lnTo>
                <a:lnTo>
                  <a:pt x="5459567" y="1766550"/>
                </a:lnTo>
                <a:lnTo>
                  <a:pt x="5466760" y="1717365"/>
                </a:lnTo>
                <a:lnTo>
                  <a:pt x="5473953" y="1664099"/>
                </a:lnTo>
                <a:lnTo>
                  <a:pt x="5481146" y="1607301"/>
                </a:lnTo>
                <a:lnTo>
                  <a:pt x="5488339" y="1547521"/>
                </a:lnTo>
                <a:lnTo>
                  <a:pt x="5495533" y="1485306"/>
                </a:lnTo>
                <a:lnTo>
                  <a:pt x="5502726" y="1421206"/>
                </a:lnTo>
                <a:lnTo>
                  <a:pt x="5509919" y="1355770"/>
                </a:lnTo>
                <a:lnTo>
                  <a:pt x="5517112" y="1289546"/>
                </a:lnTo>
                <a:lnTo>
                  <a:pt x="5524305" y="1223083"/>
                </a:lnTo>
                <a:lnTo>
                  <a:pt x="5531498" y="1156931"/>
                </a:lnTo>
                <a:lnTo>
                  <a:pt x="5538691" y="1091638"/>
                </a:lnTo>
                <a:lnTo>
                  <a:pt x="5545884" y="1027752"/>
                </a:lnTo>
                <a:lnTo>
                  <a:pt x="5553077" y="965824"/>
                </a:lnTo>
                <a:lnTo>
                  <a:pt x="5560270" y="906400"/>
                </a:lnTo>
                <a:lnTo>
                  <a:pt x="5567464" y="850032"/>
                </a:lnTo>
                <a:lnTo>
                  <a:pt x="5574657" y="797267"/>
                </a:lnTo>
                <a:lnTo>
                  <a:pt x="5581850" y="748653"/>
                </a:lnTo>
                <a:lnTo>
                  <a:pt x="5589043" y="704741"/>
                </a:lnTo>
                <a:lnTo>
                  <a:pt x="5596236" y="666079"/>
                </a:lnTo>
                <a:lnTo>
                  <a:pt x="5610622" y="606700"/>
                </a:lnTo>
                <a:lnTo>
                  <a:pt x="5632201" y="570726"/>
                </a:lnTo>
                <a:lnTo>
                  <a:pt x="5646074" y="577541"/>
                </a:lnTo>
                <a:lnTo>
                  <a:pt x="5673819" y="626891"/>
                </a:lnTo>
                <a:lnTo>
                  <a:pt x="5687691" y="665979"/>
                </a:lnTo>
                <a:lnTo>
                  <a:pt x="5701563" y="712376"/>
                </a:lnTo>
                <a:lnTo>
                  <a:pt x="5715436" y="764360"/>
                </a:lnTo>
                <a:lnTo>
                  <a:pt x="5729308" y="820206"/>
                </a:lnTo>
                <a:lnTo>
                  <a:pt x="5743181" y="878192"/>
                </a:lnTo>
                <a:lnTo>
                  <a:pt x="5757053" y="936593"/>
                </a:lnTo>
                <a:lnTo>
                  <a:pt x="5770926" y="993685"/>
                </a:lnTo>
                <a:lnTo>
                  <a:pt x="5784798" y="1047745"/>
                </a:lnTo>
                <a:lnTo>
                  <a:pt x="5798670" y="1097050"/>
                </a:lnTo>
                <a:lnTo>
                  <a:pt x="5812543" y="1139875"/>
                </a:lnTo>
                <a:lnTo>
                  <a:pt x="5854160" y="1231463"/>
                </a:lnTo>
                <a:lnTo>
                  <a:pt x="5881905" y="1282020"/>
                </a:lnTo>
                <a:lnTo>
                  <a:pt x="5909650" y="1325324"/>
                </a:lnTo>
                <a:lnTo>
                  <a:pt x="5937395" y="1360536"/>
                </a:lnTo>
                <a:lnTo>
                  <a:pt x="5965139" y="1386815"/>
                </a:lnTo>
                <a:lnTo>
                  <a:pt x="6020629" y="1409207"/>
                </a:lnTo>
                <a:lnTo>
                  <a:pt x="6069183" y="1409568"/>
                </a:lnTo>
                <a:lnTo>
                  <a:pt x="6117736" y="1409732"/>
                </a:lnTo>
                <a:lnTo>
                  <a:pt x="6166290" y="1409896"/>
                </a:lnTo>
                <a:lnTo>
                  <a:pt x="6214843" y="1410257"/>
                </a:lnTo>
                <a:lnTo>
                  <a:pt x="6247212" y="1467780"/>
                </a:lnTo>
                <a:lnTo>
                  <a:pt x="6258002" y="1508127"/>
                </a:lnTo>
                <a:lnTo>
                  <a:pt x="6268791" y="1556412"/>
                </a:lnTo>
                <a:lnTo>
                  <a:pt x="6279581" y="1611047"/>
                </a:lnTo>
                <a:lnTo>
                  <a:pt x="6290371" y="1670442"/>
                </a:lnTo>
                <a:lnTo>
                  <a:pt x="6301160" y="1733008"/>
                </a:lnTo>
                <a:lnTo>
                  <a:pt x="6311950" y="1797157"/>
                </a:lnTo>
                <a:lnTo>
                  <a:pt x="6322740" y="1861299"/>
                </a:lnTo>
                <a:lnTo>
                  <a:pt x="6333529" y="1923846"/>
                </a:lnTo>
                <a:lnTo>
                  <a:pt x="6344319" y="1983209"/>
                </a:lnTo>
                <a:lnTo>
                  <a:pt x="6355109" y="2037798"/>
                </a:lnTo>
                <a:lnTo>
                  <a:pt x="6365898" y="2086025"/>
                </a:lnTo>
                <a:lnTo>
                  <a:pt x="6376688" y="2126301"/>
                </a:lnTo>
                <a:lnTo>
                  <a:pt x="6398267" y="2176643"/>
                </a:lnTo>
                <a:lnTo>
                  <a:pt x="6409057" y="2183532"/>
                </a:lnTo>
                <a:lnTo>
                  <a:pt x="6417149" y="2177985"/>
                </a:lnTo>
                <a:lnTo>
                  <a:pt x="6433334" y="2136462"/>
                </a:lnTo>
                <a:lnTo>
                  <a:pt x="6449518" y="2060706"/>
                </a:lnTo>
                <a:lnTo>
                  <a:pt x="6457610" y="2012368"/>
                </a:lnTo>
                <a:lnTo>
                  <a:pt x="6465703" y="1958325"/>
                </a:lnTo>
                <a:lnTo>
                  <a:pt x="6473795" y="1899527"/>
                </a:lnTo>
                <a:lnTo>
                  <a:pt x="6481887" y="1836926"/>
                </a:lnTo>
                <a:lnTo>
                  <a:pt x="6489979" y="1771472"/>
                </a:lnTo>
                <a:lnTo>
                  <a:pt x="6498071" y="1704116"/>
                </a:lnTo>
                <a:lnTo>
                  <a:pt x="6506164" y="1635809"/>
                </a:lnTo>
                <a:lnTo>
                  <a:pt x="6514256" y="1567502"/>
                </a:lnTo>
                <a:lnTo>
                  <a:pt x="6522348" y="1500146"/>
                </a:lnTo>
                <a:lnTo>
                  <a:pt x="6530440" y="1434692"/>
                </a:lnTo>
                <a:lnTo>
                  <a:pt x="6538533" y="1372090"/>
                </a:lnTo>
                <a:lnTo>
                  <a:pt x="6546625" y="1313292"/>
                </a:lnTo>
                <a:lnTo>
                  <a:pt x="6554717" y="1259249"/>
                </a:lnTo>
                <a:lnTo>
                  <a:pt x="6562809" y="1210911"/>
                </a:lnTo>
                <a:lnTo>
                  <a:pt x="6570902" y="1169230"/>
                </a:lnTo>
                <a:lnTo>
                  <a:pt x="6587086" y="1109639"/>
                </a:lnTo>
                <a:lnTo>
                  <a:pt x="6603271" y="1088086"/>
                </a:lnTo>
                <a:lnTo>
                  <a:pt x="6642113" y="1094121"/>
                </a:lnTo>
                <a:lnTo>
                  <a:pt x="6680956" y="1112228"/>
                </a:lnTo>
                <a:lnTo>
                  <a:pt x="6719799" y="1142405"/>
                </a:lnTo>
                <a:lnTo>
                  <a:pt x="6758642" y="1184654"/>
                </a:lnTo>
                <a:lnTo>
                  <a:pt x="6797485" y="1238974"/>
                </a:lnTo>
                <a:lnTo>
                  <a:pt x="6827364" y="1306248"/>
                </a:lnTo>
                <a:lnTo>
                  <a:pt x="6842303" y="1352862"/>
                </a:lnTo>
                <a:lnTo>
                  <a:pt x="6857243" y="1405763"/>
                </a:lnTo>
                <a:lnTo>
                  <a:pt x="6872182" y="1463180"/>
                </a:lnTo>
                <a:lnTo>
                  <a:pt x="6887122" y="1523340"/>
                </a:lnTo>
                <a:lnTo>
                  <a:pt x="6902061" y="1584470"/>
                </a:lnTo>
                <a:lnTo>
                  <a:pt x="6917001" y="1644798"/>
                </a:lnTo>
                <a:lnTo>
                  <a:pt x="6931940" y="1702551"/>
                </a:lnTo>
                <a:lnTo>
                  <a:pt x="6946880" y="1755957"/>
                </a:lnTo>
                <a:lnTo>
                  <a:pt x="6961820" y="1803244"/>
                </a:lnTo>
                <a:lnTo>
                  <a:pt x="6976759" y="1842638"/>
                </a:lnTo>
                <a:lnTo>
                  <a:pt x="7030541" y="1929245"/>
                </a:lnTo>
                <a:lnTo>
                  <a:pt x="7069384" y="1973483"/>
                </a:lnTo>
                <a:lnTo>
                  <a:pt x="7108227" y="2005082"/>
                </a:lnTo>
                <a:lnTo>
                  <a:pt x="7147070" y="2024041"/>
                </a:lnTo>
                <a:lnTo>
                  <a:pt x="7185912" y="2030361"/>
                </a:lnTo>
                <a:lnTo>
                  <a:pt x="7218281" y="2025175"/>
                </a:lnTo>
                <a:lnTo>
                  <a:pt x="7283019" y="1983690"/>
                </a:lnTo>
                <a:lnTo>
                  <a:pt x="7315388" y="1947391"/>
                </a:lnTo>
                <a:lnTo>
                  <a:pt x="7347757" y="1900720"/>
                </a:lnTo>
                <a:lnTo>
                  <a:pt x="7380126" y="1843678"/>
                </a:lnTo>
                <a:lnTo>
                  <a:pt x="7395459" y="1786014"/>
                </a:lnTo>
                <a:lnTo>
                  <a:pt x="7405680" y="1719270"/>
                </a:lnTo>
                <a:lnTo>
                  <a:pt x="7410791" y="1678495"/>
                </a:lnTo>
                <a:lnTo>
                  <a:pt x="7415902" y="1633268"/>
                </a:lnTo>
                <a:lnTo>
                  <a:pt x="7421013" y="1583950"/>
                </a:lnTo>
                <a:lnTo>
                  <a:pt x="7426124" y="1530906"/>
                </a:lnTo>
                <a:lnTo>
                  <a:pt x="7431235" y="1474496"/>
                </a:lnTo>
                <a:lnTo>
                  <a:pt x="7436346" y="1415084"/>
                </a:lnTo>
                <a:lnTo>
                  <a:pt x="7441457" y="1353031"/>
                </a:lnTo>
                <a:lnTo>
                  <a:pt x="7446568" y="1288700"/>
                </a:lnTo>
                <a:lnTo>
                  <a:pt x="7451679" y="1222453"/>
                </a:lnTo>
                <a:lnTo>
                  <a:pt x="7456790" y="1154653"/>
                </a:lnTo>
                <a:lnTo>
                  <a:pt x="7461900" y="1085662"/>
                </a:lnTo>
                <a:lnTo>
                  <a:pt x="7467011" y="1015843"/>
                </a:lnTo>
                <a:lnTo>
                  <a:pt x="7472122" y="945558"/>
                </a:lnTo>
                <a:lnTo>
                  <a:pt x="7477233" y="875168"/>
                </a:lnTo>
                <a:lnTo>
                  <a:pt x="7482344" y="805037"/>
                </a:lnTo>
                <a:lnTo>
                  <a:pt x="7487455" y="735528"/>
                </a:lnTo>
                <a:lnTo>
                  <a:pt x="7492566" y="667001"/>
                </a:lnTo>
                <a:lnTo>
                  <a:pt x="7497677" y="599820"/>
                </a:lnTo>
                <a:lnTo>
                  <a:pt x="7502788" y="534347"/>
                </a:lnTo>
                <a:lnTo>
                  <a:pt x="7507899" y="470945"/>
                </a:lnTo>
                <a:lnTo>
                  <a:pt x="7513010" y="409975"/>
                </a:lnTo>
                <a:lnTo>
                  <a:pt x="7518120" y="351801"/>
                </a:lnTo>
                <a:lnTo>
                  <a:pt x="7523231" y="296784"/>
                </a:lnTo>
                <a:lnTo>
                  <a:pt x="7528342" y="245287"/>
                </a:lnTo>
                <a:lnTo>
                  <a:pt x="7533453" y="197672"/>
                </a:lnTo>
                <a:lnTo>
                  <a:pt x="7538564" y="154302"/>
                </a:lnTo>
                <a:lnTo>
                  <a:pt x="7543675" y="115539"/>
                </a:lnTo>
                <a:lnTo>
                  <a:pt x="7553897" y="53283"/>
                </a:lnTo>
                <a:lnTo>
                  <a:pt x="7564119" y="13804"/>
                </a:lnTo>
                <a:lnTo>
                  <a:pt x="7574340" y="0"/>
                </a:lnTo>
                <a:lnTo>
                  <a:pt x="7582433" y="4451"/>
                </a:lnTo>
                <a:lnTo>
                  <a:pt x="7606709" y="66112"/>
                </a:lnTo>
                <a:lnTo>
                  <a:pt x="7622894" y="141078"/>
                </a:lnTo>
                <a:lnTo>
                  <a:pt x="7630986" y="186800"/>
                </a:lnTo>
                <a:lnTo>
                  <a:pt x="7639078" y="237161"/>
                </a:lnTo>
                <a:lnTo>
                  <a:pt x="7647170" y="291523"/>
                </a:lnTo>
                <a:lnTo>
                  <a:pt x="7655263" y="349245"/>
                </a:lnTo>
                <a:lnTo>
                  <a:pt x="7663355" y="409688"/>
                </a:lnTo>
                <a:lnTo>
                  <a:pt x="7671447" y="472213"/>
                </a:lnTo>
                <a:lnTo>
                  <a:pt x="7679539" y="536179"/>
                </a:lnTo>
                <a:lnTo>
                  <a:pt x="7687632" y="600947"/>
                </a:lnTo>
                <a:lnTo>
                  <a:pt x="7695724" y="665879"/>
                </a:lnTo>
                <a:lnTo>
                  <a:pt x="7703816" y="730333"/>
                </a:lnTo>
                <a:lnTo>
                  <a:pt x="7711908" y="793670"/>
                </a:lnTo>
                <a:lnTo>
                  <a:pt x="7720001" y="855252"/>
                </a:lnTo>
                <a:lnTo>
                  <a:pt x="7728093" y="914437"/>
                </a:lnTo>
                <a:lnTo>
                  <a:pt x="7736185" y="970588"/>
                </a:lnTo>
                <a:lnTo>
                  <a:pt x="7744277" y="1023063"/>
                </a:lnTo>
                <a:lnTo>
                  <a:pt x="7752369" y="1071224"/>
                </a:lnTo>
                <a:lnTo>
                  <a:pt x="7760462" y="1114431"/>
                </a:lnTo>
                <a:lnTo>
                  <a:pt x="7768554" y="1152044"/>
                </a:lnTo>
                <a:lnTo>
                  <a:pt x="7786210" y="1222944"/>
                </a:lnTo>
                <a:lnTo>
                  <a:pt x="7803866" y="1285424"/>
                </a:lnTo>
                <a:lnTo>
                  <a:pt x="7821521" y="1340648"/>
                </a:lnTo>
                <a:lnTo>
                  <a:pt x="7839177" y="1389780"/>
                </a:lnTo>
                <a:lnTo>
                  <a:pt x="7856833" y="1433986"/>
                </a:lnTo>
                <a:lnTo>
                  <a:pt x="7874489" y="1474429"/>
                </a:lnTo>
                <a:lnTo>
                  <a:pt x="7892145" y="1512273"/>
                </a:lnTo>
                <a:lnTo>
                  <a:pt x="7909800" y="1548683"/>
                </a:lnTo>
                <a:lnTo>
                  <a:pt x="7927456" y="1584823"/>
                </a:lnTo>
                <a:lnTo>
                  <a:pt x="7945112" y="1621857"/>
                </a:lnTo>
                <a:lnTo>
                  <a:pt x="7962768" y="1660949"/>
                </a:lnTo>
                <a:lnTo>
                  <a:pt x="7987044" y="1715229"/>
                </a:lnTo>
                <a:lnTo>
                  <a:pt x="8011321" y="1766913"/>
                </a:lnTo>
                <a:lnTo>
                  <a:pt x="8035598" y="1816371"/>
                </a:lnTo>
                <a:lnTo>
                  <a:pt x="8059875" y="1863975"/>
                </a:lnTo>
                <a:lnTo>
                  <a:pt x="8084151" y="1910095"/>
                </a:lnTo>
                <a:lnTo>
                  <a:pt x="8108428" y="1955103"/>
                </a:lnTo>
                <a:lnTo>
                  <a:pt x="8132705" y="1999369"/>
                </a:lnTo>
                <a:lnTo>
                  <a:pt x="8156981" y="2043265"/>
                </a:lnTo>
              </a:path>
            </a:pathLst>
          </a:custGeom>
          <a:ln w="28574">
            <a:solidFill>
              <a:srgbClr val="118C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 txBox="1"/>
          <p:nvPr/>
        </p:nvSpPr>
        <p:spPr>
          <a:xfrm>
            <a:off x="14332083" y="7070605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13.6K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5497367" y="729755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13.3K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0642020" y="7663880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2778372" y="7688776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5691580" y="7901325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16468436" y="7814914"/>
            <a:ext cx="511175" cy="32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12.6K</a:t>
            </a:r>
            <a:endParaRPr sz="950">
              <a:latin typeface="Segoe UI"/>
              <a:cs typeface="Segoe UI"/>
            </a:endParaRPr>
          </a:p>
          <a:p>
            <a:pPr marL="206375">
              <a:lnSpc>
                <a:spcPct val="100000"/>
              </a:lnSpc>
              <a:spcBef>
                <a:spcPts val="45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17633719" y="787887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1807304" y="8162091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0253594" y="8253725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1030449" y="8212590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12972587" y="8186039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3749442" y="823931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14526297" y="8216086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2195732" y="8370584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4137870" y="8379534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15885796" y="8136035"/>
            <a:ext cx="511175" cy="43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12.1K</a:t>
            </a:r>
            <a:endParaRPr sz="950">
              <a:latin typeface="Segoe UI"/>
              <a:cs typeface="Segoe UI"/>
            </a:endParaRPr>
          </a:p>
          <a:p>
            <a:pPr marL="206375">
              <a:lnSpc>
                <a:spcPct val="100000"/>
              </a:lnSpc>
              <a:spcBef>
                <a:spcPts val="975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12.1K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17827933" y="8387777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10059379" y="8542404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12389946" y="8519831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0447808" y="8608770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0836234" y="8754749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13361015" y="8552387"/>
            <a:ext cx="511175" cy="318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11.6K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5303154" y="8610961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16856864" y="8599196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17245293" y="8570507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11224662" y="8732059"/>
            <a:ext cx="705485" cy="590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685">
              <a:lnSpc>
                <a:spcPts val="111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11.3K</a:t>
            </a:r>
            <a:endParaRPr sz="950">
              <a:latin typeface="Segoe UI"/>
              <a:cs typeface="Segoe UI"/>
            </a:endParaRPr>
          </a:p>
          <a:p>
            <a:pPr marL="206375">
              <a:lnSpc>
                <a:spcPts val="1110"/>
              </a:lnSpc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11.1K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10.7K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14720510" y="8811824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2001518" y="908884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7051077" y="9025158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8022146" y="9038063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3166802" y="9196982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3943657" y="9152011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6274225" y="9178329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9865165" y="9268200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2584159" y="9314529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10.5K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5108941" y="9292081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10.9K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14914725" y="9147576"/>
            <a:ext cx="3168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11.1K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9974702" y="9545319"/>
            <a:ext cx="8290559" cy="64452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r>
              <a:rPr sz="1050" spc="190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4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5</a:t>
            </a:r>
            <a:r>
              <a:rPr sz="1050" spc="190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6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7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8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9</a:t>
            </a:r>
            <a:r>
              <a:rPr sz="1050" spc="38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13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14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15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16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17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18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19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20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21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22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23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24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25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26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27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28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29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30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31</a:t>
            </a:r>
            <a:r>
              <a:rPr sz="1050" spc="39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r>
              <a:rPr sz="1050" spc="190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2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3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4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5</a:t>
            </a:r>
            <a:r>
              <a:rPr sz="1050" spc="190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6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7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8</a:t>
            </a:r>
            <a:r>
              <a:rPr sz="1050" spc="195" dirty="0">
                <a:solidFill>
                  <a:srgbClr val="616161"/>
                </a:solidFill>
                <a:latin typeface="Segoe UI"/>
                <a:cs typeface="Segoe UI"/>
              </a:rPr>
              <a:t> 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9</a:t>
            </a:r>
            <a:r>
              <a:rPr sz="1050" spc="38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10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11</a:t>
            </a:r>
            <a:r>
              <a:rPr sz="1050" spc="10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  <a:p>
            <a:pPr marL="2740025">
              <a:lnSpc>
                <a:spcPct val="100000"/>
              </a:lnSpc>
              <a:spcBef>
                <a:spcPts val="290"/>
              </a:spcBef>
              <a:tabLst>
                <a:tab pos="6880859" algn="l"/>
              </a:tabLst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January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February</a:t>
            </a:r>
            <a:endParaRPr sz="1050">
              <a:latin typeface="Segoe UI"/>
              <a:cs typeface="Segoe UI"/>
            </a:endParaRPr>
          </a:p>
          <a:p>
            <a:pPr marR="26670" algn="ctr">
              <a:lnSpc>
                <a:spcPct val="100000"/>
              </a:lnSpc>
              <a:spcBef>
                <a:spcPts val="515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Q1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84" name="object 184"/>
          <p:cNvGrpSpPr/>
          <p:nvPr/>
        </p:nvGrpSpPr>
        <p:grpSpPr>
          <a:xfrm>
            <a:off x="228600" y="333374"/>
            <a:ext cx="18107025" cy="10020300"/>
            <a:chOff x="228600" y="333374"/>
            <a:chExt cx="18107025" cy="10020300"/>
          </a:xfrm>
        </p:grpSpPr>
        <p:sp>
          <p:nvSpPr>
            <p:cNvPr id="185" name="object 185"/>
            <p:cNvSpPr/>
            <p:nvPr/>
          </p:nvSpPr>
          <p:spPr>
            <a:xfrm>
              <a:off x="9867900" y="10280649"/>
              <a:ext cx="8467725" cy="73025"/>
            </a:xfrm>
            <a:custGeom>
              <a:avLst/>
              <a:gdLst/>
              <a:ahLst/>
              <a:cxnLst/>
              <a:rect l="l" t="t" r="r" b="b"/>
              <a:pathLst>
                <a:path w="8467725" h="73025">
                  <a:moveTo>
                    <a:pt x="8444866" y="73025"/>
                  </a:moveTo>
                  <a:lnTo>
                    <a:pt x="22856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8434675" y="0"/>
                  </a:lnTo>
                  <a:lnTo>
                    <a:pt x="8466755" y="28187"/>
                  </a:lnTo>
                  <a:lnTo>
                    <a:pt x="8467723" y="33047"/>
                  </a:lnTo>
                  <a:lnTo>
                    <a:pt x="8467723" y="43152"/>
                  </a:lnTo>
                  <a:lnTo>
                    <a:pt x="8444866" y="73025"/>
                  </a:lnTo>
                  <a:close/>
                </a:path>
              </a:pathLst>
            </a:custGeom>
            <a:solidFill>
              <a:srgbClr val="E1E1E1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9867900" y="10280649"/>
              <a:ext cx="4041140" cy="73025"/>
            </a:xfrm>
            <a:custGeom>
              <a:avLst/>
              <a:gdLst/>
              <a:ahLst/>
              <a:cxnLst/>
              <a:rect l="l" t="t" r="r" b="b"/>
              <a:pathLst>
                <a:path w="4041140" h="73025">
                  <a:moveTo>
                    <a:pt x="4017914" y="73025"/>
                  </a:moveTo>
                  <a:lnTo>
                    <a:pt x="22856" y="73025"/>
                  </a:lnTo>
                  <a:lnTo>
                    <a:pt x="18851" y="71366"/>
                  </a:lnTo>
                  <a:lnTo>
                    <a:pt x="0" y="43152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007723" y="0"/>
                  </a:lnTo>
                  <a:lnTo>
                    <a:pt x="4039804" y="28187"/>
                  </a:lnTo>
                  <a:lnTo>
                    <a:pt x="4040771" y="33047"/>
                  </a:lnTo>
                  <a:lnTo>
                    <a:pt x="4040771" y="43152"/>
                  </a:lnTo>
                  <a:lnTo>
                    <a:pt x="4017914" y="73025"/>
                  </a:lnTo>
                  <a:close/>
                </a:path>
              </a:pathLst>
            </a:custGeom>
            <a:solidFill>
              <a:srgbClr val="000000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9867900" y="10280649"/>
              <a:ext cx="4041140" cy="73025"/>
            </a:xfrm>
            <a:custGeom>
              <a:avLst/>
              <a:gdLst/>
              <a:ahLst/>
              <a:cxnLst/>
              <a:rect l="l" t="t" r="r" b="b"/>
              <a:pathLst>
                <a:path w="4041140" h="73025">
                  <a:moveTo>
                    <a:pt x="22856" y="73025"/>
                  </a:move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002671" y="0"/>
                  </a:lnTo>
                  <a:lnTo>
                    <a:pt x="4007723" y="0"/>
                  </a:lnTo>
                  <a:lnTo>
                    <a:pt x="4012583" y="966"/>
                  </a:lnTo>
                  <a:lnTo>
                    <a:pt x="4017250" y="2900"/>
                  </a:lnTo>
                  <a:lnTo>
                    <a:pt x="4021918" y="4833"/>
                  </a:lnTo>
                  <a:lnTo>
                    <a:pt x="4040771" y="38099"/>
                  </a:lnTo>
                  <a:lnTo>
                    <a:pt x="4040771" y="43152"/>
                  </a:lnTo>
                  <a:lnTo>
                    <a:pt x="4039804" y="48012"/>
                  </a:lnTo>
                  <a:lnTo>
                    <a:pt x="4037870" y="52680"/>
                  </a:lnTo>
                  <a:lnTo>
                    <a:pt x="4035937" y="57348"/>
                  </a:lnTo>
                  <a:lnTo>
                    <a:pt x="4033184" y="61468"/>
                  </a:lnTo>
                  <a:lnTo>
                    <a:pt x="4029611" y="65040"/>
                  </a:lnTo>
                  <a:lnTo>
                    <a:pt x="4026039" y="68613"/>
                  </a:lnTo>
                  <a:lnTo>
                    <a:pt x="4021918" y="71366"/>
                  </a:lnTo>
                  <a:lnTo>
                    <a:pt x="4017914" y="73025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233362" y="338137"/>
              <a:ext cx="2686050" cy="2600325"/>
            </a:xfrm>
            <a:custGeom>
              <a:avLst/>
              <a:gdLst/>
              <a:ahLst/>
              <a:cxnLst/>
              <a:rect l="l" t="t" r="r" b="b"/>
              <a:pathLst>
                <a:path w="2686050" h="2600325">
                  <a:moveTo>
                    <a:pt x="2619302" y="2600324"/>
                  </a:moveTo>
                  <a:lnTo>
                    <a:pt x="66746" y="2600324"/>
                  </a:lnTo>
                  <a:lnTo>
                    <a:pt x="62101" y="2599866"/>
                  </a:lnTo>
                  <a:lnTo>
                    <a:pt x="24240" y="2582718"/>
                  </a:lnTo>
                  <a:lnTo>
                    <a:pt x="2287" y="2547424"/>
                  </a:lnTo>
                  <a:lnTo>
                    <a:pt x="0" y="2533577"/>
                  </a:lnTo>
                  <a:lnTo>
                    <a:pt x="0" y="2528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2619302" y="0"/>
                  </a:lnTo>
                  <a:lnTo>
                    <a:pt x="2658200" y="14645"/>
                  </a:lnTo>
                  <a:lnTo>
                    <a:pt x="2682406" y="48433"/>
                  </a:lnTo>
                  <a:lnTo>
                    <a:pt x="2686049" y="66746"/>
                  </a:lnTo>
                  <a:lnTo>
                    <a:pt x="2686049" y="2533577"/>
                  </a:lnTo>
                  <a:lnTo>
                    <a:pt x="2671404" y="2572475"/>
                  </a:lnTo>
                  <a:lnTo>
                    <a:pt x="2637616" y="2596681"/>
                  </a:lnTo>
                  <a:lnTo>
                    <a:pt x="2623948" y="2599866"/>
                  </a:lnTo>
                  <a:lnTo>
                    <a:pt x="2619302" y="2600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233362" y="338137"/>
              <a:ext cx="2686050" cy="2600325"/>
            </a:xfrm>
            <a:custGeom>
              <a:avLst/>
              <a:gdLst/>
              <a:ahLst/>
              <a:cxnLst/>
              <a:rect l="l" t="t" r="r" b="b"/>
              <a:pathLst>
                <a:path w="2686050" h="2600325">
                  <a:moveTo>
                    <a:pt x="0" y="2528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614612" y="0"/>
                  </a:lnTo>
                  <a:lnTo>
                    <a:pt x="2619302" y="0"/>
                  </a:lnTo>
                  <a:lnTo>
                    <a:pt x="2623948" y="457"/>
                  </a:lnTo>
                  <a:lnTo>
                    <a:pt x="2628548" y="1372"/>
                  </a:lnTo>
                  <a:lnTo>
                    <a:pt x="2633149" y="2287"/>
                  </a:lnTo>
                  <a:lnTo>
                    <a:pt x="2654300" y="12039"/>
                  </a:lnTo>
                  <a:lnTo>
                    <a:pt x="2658200" y="14645"/>
                  </a:lnTo>
                  <a:lnTo>
                    <a:pt x="2682406" y="48433"/>
                  </a:lnTo>
                  <a:lnTo>
                    <a:pt x="2684676" y="57500"/>
                  </a:lnTo>
                  <a:lnTo>
                    <a:pt x="2685591" y="62101"/>
                  </a:lnTo>
                  <a:lnTo>
                    <a:pt x="2686049" y="66746"/>
                  </a:lnTo>
                  <a:lnTo>
                    <a:pt x="2686049" y="71437"/>
                  </a:lnTo>
                  <a:lnTo>
                    <a:pt x="2686049" y="2528887"/>
                  </a:lnTo>
                  <a:lnTo>
                    <a:pt x="2686049" y="2533577"/>
                  </a:lnTo>
                  <a:lnTo>
                    <a:pt x="2685591" y="2538223"/>
                  </a:lnTo>
                  <a:lnTo>
                    <a:pt x="2684676" y="2542823"/>
                  </a:lnTo>
                  <a:lnTo>
                    <a:pt x="2683761" y="2547424"/>
                  </a:lnTo>
                  <a:lnTo>
                    <a:pt x="2661809" y="2582718"/>
                  </a:lnTo>
                  <a:lnTo>
                    <a:pt x="2654300" y="2588285"/>
                  </a:lnTo>
                  <a:lnTo>
                    <a:pt x="2650400" y="2590891"/>
                  </a:lnTo>
                  <a:lnTo>
                    <a:pt x="2614612" y="2600324"/>
                  </a:lnTo>
                  <a:lnTo>
                    <a:pt x="71437" y="2600324"/>
                  </a:lnTo>
                  <a:lnTo>
                    <a:pt x="31748" y="2588285"/>
                  </a:lnTo>
                  <a:lnTo>
                    <a:pt x="27848" y="2585679"/>
                  </a:lnTo>
                  <a:lnTo>
                    <a:pt x="24240" y="2582718"/>
                  </a:lnTo>
                  <a:lnTo>
                    <a:pt x="20923" y="2579401"/>
                  </a:lnTo>
                  <a:lnTo>
                    <a:pt x="17606" y="2576084"/>
                  </a:lnTo>
                  <a:lnTo>
                    <a:pt x="457" y="2538223"/>
                  </a:lnTo>
                  <a:lnTo>
                    <a:pt x="0" y="2533577"/>
                  </a:lnTo>
                  <a:lnTo>
                    <a:pt x="0" y="252888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0" name="object 190"/>
          <p:cNvSpPr txBox="1"/>
          <p:nvPr/>
        </p:nvSpPr>
        <p:spPr>
          <a:xfrm>
            <a:off x="377824" y="434975"/>
            <a:ext cx="19399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80" dirty="0">
                <a:solidFill>
                  <a:srgbClr val="242424"/>
                </a:solidFill>
                <a:latin typeface="Tahoma"/>
                <a:cs typeface="Tahoma"/>
              </a:rPr>
              <a:t>Quarter</a:t>
            </a:r>
            <a:r>
              <a:rPr sz="1500" spc="-9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1500" spc="-105" dirty="0">
                <a:solidFill>
                  <a:srgbClr val="242424"/>
                </a:solidFill>
                <a:latin typeface="Tahoma"/>
                <a:cs typeface="Tahoma"/>
              </a:rPr>
              <a:t>and</a:t>
            </a:r>
            <a:r>
              <a:rPr sz="1500" spc="-90" dirty="0">
                <a:solidFill>
                  <a:srgbClr val="242424"/>
                </a:solidFill>
                <a:latin typeface="Tahoma"/>
                <a:cs typeface="Tahoma"/>
              </a:rPr>
              <a:t> Month</a:t>
            </a:r>
            <a:r>
              <a:rPr sz="1500" spc="-8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242424"/>
                </a:solidFill>
                <a:latin typeface="Tahoma"/>
                <a:cs typeface="Tahoma"/>
              </a:rPr>
              <a:t>Name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91" name="object 191"/>
          <p:cNvSpPr/>
          <p:nvPr/>
        </p:nvSpPr>
        <p:spPr>
          <a:xfrm>
            <a:off x="390512" y="819149"/>
            <a:ext cx="2247900" cy="1143000"/>
          </a:xfrm>
          <a:custGeom>
            <a:avLst/>
            <a:gdLst/>
            <a:ahLst/>
            <a:cxnLst/>
            <a:rect l="l" t="t" r="r" b="b"/>
            <a:pathLst>
              <a:path w="2247900" h="1143000">
                <a:moveTo>
                  <a:pt x="224790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0" y="857250"/>
                </a:lnTo>
                <a:lnTo>
                  <a:pt x="0" y="1143000"/>
                </a:lnTo>
                <a:lnTo>
                  <a:pt x="2247900" y="1143000"/>
                </a:lnTo>
                <a:lnTo>
                  <a:pt x="2247900" y="857250"/>
                </a:lnTo>
                <a:lnTo>
                  <a:pt x="2247900" y="571500"/>
                </a:lnTo>
                <a:lnTo>
                  <a:pt x="2247900" y="285750"/>
                </a:lnTo>
                <a:lnTo>
                  <a:pt x="2247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 txBox="1"/>
          <p:nvPr/>
        </p:nvSpPr>
        <p:spPr>
          <a:xfrm>
            <a:off x="615950" y="1158874"/>
            <a:ext cx="177800" cy="7493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200" spc="370" dirty="0">
                <a:solidFill>
                  <a:srgbClr val="242424"/>
                </a:solidFill>
                <a:latin typeface="Verdana"/>
                <a:cs typeface="Verdana"/>
              </a:rPr>
              <a:t>V</a:t>
            </a:r>
            <a:r>
              <a:rPr sz="1200" spc="100" dirty="0">
                <a:solidFill>
                  <a:srgbClr val="242424"/>
                </a:solidFill>
                <a:latin typeface="Verdana"/>
                <a:cs typeface="Verdana"/>
              </a:rPr>
              <a:t>  </a:t>
            </a:r>
            <a:r>
              <a:rPr sz="1200" spc="370" dirty="0">
                <a:solidFill>
                  <a:srgbClr val="242424"/>
                </a:solidFill>
                <a:latin typeface="Verdana"/>
                <a:cs typeface="Verdana"/>
              </a:rPr>
              <a:t>V</a:t>
            </a:r>
            <a:r>
              <a:rPr sz="1200" spc="105" dirty="0">
                <a:solidFill>
                  <a:srgbClr val="242424"/>
                </a:solidFill>
                <a:latin typeface="Verdana"/>
                <a:cs typeface="Verdana"/>
              </a:rPr>
              <a:t>  </a:t>
            </a:r>
            <a:r>
              <a:rPr sz="1200" spc="310" dirty="0">
                <a:solidFill>
                  <a:srgbClr val="242424"/>
                </a:solidFill>
                <a:latin typeface="Verdana"/>
                <a:cs typeface="Verdana"/>
              </a:rPr>
              <a:t>V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3" name="object 193"/>
          <p:cNvSpPr/>
          <p:nvPr/>
        </p:nvSpPr>
        <p:spPr>
          <a:xfrm>
            <a:off x="390512" y="1962149"/>
            <a:ext cx="2247900" cy="819150"/>
          </a:xfrm>
          <a:custGeom>
            <a:avLst/>
            <a:gdLst/>
            <a:ahLst/>
            <a:cxnLst/>
            <a:rect l="l" t="t" r="r" b="b"/>
            <a:pathLst>
              <a:path w="2247900" h="819150">
                <a:moveTo>
                  <a:pt x="224790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12" y="819150"/>
                </a:lnTo>
                <a:lnTo>
                  <a:pt x="2247900" y="819150"/>
                </a:lnTo>
                <a:lnTo>
                  <a:pt x="2247900" y="571500"/>
                </a:lnTo>
                <a:lnTo>
                  <a:pt x="2247900" y="285750"/>
                </a:lnTo>
                <a:lnTo>
                  <a:pt x="2247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 txBox="1"/>
          <p:nvPr/>
        </p:nvSpPr>
        <p:spPr>
          <a:xfrm>
            <a:off x="361949" y="751205"/>
            <a:ext cx="1349375" cy="20256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sz="1800" spc="555" baseline="-6944" dirty="0">
                <a:solidFill>
                  <a:srgbClr val="242424"/>
                </a:solidFill>
                <a:latin typeface="Verdana"/>
                <a:cs typeface="Verdana"/>
              </a:rPr>
              <a:t>V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800" baseline="-6944" dirty="0">
                <a:solidFill>
                  <a:srgbClr val="242424"/>
                </a:solidFill>
                <a:latin typeface="Verdana"/>
                <a:cs typeface="Verdana"/>
              </a:rPr>
              <a:t>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Q1</a:t>
            </a:r>
            <a:endParaRPr sz="1200">
              <a:latin typeface="Segoe UI"/>
              <a:cs typeface="Segoe UI"/>
            </a:endParaRPr>
          </a:p>
          <a:p>
            <a:pPr marL="723265" indent="-228600">
              <a:lnSpc>
                <a:spcPct val="100000"/>
              </a:lnSpc>
              <a:spcBef>
                <a:spcPts val="810"/>
              </a:spcBef>
              <a:buFont typeface="Verdana"/>
              <a:buChar char="◉"/>
              <a:tabLst>
                <a:tab pos="723265" algn="l"/>
              </a:tabLst>
            </a:pP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January</a:t>
            </a:r>
            <a:endParaRPr sz="1200">
              <a:latin typeface="Segoe UI"/>
              <a:cs typeface="Segoe UI"/>
            </a:endParaRPr>
          </a:p>
          <a:p>
            <a:pPr marL="723265" indent="-228600">
              <a:lnSpc>
                <a:spcPct val="100000"/>
              </a:lnSpc>
              <a:spcBef>
                <a:spcPts val="810"/>
              </a:spcBef>
              <a:buFont typeface="Verdana"/>
              <a:buChar char="◉"/>
              <a:tabLst>
                <a:tab pos="723265" algn="l"/>
              </a:tabLst>
            </a:pP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February</a:t>
            </a:r>
            <a:endParaRPr sz="1200">
              <a:latin typeface="Segoe UI"/>
              <a:cs typeface="Segoe UI"/>
            </a:endParaRPr>
          </a:p>
          <a:p>
            <a:pPr marL="723265" indent="-228600">
              <a:lnSpc>
                <a:spcPct val="100000"/>
              </a:lnSpc>
              <a:spcBef>
                <a:spcPts val="810"/>
              </a:spcBef>
              <a:buFont typeface="Verdana"/>
              <a:buChar char="◉"/>
              <a:tabLst>
                <a:tab pos="723265" algn="l"/>
              </a:tabLst>
            </a:pP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March</a:t>
            </a:r>
            <a:endParaRPr sz="1200">
              <a:latin typeface="Segoe UI"/>
              <a:cs typeface="Segoe UI"/>
            </a:endParaRPr>
          </a:p>
          <a:p>
            <a:pPr marL="266065" marR="648970" algn="just">
              <a:lnSpc>
                <a:spcPct val="156300"/>
              </a:lnSpc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Q2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Q3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Q4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387350" y="2016125"/>
            <a:ext cx="177800" cy="749300"/>
          </a:xfrm>
          <a:prstGeom prst="rect">
            <a:avLst/>
          </a:prstGeom>
        </p:spPr>
        <p:txBody>
          <a:bodyPr vert="vert270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200" spc="370" dirty="0">
                <a:solidFill>
                  <a:srgbClr val="242424"/>
                </a:solidFill>
                <a:latin typeface="Verdana"/>
                <a:cs typeface="Verdana"/>
              </a:rPr>
              <a:t>V</a:t>
            </a:r>
            <a:r>
              <a:rPr sz="1200" spc="100" dirty="0">
                <a:solidFill>
                  <a:srgbClr val="242424"/>
                </a:solidFill>
                <a:latin typeface="Verdana"/>
                <a:cs typeface="Verdana"/>
              </a:rPr>
              <a:t>  </a:t>
            </a:r>
            <a:r>
              <a:rPr sz="1200" spc="370" dirty="0">
                <a:solidFill>
                  <a:srgbClr val="242424"/>
                </a:solidFill>
                <a:latin typeface="Verdana"/>
                <a:cs typeface="Verdana"/>
              </a:rPr>
              <a:t>V</a:t>
            </a:r>
            <a:r>
              <a:rPr sz="1200" spc="105" dirty="0">
                <a:solidFill>
                  <a:srgbClr val="242424"/>
                </a:solidFill>
                <a:latin typeface="Verdana"/>
                <a:cs typeface="Verdana"/>
              </a:rPr>
              <a:t>  </a:t>
            </a:r>
            <a:r>
              <a:rPr sz="1200" spc="310" dirty="0">
                <a:solidFill>
                  <a:srgbClr val="242424"/>
                </a:solidFill>
                <a:latin typeface="Verdana"/>
                <a:cs typeface="Verdana"/>
              </a:rPr>
              <a:t>V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6" name="object 196"/>
          <p:cNvSpPr/>
          <p:nvPr/>
        </p:nvSpPr>
        <p:spPr>
          <a:xfrm>
            <a:off x="2686049" y="819149"/>
            <a:ext cx="76200" cy="1847850"/>
          </a:xfrm>
          <a:custGeom>
            <a:avLst/>
            <a:gdLst/>
            <a:ahLst/>
            <a:cxnLst/>
            <a:rect l="l" t="t" r="r" b="b"/>
            <a:pathLst>
              <a:path w="76200" h="1847850">
                <a:moveTo>
                  <a:pt x="76199" y="1847849"/>
                </a:moveTo>
                <a:lnTo>
                  <a:pt x="0" y="1847849"/>
                </a:lnTo>
                <a:lnTo>
                  <a:pt x="0" y="0"/>
                </a:lnTo>
                <a:lnTo>
                  <a:pt x="76199" y="0"/>
                </a:lnTo>
                <a:lnTo>
                  <a:pt x="76199" y="1847849"/>
                </a:lnTo>
                <a:close/>
              </a:path>
            </a:pathLst>
          </a:custGeom>
          <a:solidFill>
            <a:srgbClr val="8A87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Title 1">
            <a:extLst>
              <a:ext uri="{FF2B5EF4-FFF2-40B4-BE49-F238E27FC236}">
                <a16:creationId xmlns:a16="http://schemas.microsoft.com/office/drawing/2014/main" id="{91BA53A6-9593-3190-0FF0-8161FF8D07B4}"/>
              </a:ext>
            </a:extLst>
          </p:cNvPr>
          <p:cNvSpPr txBox="1">
            <a:spLocks/>
          </p:cNvSpPr>
          <p:nvPr/>
        </p:nvSpPr>
        <p:spPr>
          <a:xfrm>
            <a:off x="6803728" y="179709"/>
            <a:ext cx="744577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616161"/>
                </a:solidFill>
                <a:latin typeface="Segoe UI"/>
                <a:ea typeface="+mj-ea"/>
                <a:cs typeface="Segoe UI"/>
              </a:defRPr>
            </a:lvl1pPr>
          </a:lstStyle>
          <a:p>
            <a:r>
              <a:rPr lang="en-US" sz="2800" dirty="0"/>
              <a:t>Executive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AFA">
              <a:alpha val="8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19074" y="219074"/>
            <a:ext cx="1733550" cy="2705100"/>
            <a:chOff x="219074" y="219074"/>
            <a:chExt cx="1733550" cy="2705100"/>
          </a:xfrm>
        </p:grpSpPr>
        <p:sp>
          <p:nvSpPr>
            <p:cNvPr id="5" name="object 5"/>
            <p:cNvSpPr/>
            <p:nvPr/>
          </p:nvSpPr>
          <p:spPr>
            <a:xfrm>
              <a:off x="228599" y="228599"/>
              <a:ext cx="1714500" cy="2686050"/>
            </a:xfrm>
            <a:custGeom>
              <a:avLst/>
              <a:gdLst/>
              <a:ahLst/>
              <a:cxnLst/>
              <a:rect l="l" t="t" r="r" b="b"/>
              <a:pathLst>
                <a:path w="1714500" h="2686050">
                  <a:moveTo>
                    <a:pt x="1638299" y="2686049"/>
                  </a:moveTo>
                  <a:lnTo>
                    <a:pt x="76200" y="2686049"/>
                  </a:lnTo>
                  <a:lnTo>
                    <a:pt x="23812" y="2662237"/>
                  </a:lnTo>
                  <a:lnTo>
                    <a:pt x="0" y="26098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200" y="0"/>
                  </a:lnTo>
                  <a:lnTo>
                    <a:pt x="1638299" y="0"/>
                  </a:lnTo>
                  <a:lnTo>
                    <a:pt x="1666279" y="6548"/>
                  </a:lnTo>
                  <a:lnTo>
                    <a:pt x="1690687" y="23812"/>
                  </a:lnTo>
                  <a:lnTo>
                    <a:pt x="1707951" y="48220"/>
                  </a:lnTo>
                  <a:lnTo>
                    <a:pt x="1714499" y="76199"/>
                  </a:lnTo>
                  <a:lnTo>
                    <a:pt x="1714499" y="2609849"/>
                  </a:lnTo>
                  <a:lnTo>
                    <a:pt x="1707951" y="2637829"/>
                  </a:lnTo>
                  <a:lnTo>
                    <a:pt x="1690687" y="2662237"/>
                  </a:lnTo>
                  <a:lnTo>
                    <a:pt x="1666279" y="2679501"/>
                  </a:lnTo>
                  <a:lnTo>
                    <a:pt x="1638299" y="2686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599" y="228599"/>
              <a:ext cx="1714500" cy="2686050"/>
            </a:xfrm>
            <a:custGeom>
              <a:avLst/>
              <a:gdLst/>
              <a:ahLst/>
              <a:cxnLst/>
              <a:rect l="l" t="t" r="r" b="b"/>
              <a:pathLst>
                <a:path w="1714500" h="2686050">
                  <a:moveTo>
                    <a:pt x="0" y="76199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1638299" y="0"/>
                  </a:lnTo>
                  <a:lnTo>
                    <a:pt x="1690687" y="23812"/>
                  </a:lnTo>
                  <a:lnTo>
                    <a:pt x="1714499" y="76199"/>
                  </a:lnTo>
                  <a:lnTo>
                    <a:pt x="1714499" y="2609849"/>
                  </a:lnTo>
                  <a:lnTo>
                    <a:pt x="1707951" y="2637829"/>
                  </a:lnTo>
                  <a:lnTo>
                    <a:pt x="1690687" y="2662237"/>
                  </a:lnTo>
                  <a:lnTo>
                    <a:pt x="1666279" y="2679501"/>
                  </a:lnTo>
                  <a:lnTo>
                    <a:pt x="1638299" y="2686049"/>
                  </a:lnTo>
                  <a:lnTo>
                    <a:pt x="76199" y="2686049"/>
                  </a:lnTo>
                  <a:lnTo>
                    <a:pt x="48220" y="2679501"/>
                  </a:lnTo>
                  <a:lnTo>
                    <a:pt x="23812" y="2662237"/>
                  </a:lnTo>
                  <a:lnTo>
                    <a:pt x="6548" y="2637829"/>
                  </a:lnTo>
                  <a:lnTo>
                    <a:pt x="0" y="2609849"/>
                  </a:lnTo>
                  <a:lnTo>
                    <a:pt x="0" y="76199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8124" y="238124"/>
              <a:ext cx="1695450" cy="2667000"/>
            </a:xfrm>
            <a:custGeom>
              <a:avLst/>
              <a:gdLst/>
              <a:ahLst/>
              <a:cxnLst/>
              <a:rect l="l" t="t" r="r" b="b"/>
              <a:pathLst>
                <a:path w="1695450" h="2667000">
                  <a:moveTo>
                    <a:pt x="1628774" y="2666999"/>
                  </a:moveTo>
                  <a:lnTo>
                    <a:pt x="66674" y="2666999"/>
                  </a:lnTo>
                  <a:lnTo>
                    <a:pt x="42192" y="2661269"/>
                  </a:lnTo>
                  <a:lnTo>
                    <a:pt x="20835" y="2646163"/>
                  </a:lnTo>
                  <a:lnTo>
                    <a:pt x="5729" y="2624807"/>
                  </a:lnTo>
                  <a:lnTo>
                    <a:pt x="0" y="2600324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1628774" y="0"/>
                  </a:lnTo>
                  <a:lnTo>
                    <a:pt x="1653257" y="5729"/>
                  </a:lnTo>
                  <a:lnTo>
                    <a:pt x="1674613" y="20835"/>
                  </a:lnTo>
                  <a:lnTo>
                    <a:pt x="1689719" y="42192"/>
                  </a:lnTo>
                  <a:lnTo>
                    <a:pt x="1695449" y="66674"/>
                  </a:lnTo>
                  <a:lnTo>
                    <a:pt x="1695449" y="2600324"/>
                  </a:lnTo>
                  <a:lnTo>
                    <a:pt x="1689719" y="2624807"/>
                  </a:lnTo>
                  <a:lnTo>
                    <a:pt x="1674613" y="2646163"/>
                  </a:lnTo>
                  <a:lnTo>
                    <a:pt x="1653257" y="2661269"/>
                  </a:lnTo>
                  <a:lnTo>
                    <a:pt x="1628774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5617" y="1100732"/>
            <a:ext cx="1039494" cy="8934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000" b="1" spc="-1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endParaRPr sz="2000">
              <a:latin typeface="Segoe UI"/>
              <a:cs typeface="Segoe UI"/>
            </a:endParaRPr>
          </a:p>
          <a:p>
            <a:pPr marL="84455">
              <a:lnSpc>
                <a:spcPct val="100000"/>
              </a:lnSpc>
              <a:spcBef>
                <a:spcPts val="500"/>
              </a:spcBef>
            </a:pPr>
            <a:r>
              <a:rPr sz="3000" spc="-20" dirty="0">
                <a:solidFill>
                  <a:srgbClr val="E66B37"/>
                </a:solidFill>
                <a:latin typeface="Segoe UI Semibold"/>
                <a:cs typeface="Segoe UI Semibold"/>
              </a:rPr>
              <a:t>998K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33574" y="257174"/>
            <a:ext cx="2028825" cy="2667000"/>
            <a:chOff x="1933574" y="257174"/>
            <a:chExt cx="2028825" cy="2667000"/>
          </a:xfrm>
        </p:grpSpPr>
        <p:sp>
          <p:nvSpPr>
            <p:cNvPr id="10" name="object 10"/>
            <p:cNvSpPr/>
            <p:nvPr/>
          </p:nvSpPr>
          <p:spPr>
            <a:xfrm>
              <a:off x="1943099" y="266699"/>
              <a:ext cx="2009775" cy="2647950"/>
            </a:xfrm>
            <a:custGeom>
              <a:avLst/>
              <a:gdLst/>
              <a:ahLst/>
              <a:cxnLst/>
              <a:rect l="l" t="t" r="r" b="b"/>
              <a:pathLst>
                <a:path w="2009775" h="2647950">
                  <a:moveTo>
                    <a:pt x="1933574" y="2647949"/>
                  </a:moveTo>
                  <a:lnTo>
                    <a:pt x="76199" y="2647949"/>
                  </a:lnTo>
                  <a:lnTo>
                    <a:pt x="23812" y="2624137"/>
                  </a:lnTo>
                  <a:lnTo>
                    <a:pt x="0" y="25717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1933574" y="0"/>
                  </a:lnTo>
                  <a:lnTo>
                    <a:pt x="1961554" y="6548"/>
                  </a:lnTo>
                  <a:lnTo>
                    <a:pt x="1985962" y="23812"/>
                  </a:lnTo>
                  <a:lnTo>
                    <a:pt x="2003226" y="48220"/>
                  </a:lnTo>
                  <a:lnTo>
                    <a:pt x="2009774" y="76199"/>
                  </a:lnTo>
                  <a:lnTo>
                    <a:pt x="2009774" y="2571749"/>
                  </a:lnTo>
                  <a:lnTo>
                    <a:pt x="2003226" y="2599729"/>
                  </a:lnTo>
                  <a:lnTo>
                    <a:pt x="1985962" y="2624137"/>
                  </a:lnTo>
                  <a:lnTo>
                    <a:pt x="1961554" y="2641401"/>
                  </a:lnTo>
                  <a:lnTo>
                    <a:pt x="1933574" y="2647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43099" y="266699"/>
              <a:ext cx="2009775" cy="2647950"/>
            </a:xfrm>
            <a:custGeom>
              <a:avLst/>
              <a:gdLst/>
              <a:ahLst/>
              <a:cxnLst/>
              <a:rect l="l" t="t" r="r" b="b"/>
              <a:pathLst>
                <a:path w="2009775" h="2647950">
                  <a:moveTo>
                    <a:pt x="0" y="76199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1933574" y="0"/>
                  </a:lnTo>
                  <a:lnTo>
                    <a:pt x="1985962" y="23812"/>
                  </a:lnTo>
                  <a:lnTo>
                    <a:pt x="2009774" y="76199"/>
                  </a:lnTo>
                  <a:lnTo>
                    <a:pt x="2009774" y="2571749"/>
                  </a:lnTo>
                  <a:lnTo>
                    <a:pt x="2003226" y="2599729"/>
                  </a:lnTo>
                  <a:lnTo>
                    <a:pt x="1985962" y="2624137"/>
                  </a:lnTo>
                  <a:lnTo>
                    <a:pt x="1961554" y="2641401"/>
                  </a:lnTo>
                  <a:lnTo>
                    <a:pt x="1933574" y="2647949"/>
                  </a:lnTo>
                  <a:lnTo>
                    <a:pt x="76199" y="2647949"/>
                  </a:lnTo>
                  <a:lnTo>
                    <a:pt x="48220" y="2641401"/>
                  </a:lnTo>
                  <a:lnTo>
                    <a:pt x="23812" y="2624137"/>
                  </a:lnTo>
                  <a:lnTo>
                    <a:pt x="6548" y="2599729"/>
                  </a:lnTo>
                  <a:lnTo>
                    <a:pt x="0" y="2571749"/>
                  </a:lnTo>
                  <a:lnTo>
                    <a:pt x="0" y="76199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52624" y="276224"/>
              <a:ext cx="1990725" cy="2628900"/>
            </a:xfrm>
            <a:custGeom>
              <a:avLst/>
              <a:gdLst/>
              <a:ahLst/>
              <a:cxnLst/>
              <a:rect l="l" t="t" r="r" b="b"/>
              <a:pathLst>
                <a:path w="1990725" h="2628900">
                  <a:moveTo>
                    <a:pt x="1924049" y="2628899"/>
                  </a:moveTo>
                  <a:lnTo>
                    <a:pt x="66674" y="2628899"/>
                  </a:lnTo>
                  <a:lnTo>
                    <a:pt x="42192" y="2623169"/>
                  </a:lnTo>
                  <a:lnTo>
                    <a:pt x="20835" y="2608063"/>
                  </a:lnTo>
                  <a:lnTo>
                    <a:pt x="5729" y="2586707"/>
                  </a:lnTo>
                  <a:lnTo>
                    <a:pt x="0" y="2562224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1924049" y="0"/>
                  </a:lnTo>
                  <a:lnTo>
                    <a:pt x="1948532" y="5729"/>
                  </a:lnTo>
                  <a:lnTo>
                    <a:pt x="1969888" y="20835"/>
                  </a:lnTo>
                  <a:lnTo>
                    <a:pt x="1984994" y="42192"/>
                  </a:lnTo>
                  <a:lnTo>
                    <a:pt x="1990724" y="66674"/>
                  </a:lnTo>
                  <a:lnTo>
                    <a:pt x="1990724" y="2562224"/>
                  </a:lnTo>
                  <a:lnTo>
                    <a:pt x="1984994" y="2586707"/>
                  </a:lnTo>
                  <a:lnTo>
                    <a:pt x="1969888" y="2608063"/>
                  </a:lnTo>
                  <a:lnTo>
                    <a:pt x="1948532" y="2623169"/>
                  </a:lnTo>
                  <a:lnTo>
                    <a:pt x="1924049" y="2628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242194" y="1119782"/>
            <a:ext cx="1430655" cy="8934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000" b="1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2000" b="1" spc="-5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2000" b="1" spc="-10" dirty="0">
                <a:solidFill>
                  <a:srgbClr val="616161"/>
                </a:solidFill>
                <a:latin typeface="Segoe UI"/>
                <a:cs typeface="Segoe UI"/>
              </a:rPr>
              <a:t>Profit</a:t>
            </a:r>
            <a:endParaRPr sz="2000">
              <a:latin typeface="Segoe UI"/>
              <a:cs typeface="Segoe UI"/>
            </a:endParaRPr>
          </a:p>
          <a:p>
            <a:pPr marL="48895">
              <a:lnSpc>
                <a:spcPct val="100000"/>
              </a:lnSpc>
              <a:spcBef>
                <a:spcPts val="500"/>
              </a:spcBef>
            </a:pPr>
            <a:r>
              <a:rPr sz="3000" spc="-10" dirty="0">
                <a:solidFill>
                  <a:srgbClr val="E66B37"/>
                </a:solidFill>
                <a:latin typeface="Segoe UI Semibold"/>
                <a:cs typeface="Segoe UI Semibold"/>
              </a:rPr>
              <a:t>435.51K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943349" y="257174"/>
            <a:ext cx="2085975" cy="2695575"/>
            <a:chOff x="3943349" y="257174"/>
            <a:chExt cx="2085975" cy="2695575"/>
          </a:xfrm>
        </p:grpSpPr>
        <p:sp>
          <p:nvSpPr>
            <p:cNvPr id="15" name="object 15"/>
            <p:cNvSpPr/>
            <p:nvPr/>
          </p:nvSpPr>
          <p:spPr>
            <a:xfrm>
              <a:off x="3952874" y="266699"/>
              <a:ext cx="2066925" cy="2676525"/>
            </a:xfrm>
            <a:custGeom>
              <a:avLst/>
              <a:gdLst/>
              <a:ahLst/>
              <a:cxnLst/>
              <a:rect l="l" t="t" r="r" b="b"/>
              <a:pathLst>
                <a:path w="2066925" h="2676525">
                  <a:moveTo>
                    <a:pt x="1990724" y="2676524"/>
                  </a:moveTo>
                  <a:lnTo>
                    <a:pt x="76199" y="2676524"/>
                  </a:lnTo>
                  <a:lnTo>
                    <a:pt x="23812" y="2652712"/>
                  </a:lnTo>
                  <a:lnTo>
                    <a:pt x="0" y="260032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1990724" y="0"/>
                  </a:lnTo>
                  <a:lnTo>
                    <a:pt x="2018704" y="6548"/>
                  </a:lnTo>
                  <a:lnTo>
                    <a:pt x="2043112" y="23812"/>
                  </a:lnTo>
                  <a:lnTo>
                    <a:pt x="2060376" y="48220"/>
                  </a:lnTo>
                  <a:lnTo>
                    <a:pt x="2066924" y="76199"/>
                  </a:lnTo>
                  <a:lnTo>
                    <a:pt x="2066924" y="2600324"/>
                  </a:lnTo>
                  <a:lnTo>
                    <a:pt x="2060376" y="2628304"/>
                  </a:lnTo>
                  <a:lnTo>
                    <a:pt x="2043112" y="2652712"/>
                  </a:lnTo>
                  <a:lnTo>
                    <a:pt x="2018704" y="2669976"/>
                  </a:lnTo>
                  <a:lnTo>
                    <a:pt x="1990724" y="2676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52874" y="266699"/>
              <a:ext cx="2066925" cy="2676525"/>
            </a:xfrm>
            <a:custGeom>
              <a:avLst/>
              <a:gdLst/>
              <a:ahLst/>
              <a:cxnLst/>
              <a:rect l="l" t="t" r="r" b="b"/>
              <a:pathLst>
                <a:path w="2066925" h="267652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1990724" y="0"/>
                  </a:lnTo>
                  <a:lnTo>
                    <a:pt x="2043112" y="23812"/>
                  </a:lnTo>
                  <a:lnTo>
                    <a:pt x="2066924" y="76199"/>
                  </a:lnTo>
                  <a:lnTo>
                    <a:pt x="2066924" y="2600324"/>
                  </a:lnTo>
                  <a:lnTo>
                    <a:pt x="2060376" y="2628304"/>
                  </a:lnTo>
                  <a:lnTo>
                    <a:pt x="2043112" y="2652712"/>
                  </a:lnTo>
                  <a:lnTo>
                    <a:pt x="2018704" y="2669976"/>
                  </a:lnTo>
                  <a:lnTo>
                    <a:pt x="1990724" y="2676524"/>
                  </a:lnTo>
                  <a:lnTo>
                    <a:pt x="76199" y="2676524"/>
                  </a:lnTo>
                  <a:lnTo>
                    <a:pt x="23812" y="2652712"/>
                  </a:lnTo>
                  <a:lnTo>
                    <a:pt x="0" y="260032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62399" y="276224"/>
              <a:ext cx="2047875" cy="2657475"/>
            </a:xfrm>
            <a:custGeom>
              <a:avLst/>
              <a:gdLst/>
              <a:ahLst/>
              <a:cxnLst/>
              <a:rect l="l" t="t" r="r" b="b"/>
              <a:pathLst>
                <a:path w="2047875" h="2657475">
                  <a:moveTo>
                    <a:pt x="1981199" y="2657474"/>
                  </a:moveTo>
                  <a:lnTo>
                    <a:pt x="66674" y="2657474"/>
                  </a:lnTo>
                  <a:lnTo>
                    <a:pt x="42192" y="2651744"/>
                  </a:lnTo>
                  <a:lnTo>
                    <a:pt x="20835" y="2636638"/>
                  </a:lnTo>
                  <a:lnTo>
                    <a:pt x="5729" y="2615282"/>
                  </a:lnTo>
                  <a:lnTo>
                    <a:pt x="0" y="259079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1981199" y="0"/>
                  </a:lnTo>
                  <a:lnTo>
                    <a:pt x="2005682" y="5729"/>
                  </a:lnTo>
                  <a:lnTo>
                    <a:pt x="2027038" y="20835"/>
                  </a:lnTo>
                  <a:lnTo>
                    <a:pt x="2042144" y="42192"/>
                  </a:lnTo>
                  <a:lnTo>
                    <a:pt x="2047874" y="66674"/>
                  </a:lnTo>
                  <a:lnTo>
                    <a:pt x="2047874" y="2590799"/>
                  </a:lnTo>
                  <a:lnTo>
                    <a:pt x="2042144" y="2615282"/>
                  </a:lnTo>
                  <a:lnTo>
                    <a:pt x="2027038" y="2636638"/>
                  </a:lnTo>
                  <a:lnTo>
                    <a:pt x="2005682" y="2651744"/>
                  </a:lnTo>
                  <a:lnTo>
                    <a:pt x="1981199" y="2657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306441" y="1165312"/>
            <a:ext cx="1379220" cy="8382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700" b="1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700" b="1" spc="-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700" b="1" spc="-10" dirty="0">
                <a:solidFill>
                  <a:srgbClr val="616161"/>
                </a:solidFill>
                <a:latin typeface="Segoe UI"/>
                <a:cs typeface="Segoe UI"/>
              </a:rPr>
              <a:t>Margin</a:t>
            </a:r>
            <a:endParaRPr sz="1700">
              <a:latin typeface="Segoe UI"/>
              <a:cs typeface="Segoe UI"/>
            </a:endParaRPr>
          </a:p>
          <a:p>
            <a:pPr marL="55244">
              <a:lnSpc>
                <a:spcPct val="100000"/>
              </a:lnSpc>
              <a:spcBef>
                <a:spcPts val="484"/>
              </a:spcBef>
            </a:pPr>
            <a:r>
              <a:rPr sz="3000" spc="-10" dirty="0">
                <a:solidFill>
                  <a:srgbClr val="E66B37"/>
                </a:solidFill>
                <a:latin typeface="Segoe UI Semibold"/>
                <a:cs typeface="Segoe UI Semibold"/>
              </a:rPr>
              <a:t>43.63%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19799" y="266700"/>
            <a:ext cx="3905250" cy="2647950"/>
            <a:chOff x="6019799" y="266700"/>
            <a:chExt cx="3905250" cy="2647950"/>
          </a:xfrm>
        </p:grpSpPr>
        <p:sp>
          <p:nvSpPr>
            <p:cNvPr id="20" name="object 20"/>
            <p:cNvSpPr/>
            <p:nvPr/>
          </p:nvSpPr>
          <p:spPr>
            <a:xfrm>
              <a:off x="6024562" y="271462"/>
              <a:ext cx="3895725" cy="2638425"/>
            </a:xfrm>
            <a:custGeom>
              <a:avLst/>
              <a:gdLst/>
              <a:ahLst/>
              <a:cxnLst/>
              <a:rect l="l" t="t" r="r" b="b"/>
              <a:pathLst>
                <a:path w="3895725" h="2638425">
                  <a:moveTo>
                    <a:pt x="3828977" y="2638424"/>
                  </a:moveTo>
                  <a:lnTo>
                    <a:pt x="66746" y="2638424"/>
                  </a:lnTo>
                  <a:lnTo>
                    <a:pt x="62101" y="2637967"/>
                  </a:lnTo>
                  <a:lnTo>
                    <a:pt x="24240" y="2620817"/>
                  </a:lnTo>
                  <a:lnTo>
                    <a:pt x="2287" y="2585524"/>
                  </a:lnTo>
                  <a:lnTo>
                    <a:pt x="0" y="2571677"/>
                  </a:lnTo>
                  <a:lnTo>
                    <a:pt x="0" y="25669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28977" y="0"/>
                  </a:lnTo>
                  <a:lnTo>
                    <a:pt x="3867875" y="14645"/>
                  </a:lnTo>
                  <a:lnTo>
                    <a:pt x="3892080" y="48433"/>
                  </a:lnTo>
                  <a:lnTo>
                    <a:pt x="3895724" y="66746"/>
                  </a:lnTo>
                  <a:lnTo>
                    <a:pt x="3895724" y="2571677"/>
                  </a:lnTo>
                  <a:lnTo>
                    <a:pt x="3881078" y="2610575"/>
                  </a:lnTo>
                  <a:lnTo>
                    <a:pt x="3847291" y="2634781"/>
                  </a:lnTo>
                  <a:lnTo>
                    <a:pt x="3833622" y="2637967"/>
                  </a:lnTo>
                  <a:lnTo>
                    <a:pt x="3828977" y="2638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24562" y="271462"/>
              <a:ext cx="3895725" cy="2638425"/>
            </a:xfrm>
            <a:custGeom>
              <a:avLst/>
              <a:gdLst/>
              <a:ahLst/>
              <a:cxnLst/>
              <a:rect l="l" t="t" r="r" b="b"/>
              <a:pathLst>
                <a:path w="3895725" h="2638425">
                  <a:moveTo>
                    <a:pt x="0" y="25669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824287" y="0"/>
                  </a:lnTo>
                  <a:lnTo>
                    <a:pt x="3828977" y="0"/>
                  </a:lnTo>
                  <a:lnTo>
                    <a:pt x="3833622" y="457"/>
                  </a:lnTo>
                  <a:lnTo>
                    <a:pt x="3838223" y="1372"/>
                  </a:lnTo>
                  <a:lnTo>
                    <a:pt x="3842824" y="2287"/>
                  </a:lnTo>
                  <a:lnTo>
                    <a:pt x="3878117" y="24240"/>
                  </a:lnTo>
                  <a:lnTo>
                    <a:pt x="3895266" y="62101"/>
                  </a:lnTo>
                  <a:lnTo>
                    <a:pt x="3895724" y="71437"/>
                  </a:lnTo>
                  <a:lnTo>
                    <a:pt x="3895724" y="2566987"/>
                  </a:lnTo>
                  <a:lnTo>
                    <a:pt x="3883684" y="2606675"/>
                  </a:lnTo>
                  <a:lnTo>
                    <a:pt x="3881078" y="2610575"/>
                  </a:lnTo>
                  <a:lnTo>
                    <a:pt x="3847291" y="2634781"/>
                  </a:lnTo>
                  <a:lnTo>
                    <a:pt x="3838223" y="2637051"/>
                  </a:lnTo>
                  <a:lnTo>
                    <a:pt x="3833622" y="2637967"/>
                  </a:lnTo>
                  <a:lnTo>
                    <a:pt x="3828977" y="2638424"/>
                  </a:lnTo>
                  <a:lnTo>
                    <a:pt x="3824287" y="2638424"/>
                  </a:lnTo>
                  <a:lnTo>
                    <a:pt x="71437" y="2638424"/>
                  </a:lnTo>
                  <a:lnTo>
                    <a:pt x="66746" y="2638424"/>
                  </a:lnTo>
                  <a:lnTo>
                    <a:pt x="62101" y="2637967"/>
                  </a:lnTo>
                  <a:lnTo>
                    <a:pt x="31748" y="2626385"/>
                  </a:lnTo>
                  <a:lnTo>
                    <a:pt x="27848" y="2623779"/>
                  </a:lnTo>
                  <a:lnTo>
                    <a:pt x="12039" y="2606675"/>
                  </a:lnTo>
                  <a:lnTo>
                    <a:pt x="9433" y="2602775"/>
                  </a:lnTo>
                  <a:lnTo>
                    <a:pt x="1372" y="2580923"/>
                  </a:lnTo>
                  <a:lnTo>
                    <a:pt x="457" y="2576323"/>
                  </a:lnTo>
                  <a:lnTo>
                    <a:pt x="0" y="2571677"/>
                  </a:lnTo>
                  <a:lnTo>
                    <a:pt x="0" y="256698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69024" y="368300"/>
            <a:ext cx="11747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0" dirty="0">
                <a:solidFill>
                  <a:srgbClr val="242424"/>
                </a:solidFill>
                <a:latin typeface="Tahoma"/>
                <a:cs typeface="Tahoma"/>
              </a:rPr>
              <a:t>Store_Location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181712" y="752474"/>
            <a:ext cx="3581400" cy="1714500"/>
          </a:xfrm>
          <a:custGeom>
            <a:avLst/>
            <a:gdLst/>
            <a:ahLst/>
            <a:cxnLst/>
            <a:rect l="l" t="t" r="r" b="b"/>
            <a:pathLst>
              <a:path w="3581400" h="1714500">
                <a:moveTo>
                  <a:pt x="358140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0" y="857250"/>
                </a:lnTo>
                <a:lnTo>
                  <a:pt x="0" y="1143000"/>
                </a:lnTo>
                <a:lnTo>
                  <a:pt x="0" y="1428750"/>
                </a:lnTo>
                <a:lnTo>
                  <a:pt x="0" y="1714500"/>
                </a:lnTo>
                <a:lnTo>
                  <a:pt x="3581400" y="1714500"/>
                </a:lnTo>
                <a:lnTo>
                  <a:pt x="3581400" y="285750"/>
                </a:lnTo>
                <a:lnTo>
                  <a:pt x="3581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153149" y="684530"/>
            <a:ext cx="1105535" cy="173990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Airport</a:t>
            </a:r>
            <a:endParaRPr sz="1200">
              <a:latin typeface="Segoe UI"/>
              <a:cs typeface="Segoe UI"/>
            </a:endParaRPr>
          </a:p>
          <a:p>
            <a:pPr marL="38100" marR="30480">
              <a:lnSpc>
                <a:spcPct val="156300"/>
              </a:lnSpc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Commercial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Downtown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242424"/>
                </a:solidFill>
                <a:latin typeface="Segoe UI"/>
                <a:cs typeface="Segoe UI"/>
              </a:rPr>
              <a:t>Mall</a:t>
            </a:r>
            <a:endParaRPr sz="1200">
              <a:latin typeface="Segoe UI"/>
              <a:cs typeface="Segoe UI"/>
            </a:endParaRPr>
          </a:p>
          <a:p>
            <a:pPr marL="266700" indent="-228600">
              <a:lnSpc>
                <a:spcPct val="100000"/>
              </a:lnSpc>
              <a:spcBef>
                <a:spcPts val="810"/>
              </a:spcBef>
              <a:buFont typeface="Verdana"/>
              <a:buChar char="◉"/>
              <a:tabLst>
                <a:tab pos="266700" algn="l"/>
              </a:tabLst>
            </a:pP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Residential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Suburban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8599" y="7162800"/>
            <a:ext cx="9696450" cy="3357879"/>
            <a:chOff x="228599" y="7162800"/>
            <a:chExt cx="9696450" cy="3357879"/>
          </a:xfrm>
        </p:grpSpPr>
        <p:sp>
          <p:nvSpPr>
            <p:cNvPr id="26" name="object 26"/>
            <p:cNvSpPr/>
            <p:nvPr/>
          </p:nvSpPr>
          <p:spPr>
            <a:xfrm>
              <a:off x="233362" y="7167562"/>
              <a:ext cx="9686925" cy="3348354"/>
            </a:xfrm>
            <a:custGeom>
              <a:avLst/>
              <a:gdLst/>
              <a:ahLst/>
              <a:cxnLst/>
              <a:rect l="l" t="t" r="r" b="b"/>
              <a:pathLst>
                <a:path w="9686925" h="3348354">
                  <a:moveTo>
                    <a:pt x="9641191" y="3348037"/>
                  </a:moveTo>
                  <a:lnTo>
                    <a:pt x="45731" y="3348037"/>
                  </a:lnTo>
                  <a:lnTo>
                    <a:pt x="39765" y="3345566"/>
                  </a:lnTo>
                  <a:lnTo>
                    <a:pt x="9433" y="3317150"/>
                  </a:lnTo>
                  <a:lnTo>
                    <a:pt x="0" y="328605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9620177" y="0"/>
                  </a:lnTo>
                  <a:lnTo>
                    <a:pt x="9659074" y="14645"/>
                  </a:lnTo>
                  <a:lnTo>
                    <a:pt x="9683279" y="48433"/>
                  </a:lnTo>
                  <a:lnTo>
                    <a:pt x="9686923" y="66746"/>
                  </a:lnTo>
                  <a:lnTo>
                    <a:pt x="9686923" y="3286052"/>
                  </a:lnTo>
                  <a:lnTo>
                    <a:pt x="9672277" y="3324950"/>
                  </a:lnTo>
                  <a:lnTo>
                    <a:pt x="9641191" y="33480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3362" y="7167562"/>
              <a:ext cx="9686925" cy="3348354"/>
            </a:xfrm>
            <a:custGeom>
              <a:avLst/>
              <a:gdLst/>
              <a:ahLst/>
              <a:cxnLst/>
              <a:rect l="l" t="t" r="r" b="b"/>
              <a:pathLst>
                <a:path w="9686925" h="3348354">
                  <a:moveTo>
                    <a:pt x="45731" y="3348037"/>
                  </a:moveTo>
                  <a:lnTo>
                    <a:pt x="44099" y="3347361"/>
                  </a:lnTo>
                  <a:lnTo>
                    <a:pt x="39765" y="3345566"/>
                  </a:lnTo>
                  <a:lnTo>
                    <a:pt x="35649" y="3343365"/>
                  </a:lnTo>
                  <a:lnTo>
                    <a:pt x="31748" y="3340759"/>
                  </a:lnTo>
                  <a:lnTo>
                    <a:pt x="27848" y="3338153"/>
                  </a:lnTo>
                  <a:lnTo>
                    <a:pt x="3642" y="3304365"/>
                  </a:lnTo>
                  <a:lnTo>
                    <a:pt x="0" y="3286052"/>
                  </a:lnTo>
                  <a:lnTo>
                    <a:pt x="0" y="3281362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615486" y="0"/>
                  </a:lnTo>
                  <a:lnTo>
                    <a:pt x="9620177" y="0"/>
                  </a:lnTo>
                  <a:lnTo>
                    <a:pt x="9624822" y="457"/>
                  </a:lnTo>
                  <a:lnTo>
                    <a:pt x="9662682" y="17606"/>
                  </a:lnTo>
                  <a:lnTo>
                    <a:pt x="9674883" y="31748"/>
                  </a:lnTo>
                  <a:lnTo>
                    <a:pt x="9677489" y="35649"/>
                  </a:lnTo>
                  <a:lnTo>
                    <a:pt x="9686923" y="71437"/>
                  </a:lnTo>
                  <a:lnTo>
                    <a:pt x="9686923" y="3281362"/>
                  </a:lnTo>
                  <a:lnTo>
                    <a:pt x="9681484" y="3308699"/>
                  </a:lnTo>
                  <a:lnTo>
                    <a:pt x="9679689" y="3313033"/>
                  </a:lnTo>
                  <a:lnTo>
                    <a:pt x="9677489" y="3317150"/>
                  </a:lnTo>
                  <a:lnTo>
                    <a:pt x="9674883" y="3321050"/>
                  </a:lnTo>
                  <a:lnTo>
                    <a:pt x="9672277" y="3324950"/>
                  </a:lnTo>
                  <a:lnTo>
                    <a:pt x="9642823" y="3347361"/>
                  </a:lnTo>
                  <a:lnTo>
                    <a:pt x="9641191" y="3348037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77824" y="7206243"/>
            <a:ext cx="5993765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435985">
              <a:lnSpc>
                <a:spcPct val="100000"/>
              </a:lnSpc>
              <a:spcBef>
                <a:spcPts val="430"/>
              </a:spcBef>
            </a:pPr>
            <a:r>
              <a:rPr sz="2000" spc="-70" dirty="0">
                <a:solidFill>
                  <a:srgbClr val="242424"/>
                </a:solidFill>
                <a:latin typeface="Tahoma"/>
                <a:cs typeface="Tahoma"/>
              </a:rPr>
              <a:t>Store</a:t>
            </a:r>
            <a:r>
              <a:rPr sz="2000" spc="-13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40" dirty="0">
                <a:solidFill>
                  <a:srgbClr val="242424"/>
                </a:solidFill>
                <a:latin typeface="Tahoma"/>
                <a:cs typeface="Tahoma"/>
              </a:rPr>
              <a:t>Sales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70" dirty="0">
                <a:solidFill>
                  <a:srgbClr val="242424"/>
                </a:solidFill>
                <a:latin typeface="Tahoma"/>
                <a:cs typeface="Tahoma"/>
              </a:rPr>
              <a:t>Performance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Total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Units,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Profit</a:t>
            </a:r>
            <a:r>
              <a:rPr sz="120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Store_Name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7382" y="7950051"/>
            <a:ext cx="3187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100K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8789" y="8773582"/>
            <a:ext cx="158750" cy="490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50" spc="-50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9266" y="8726021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80K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9266" y="9501990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60K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63612" y="8034336"/>
            <a:ext cx="8651875" cy="1968500"/>
            <a:chOff x="963612" y="8034336"/>
            <a:chExt cx="8651875" cy="1968500"/>
          </a:xfrm>
        </p:grpSpPr>
        <p:sp>
          <p:nvSpPr>
            <p:cNvPr id="30" name="object 30"/>
            <p:cNvSpPr/>
            <p:nvPr/>
          </p:nvSpPr>
          <p:spPr>
            <a:xfrm>
              <a:off x="968375" y="9605326"/>
              <a:ext cx="8642350" cy="0"/>
            </a:xfrm>
            <a:custGeom>
              <a:avLst/>
              <a:gdLst/>
              <a:ahLst/>
              <a:cxnLst/>
              <a:rect l="l" t="t" r="r" b="b"/>
              <a:pathLst>
                <a:path w="8642350">
                  <a:moveTo>
                    <a:pt x="0" y="0"/>
                  </a:moveTo>
                  <a:lnTo>
                    <a:pt x="86423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8375" y="8829357"/>
              <a:ext cx="8642350" cy="0"/>
            </a:xfrm>
            <a:custGeom>
              <a:avLst/>
              <a:gdLst/>
              <a:ahLst/>
              <a:cxnLst/>
              <a:rect l="l" t="t" r="r" b="b"/>
              <a:pathLst>
                <a:path w="8642350">
                  <a:moveTo>
                    <a:pt x="0" y="0"/>
                  </a:moveTo>
                  <a:lnTo>
                    <a:pt x="86423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8375" y="8053386"/>
              <a:ext cx="8642350" cy="0"/>
            </a:xfrm>
            <a:custGeom>
              <a:avLst/>
              <a:gdLst/>
              <a:ahLst/>
              <a:cxnLst/>
              <a:rect l="l" t="t" r="r" b="b"/>
              <a:pathLst>
                <a:path w="8642350">
                  <a:moveTo>
                    <a:pt x="0" y="0"/>
                  </a:moveTo>
                  <a:lnTo>
                    <a:pt x="86423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65971" y="8039099"/>
              <a:ext cx="0" cy="1958975"/>
            </a:xfrm>
            <a:custGeom>
              <a:avLst/>
              <a:gdLst/>
              <a:ahLst/>
              <a:cxnLst/>
              <a:rect l="l" t="t" r="r" b="b"/>
              <a:pathLst>
                <a:path h="1958975">
                  <a:moveTo>
                    <a:pt x="0" y="1958974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3330141" y="8039099"/>
            <a:ext cx="0" cy="1958975"/>
          </a:xfrm>
          <a:custGeom>
            <a:avLst/>
            <a:gdLst/>
            <a:ahLst/>
            <a:cxnLst/>
            <a:rect l="l" t="t" r="r" b="b"/>
            <a:pathLst>
              <a:path h="1958975">
                <a:moveTo>
                  <a:pt x="0" y="1958974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294312" y="8039099"/>
            <a:ext cx="0" cy="1958975"/>
          </a:xfrm>
          <a:custGeom>
            <a:avLst/>
            <a:gdLst/>
            <a:ahLst/>
            <a:cxnLst/>
            <a:rect l="l" t="t" r="r" b="b"/>
            <a:pathLst>
              <a:path h="1958975">
                <a:moveTo>
                  <a:pt x="0" y="1958974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258482" y="8039099"/>
            <a:ext cx="0" cy="1958975"/>
          </a:xfrm>
          <a:custGeom>
            <a:avLst/>
            <a:gdLst/>
            <a:ahLst/>
            <a:cxnLst/>
            <a:rect l="l" t="t" r="r" b="b"/>
            <a:pathLst>
              <a:path h="1958975">
                <a:moveTo>
                  <a:pt x="0" y="1958974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222652" y="8039099"/>
            <a:ext cx="0" cy="1958975"/>
          </a:xfrm>
          <a:custGeom>
            <a:avLst/>
            <a:gdLst/>
            <a:ahLst/>
            <a:cxnLst/>
            <a:rect l="l" t="t" r="r" b="b"/>
            <a:pathLst>
              <a:path h="1958975">
                <a:moveTo>
                  <a:pt x="0" y="1958974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228600" y="2914649"/>
            <a:ext cx="10153650" cy="6804025"/>
            <a:chOff x="228600" y="2914649"/>
            <a:chExt cx="10153650" cy="6804025"/>
          </a:xfrm>
        </p:grpSpPr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53875" y="8166808"/>
              <a:ext cx="316146" cy="44163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86773" y="8294083"/>
              <a:ext cx="633037" cy="46375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514895" y="8769904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136624" y="256492"/>
                  </a:moveTo>
                  <a:lnTo>
                    <a:pt x="119785" y="256492"/>
                  </a:lnTo>
                  <a:lnTo>
                    <a:pt x="111446" y="255670"/>
                  </a:lnTo>
                  <a:lnTo>
                    <a:pt x="71355" y="243506"/>
                  </a:lnTo>
                  <a:lnTo>
                    <a:pt x="31584" y="212972"/>
                  </a:lnTo>
                  <a:lnTo>
                    <a:pt x="6528" y="169540"/>
                  </a:lnTo>
                  <a:lnTo>
                    <a:pt x="0" y="136665"/>
                  </a:lnTo>
                  <a:lnTo>
                    <a:pt x="2" y="128246"/>
                  </a:lnTo>
                  <a:lnTo>
                    <a:pt x="0" y="119826"/>
                  </a:lnTo>
                  <a:lnTo>
                    <a:pt x="12969" y="71392"/>
                  </a:lnTo>
                  <a:lnTo>
                    <a:pt x="43489" y="31610"/>
                  </a:lnTo>
                  <a:lnTo>
                    <a:pt x="86912" y="6540"/>
                  </a:lnTo>
                  <a:lnTo>
                    <a:pt x="119785" y="0"/>
                  </a:lnTo>
                  <a:lnTo>
                    <a:pt x="136624" y="0"/>
                  </a:lnTo>
                  <a:lnTo>
                    <a:pt x="185054" y="12985"/>
                  </a:lnTo>
                  <a:lnTo>
                    <a:pt x="224825" y="43519"/>
                  </a:lnTo>
                  <a:lnTo>
                    <a:pt x="249880" y="86951"/>
                  </a:lnTo>
                  <a:lnTo>
                    <a:pt x="256409" y="119826"/>
                  </a:lnTo>
                  <a:lnTo>
                    <a:pt x="256409" y="136665"/>
                  </a:lnTo>
                  <a:lnTo>
                    <a:pt x="243440" y="185100"/>
                  </a:lnTo>
                  <a:lnTo>
                    <a:pt x="212920" y="224881"/>
                  </a:lnTo>
                  <a:lnTo>
                    <a:pt x="169497" y="249951"/>
                  </a:lnTo>
                  <a:lnTo>
                    <a:pt x="144963" y="255670"/>
                  </a:lnTo>
                  <a:lnTo>
                    <a:pt x="136624" y="256492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14895" y="8769904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40">
                  <a:moveTo>
                    <a:pt x="2" y="128246"/>
                  </a:moveTo>
                  <a:lnTo>
                    <a:pt x="0" y="136665"/>
                  </a:lnTo>
                  <a:lnTo>
                    <a:pt x="818" y="145004"/>
                  </a:lnTo>
                  <a:lnTo>
                    <a:pt x="2458" y="153263"/>
                  </a:lnTo>
                  <a:lnTo>
                    <a:pt x="4098" y="161521"/>
                  </a:lnTo>
                  <a:lnTo>
                    <a:pt x="21593" y="199492"/>
                  </a:lnTo>
                  <a:lnTo>
                    <a:pt x="26269" y="206494"/>
                  </a:lnTo>
                  <a:lnTo>
                    <a:pt x="31584" y="212972"/>
                  </a:lnTo>
                  <a:lnTo>
                    <a:pt x="37536" y="218927"/>
                  </a:lnTo>
                  <a:lnTo>
                    <a:pt x="43489" y="224881"/>
                  </a:lnTo>
                  <a:lnTo>
                    <a:pt x="79133" y="246729"/>
                  </a:lnTo>
                  <a:lnTo>
                    <a:pt x="119785" y="256492"/>
                  </a:lnTo>
                  <a:lnTo>
                    <a:pt x="128204" y="256492"/>
                  </a:lnTo>
                  <a:lnTo>
                    <a:pt x="136624" y="256492"/>
                  </a:lnTo>
                  <a:lnTo>
                    <a:pt x="177275" y="246729"/>
                  </a:lnTo>
                  <a:lnTo>
                    <a:pt x="212920" y="224881"/>
                  </a:lnTo>
                  <a:lnTo>
                    <a:pt x="218872" y="218927"/>
                  </a:lnTo>
                  <a:lnTo>
                    <a:pt x="224825" y="212972"/>
                  </a:lnTo>
                  <a:lnTo>
                    <a:pt x="246660" y="177320"/>
                  </a:lnTo>
                  <a:lnTo>
                    <a:pt x="253950" y="153263"/>
                  </a:lnTo>
                  <a:lnTo>
                    <a:pt x="255590" y="145004"/>
                  </a:lnTo>
                  <a:lnTo>
                    <a:pt x="256409" y="136665"/>
                  </a:lnTo>
                  <a:lnTo>
                    <a:pt x="256406" y="128246"/>
                  </a:lnTo>
                  <a:lnTo>
                    <a:pt x="256409" y="119826"/>
                  </a:lnTo>
                  <a:lnTo>
                    <a:pt x="255590" y="111487"/>
                  </a:lnTo>
                  <a:lnTo>
                    <a:pt x="253950" y="103228"/>
                  </a:lnTo>
                  <a:lnTo>
                    <a:pt x="252310" y="94970"/>
                  </a:lnTo>
                  <a:lnTo>
                    <a:pt x="234816" y="56999"/>
                  </a:lnTo>
                  <a:lnTo>
                    <a:pt x="230139" y="49997"/>
                  </a:lnTo>
                  <a:lnTo>
                    <a:pt x="224825" y="43519"/>
                  </a:lnTo>
                  <a:lnTo>
                    <a:pt x="218872" y="37565"/>
                  </a:lnTo>
                  <a:lnTo>
                    <a:pt x="212920" y="31610"/>
                  </a:lnTo>
                  <a:lnTo>
                    <a:pt x="177275" y="9763"/>
                  </a:lnTo>
                  <a:lnTo>
                    <a:pt x="136624" y="0"/>
                  </a:lnTo>
                  <a:lnTo>
                    <a:pt x="128204" y="0"/>
                  </a:lnTo>
                  <a:lnTo>
                    <a:pt x="119785" y="0"/>
                  </a:lnTo>
                  <a:lnTo>
                    <a:pt x="79133" y="9763"/>
                  </a:lnTo>
                  <a:lnTo>
                    <a:pt x="43489" y="31610"/>
                  </a:lnTo>
                  <a:lnTo>
                    <a:pt x="37536" y="37565"/>
                  </a:lnTo>
                  <a:lnTo>
                    <a:pt x="31584" y="43519"/>
                  </a:lnTo>
                  <a:lnTo>
                    <a:pt x="9748" y="79171"/>
                  </a:lnTo>
                  <a:lnTo>
                    <a:pt x="2458" y="103228"/>
                  </a:lnTo>
                  <a:lnTo>
                    <a:pt x="818" y="111487"/>
                  </a:lnTo>
                  <a:lnTo>
                    <a:pt x="0" y="119826"/>
                  </a:lnTo>
                  <a:lnTo>
                    <a:pt x="2" y="128246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7150" y="8851540"/>
              <a:ext cx="251964" cy="25196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967150" y="8851540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5">
                  <a:moveTo>
                    <a:pt x="0" y="125982"/>
                  </a:moveTo>
                  <a:lnTo>
                    <a:pt x="6424" y="166551"/>
                  </a:lnTo>
                  <a:lnTo>
                    <a:pt x="21231" y="195974"/>
                  </a:lnTo>
                  <a:lnTo>
                    <a:pt x="25827" y="202852"/>
                  </a:lnTo>
                  <a:lnTo>
                    <a:pt x="31050" y="209216"/>
                  </a:lnTo>
                  <a:lnTo>
                    <a:pt x="36899" y="215065"/>
                  </a:lnTo>
                  <a:lnTo>
                    <a:pt x="42748" y="220914"/>
                  </a:lnTo>
                  <a:lnTo>
                    <a:pt x="77771" y="242374"/>
                  </a:lnTo>
                  <a:lnTo>
                    <a:pt x="117710" y="251964"/>
                  </a:lnTo>
                  <a:lnTo>
                    <a:pt x="125982" y="251964"/>
                  </a:lnTo>
                  <a:lnTo>
                    <a:pt x="134254" y="251964"/>
                  </a:lnTo>
                  <a:lnTo>
                    <a:pt x="174193" y="242374"/>
                  </a:lnTo>
                  <a:lnTo>
                    <a:pt x="195974" y="230732"/>
                  </a:lnTo>
                  <a:lnTo>
                    <a:pt x="202852" y="226137"/>
                  </a:lnTo>
                  <a:lnTo>
                    <a:pt x="209216" y="220914"/>
                  </a:lnTo>
                  <a:lnTo>
                    <a:pt x="215065" y="215065"/>
                  </a:lnTo>
                  <a:lnTo>
                    <a:pt x="220914" y="209216"/>
                  </a:lnTo>
                  <a:lnTo>
                    <a:pt x="242374" y="174193"/>
                  </a:lnTo>
                  <a:lnTo>
                    <a:pt x="251964" y="134254"/>
                  </a:lnTo>
                  <a:lnTo>
                    <a:pt x="251964" y="125982"/>
                  </a:lnTo>
                  <a:lnTo>
                    <a:pt x="251964" y="117710"/>
                  </a:lnTo>
                  <a:lnTo>
                    <a:pt x="242374" y="77771"/>
                  </a:lnTo>
                  <a:lnTo>
                    <a:pt x="230732" y="55990"/>
                  </a:lnTo>
                  <a:lnTo>
                    <a:pt x="226137" y="49112"/>
                  </a:lnTo>
                  <a:lnTo>
                    <a:pt x="220914" y="42748"/>
                  </a:lnTo>
                  <a:lnTo>
                    <a:pt x="215065" y="36899"/>
                  </a:lnTo>
                  <a:lnTo>
                    <a:pt x="209216" y="31050"/>
                  </a:lnTo>
                  <a:lnTo>
                    <a:pt x="174193" y="9589"/>
                  </a:lnTo>
                  <a:lnTo>
                    <a:pt x="134254" y="0"/>
                  </a:lnTo>
                  <a:lnTo>
                    <a:pt x="125982" y="0"/>
                  </a:lnTo>
                  <a:lnTo>
                    <a:pt x="117710" y="0"/>
                  </a:lnTo>
                  <a:lnTo>
                    <a:pt x="77771" y="9589"/>
                  </a:lnTo>
                  <a:lnTo>
                    <a:pt x="55990" y="21231"/>
                  </a:lnTo>
                  <a:lnTo>
                    <a:pt x="49112" y="25827"/>
                  </a:lnTo>
                  <a:lnTo>
                    <a:pt x="42748" y="31050"/>
                  </a:lnTo>
                  <a:lnTo>
                    <a:pt x="36899" y="36899"/>
                  </a:lnTo>
                  <a:lnTo>
                    <a:pt x="31050" y="42748"/>
                  </a:lnTo>
                  <a:lnTo>
                    <a:pt x="9589" y="77771"/>
                  </a:lnTo>
                  <a:lnTo>
                    <a:pt x="0" y="117710"/>
                  </a:lnTo>
                  <a:lnTo>
                    <a:pt x="0" y="125982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24819" y="9099691"/>
              <a:ext cx="460710" cy="25419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0671" y="9174399"/>
              <a:ext cx="377169" cy="43326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4004" y="9486575"/>
              <a:ext cx="231556" cy="231556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233362" y="2919412"/>
              <a:ext cx="10144125" cy="4210050"/>
            </a:xfrm>
            <a:custGeom>
              <a:avLst/>
              <a:gdLst/>
              <a:ahLst/>
              <a:cxnLst/>
              <a:rect l="l" t="t" r="r" b="b"/>
              <a:pathLst>
                <a:path w="10144125" h="4210050">
                  <a:moveTo>
                    <a:pt x="10077377" y="4210049"/>
                  </a:moveTo>
                  <a:lnTo>
                    <a:pt x="66746" y="4210049"/>
                  </a:lnTo>
                  <a:lnTo>
                    <a:pt x="62101" y="4209591"/>
                  </a:lnTo>
                  <a:lnTo>
                    <a:pt x="24240" y="4192442"/>
                  </a:lnTo>
                  <a:lnTo>
                    <a:pt x="2287" y="4157149"/>
                  </a:lnTo>
                  <a:lnTo>
                    <a:pt x="0" y="4143302"/>
                  </a:lnTo>
                  <a:lnTo>
                    <a:pt x="0" y="41386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0077377" y="0"/>
                  </a:lnTo>
                  <a:lnTo>
                    <a:pt x="10116273" y="14645"/>
                  </a:lnTo>
                  <a:lnTo>
                    <a:pt x="10140480" y="48433"/>
                  </a:lnTo>
                  <a:lnTo>
                    <a:pt x="10144123" y="66746"/>
                  </a:lnTo>
                  <a:lnTo>
                    <a:pt x="10144123" y="4143302"/>
                  </a:lnTo>
                  <a:lnTo>
                    <a:pt x="10129478" y="4182200"/>
                  </a:lnTo>
                  <a:lnTo>
                    <a:pt x="10095689" y="4206406"/>
                  </a:lnTo>
                  <a:lnTo>
                    <a:pt x="10082022" y="4209591"/>
                  </a:lnTo>
                  <a:lnTo>
                    <a:pt x="10077377" y="42100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33362" y="2919412"/>
              <a:ext cx="10144125" cy="4210050"/>
            </a:xfrm>
            <a:custGeom>
              <a:avLst/>
              <a:gdLst/>
              <a:ahLst/>
              <a:cxnLst/>
              <a:rect l="l" t="t" r="r" b="b"/>
              <a:pathLst>
                <a:path w="10144125" h="4210050">
                  <a:moveTo>
                    <a:pt x="0" y="41386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0072686" y="0"/>
                  </a:lnTo>
                  <a:lnTo>
                    <a:pt x="10077377" y="0"/>
                  </a:lnTo>
                  <a:lnTo>
                    <a:pt x="10082022" y="457"/>
                  </a:lnTo>
                  <a:lnTo>
                    <a:pt x="10119882" y="17606"/>
                  </a:lnTo>
                  <a:lnTo>
                    <a:pt x="10123199" y="20923"/>
                  </a:lnTo>
                  <a:lnTo>
                    <a:pt x="10126517" y="24240"/>
                  </a:lnTo>
                  <a:lnTo>
                    <a:pt x="10142750" y="57500"/>
                  </a:lnTo>
                  <a:lnTo>
                    <a:pt x="10143666" y="62101"/>
                  </a:lnTo>
                  <a:lnTo>
                    <a:pt x="10144123" y="66746"/>
                  </a:lnTo>
                  <a:lnTo>
                    <a:pt x="10144124" y="71437"/>
                  </a:lnTo>
                  <a:lnTo>
                    <a:pt x="10144124" y="4138612"/>
                  </a:lnTo>
                  <a:lnTo>
                    <a:pt x="10144123" y="4143302"/>
                  </a:lnTo>
                  <a:lnTo>
                    <a:pt x="10143666" y="4147947"/>
                  </a:lnTo>
                  <a:lnTo>
                    <a:pt x="10142750" y="4152548"/>
                  </a:lnTo>
                  <a:lnTo>
                    <a:pt x="10141836" y="4157148"/>
                  </a:lnTo>
                  <a:lnTo>
                    <a:pt x="10123199" y="4189125"/>
                  </a:lnTo>
                  <a:lnTo>
                    <a:pt x="10119882" y="4192442"/>
                  </a:lnTo>
                  <a:lnTo>
                    <a:pt x="10082022" y="4209591"/>
                  </a:lnTo>
                  <a:lnTo>
                    <a:pt x="10072686" y="4210049"/>
                  </a:lnTo>
                  <a:lnTo>
                    <a:pt x="71437" y="4210049"/>
                  </a:lnTo>
                  <a:lnTo>
                    <a:pt x="31748" y="4198009"/>
                  </a:lnTo>
                  <a:lnTo>
                    <a:pt x="27848" y="4195404"/>
                  </a:lnTo>
                  <a:lnTo>
                    <a:pt x="24240" y="4192442"/>
                  </a:lnTo>
                  <a:lnTo>
                    <a:pt x="20923" y="4189125"/>
                  </a:lnTo>
                  <a:lnTo>
                    <a:pt x="17606" y="4185809"/>
                  </a:lnTo>
                  <a:lnTo>
                    <a:pt x="1372" y="4152548"/>
                  </a:lnTo>
                  <a:lnTo>
                    <a:pt x="457" y="4147947"/>
                  </a:lnTo>
                  <a:lnTo>
                    <a:pt x="0" y="4143302"/>
                  </a:lnTo>
                  <a:lnTo>
                    <a:pt x="0" y="413861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619896" y="3000438"/>
            <a:ext cx="33902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30" dirty="0">
                <a:solidFill>
                  <a:srgbClr val="242424"/>
                </a:solidFill>
                <a:latin typeface="Tahoma"/>
                <a:cs typeface="Tahoma"/>
              </a:rPr>
              <a:t>and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42424"/>
                </a:solidFill>
                <a:latin typeface="Tahoma"/>
                <a:cs typeface="Tahoma"/>
              </a:rPr>
              <a:t>Gross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Margin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rgbClr val="242424"/>
                </a:solidFill>
                <a:latin typeface="Tahoma"/>
                <a:cs typeface="Tahoma"/>
              </a:rPr>
              <a:t>Trend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77824" y="3330575"/>
            <a:ext cx="2894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Margin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Store_Name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80057" y="3860783"/>
            <a:ext cx="3187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100K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51941" y="4802104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50K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776287" y="3959357"/>
            <a:ext cx="9096375" cy="1892300"/>
            <a:chOff x="776287" y="3959357"/>
            <a:chExt cx="9096375" cy="1892300"/>
          </a:xfrm>
        </p:grpSpPr>
        <p:sp>
          <p:nvSpPr>
            <p:cNvPr id="62" name="object 62"/>
            <p:cNvSpPr/>
            <p:nvPr/>
          </p:nvSpPr>
          <p:spPr>
            <a:xfrm>
              <a:off x="781049" y="5846762"/>
              <a:ext cx="9086850" cy="0"/>
            </a:xfrm>
            <a:custGeom>
              <a:avLst/>
              <a:gdLst/>
              <a:ahLst/>
              <a:cxnLst/>
              <a:rect l="l" t="t" r="r" b="b"/>
              <a:pathLst>
                <a:path w="9086850">
                  <a:moveTo>
                    <a:pt x="0" y="0"/>
                  </a:moveTo>
                  <a:lnTo>
                    <a:pt x="90868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1049" y="4905441"/>
              <a:ext cx="9086850" cy="0"/>
            </a:xfrm>
            <a:custGeom>
              <a:avLst/>
              <a:gdLst/>
              <a:ahLst/>
              <a:cxnLst/>
              <a:rect l="l" t="t" r="r" b="b"/>
              <a:pathLst>
                <a:path w="9086850">
                  <a:moveTo>
                    <a:pt x="0" y="0"/>
                  </a:moveTo>
                  <a:lnTo>
                    <a:pt x="352887" y="0"/>
                  </a:lnTo>
                </a:path>
                <a:path w="9086850">
                  <a:moveTo>
                    <a:pt x="773574" y="0"/>
                  </a:moveTo>
                  <a:lnTo>
                    <a:pt x="1235105" y="0"/>
                  </a:lnTo>
                </a:path>
                <a:path w="9086850">
                  <a:moveTo>
                    <a:pt x="1655793" y="0"/>
                  </a:moveTo>
                  <a:lnTo>
                    <a:pt x="2117324" y="0"/>
                  </a:lnTo>
                </a:path>
                <a:path w="9086850">
                  <a:moveTo>
                    <a:pt x="2538011" y="0"/>
                  </a:moveTo>
                  <a:lnTo>
                    <a:pt x="2999542" y="0"/>
                  </a:lnTo>
                </a:path>
                <a:path w="9086850">
                  <a:moveTo>
                    <a:pt x="3420229" y="0"/>
                  </a:moveTo>
                  <a:lnTo>
                    <a:pt x="3881760" y="0"/>
                  </a:lnTo>
                </a:path>
                <a:path w="9086850">
                  <a:moveTo>
                    <a:pt x="4302448" y="0"/>
                  </a:moveTo>
                  <a:lnTo>
                    <a:pt x="4763979" y="0"/>
                  </a:lnTo>
                </a:path>
                <a:path w="9086850">
                  <a:moveTo>
                    <a:pt x="5184666" y="0"/>
                  </a:moveTo>
                  <a:lnTo>
                    <a:pt x="5646197" y="0"/>
                  </a:lnTo>
                </a:path>
                <a:path w="9086850">
                  <a:moveTo>
                    <a:pt x="6066884" y="0"/>
                  </a:moveTo>
                  <a:lnTo>
                    <a:pt x="6528416" y="0"/>
                  </a:lnTo>
                </a:path>
                <a:path w="9086850">
                  <a:moveTo>
                    <a:pt x="6949103" y="0"/>
                  </a:moveTo>
                  <a:lnTo>
                    <a:pt x="7410634" y="0"/>
                  </a:lnTo>
                </a:path>
                <a:path w="9086850">
                  <a:moveTo>
                    <a:pt x="7831321" y="0"/>
                  </a:moveTo>
                  <a:lnTo>
                    <a:pt x="8292852" y="0"/>
                  </a:lnTo>
                </a:path>
                <a:path w="9086850">
                  <a:moveTo>
                    <a:pt x="8713540" y="0"/>
                  </a:moveTo>
                  <a:lnTo>
                    <a:pt x="90868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81049" y="3964120"/>
              <a:ext cx="9086850" cy="0"/>
            </a:xfrm>
            <a:custGeom>
              <a:avLst/>
              <a:gdLst/>
              <a:ahLst/>
              <a:cxnLst/>
              <a:rect l="l" t="t" r="r" b="b"/>
              <a:pathLst>
                <a:path w="9086850">
                  <a:moveTo>
                    <a:pt x="0" y="0"/>
                  </a:moveTo>
                  <a:lnTo>
                    <a:pt x="90868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810749" y="584676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5871" y="3836635"/>
            <a:ext cx="8477206" cy="2005364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1231717" y="3841501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113935" y="3902524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996153" y="3910215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878372" y="3919550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89K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867318" y="3857545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44.78%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760590" y="3993206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85K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642809" y="4127524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031724" y="4355978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43.83%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442816" y="4129987"/>
            <a:ext cx="410845" cy="38735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R="12700" algn="ctr">
              <a:lnSpc>
                <a:spcPct val="100000"/>
              </a:lnSpc>
              <a:spcBef>
                <a:spcPts val="38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76K</a:t>
            </a:r>
            <a:endParaRPr sz="9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44.29%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289464" y="4288600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9950449" y="4391154"/>
            <a:ext cx="2546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44%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9810749" y="4485745"/>
            <a:ext cx="57150" cy="0"/>
          </a:xfrm>
          <a:custGeom>
            <a:avLst/>
            <a:gdLst/>
            <a:ahLst/>
            <a:cxnLst/>
            <a:rect l="l" t="t" r="r" b="b"/>
            <a:pathLst>
              <a:path w="57150">
                <a:moveTo>
                  <a:pt x="5714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4678379" y="4593630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43.48%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325035" y="4285873"/>
            <a:ext cx="41084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0" algn="ctr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70K</a:t>
            </a:r>
            <a:endParaRPr sz="9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43.54%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089472" y="4321369"/>
            <a:ext cx="410845" cy="44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700" algn="ctr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68K</a:t>
            </a:r>
            <a:endParaRPr sz="9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43.47%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3796161" y="4752034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43.24%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149506" y="5004242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43.32%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913942" y="5126003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43.14%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207253" y="5335253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42.84%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23825" y="5743425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950449" y="5752170"/>
            <a:ext cx="2546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42%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67340" y="5928895"/>
            <a:ext cx="7747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355" marR="5080" indent="-161290">
              <a:lnSpc>
                <a:spcPct val="1111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Spark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&amp;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Play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Omaha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932604" y="5928895"/>
            <a:ext cx="6083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11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Giggles </a:t>
            </a: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&amp;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Gadgets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Mesa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715108" y="5928895"/>
            <a:ext cx="80772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 marR="5080" indent="-95250">
              <a:lnSpc>
                <a:spcPct val="1111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Bluebird 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Toys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Naperville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627539" y="5928895"/>
            <a:ext cx="747395" cy="737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11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Wonderland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Newport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News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552471" y="5928895"/>
            <a:ext cx="6623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11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City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Lights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Springfield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378134" y="5928895"/>
            <a:ext cx="77533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>
              <a:lnSpc>
                <a:spcPct val="1111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Wonderland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r>
              <a:rPr sz="1050" spc="-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Boulder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315270" y="5928895"/>
            <a:ext cx="66548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11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Rocketship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Cleveland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156412" y="5928895"/>
            <a:ext cx="7473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11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Wonderland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Knoxville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008418" y="5928895"/>
            <a:ext cx="80772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5080" indent="-79375">
              <a:lnSpc>
                <a:spcPct val="1111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Bluebird 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Toys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Gainesville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975767" y="5928895"/>
            <a:ext cx="6375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11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City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Lights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Columbia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00" name="object 10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1955" y="6787514"/>
            <a:ext cx="95249" cy="95249"/>
          </a:xfrm>
          <a:prstGeom prst="rect">
            <a:avLst/>
          </a:prstGeom>
        </p:spPr>
      </p:pic>
      <p:sp>
        <p:nvSpPr>
          <p:cNvPr id="101" name="object 101"/>
          <p:cNvSpPr txBox="1"/>
          <p:nvPr/>
        </p:nvSpPr>
        <p:spPr>
          <a:xfrm>
            <a:off x="505370" y="6731000"/>
            <a:ext cx="5257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02" name="object 10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8230" y="6787514"/>
            <a:ext cx="95249" cy="95249"/>
          </a:xfrm>
          <a:prstGeom prst="rect">
            <a:avLst/>
          </a:prstGeom>
        </p:spPr>
      </p:pic>
      <p:sp>
        <p:nvSpPr>
          <p:cNvPr id="103" name="object 103"/>
          <p:cNvSpPr txBox="1"/>
          <p:nvPr/>
        </p:nvSpPr>
        <p:spPr>
          <a:xfrm>
            <a:off x="1182240" y="6731000"/>
            <a:ext cx="8115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Margin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09503" y="10013949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3500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73673" y="10013949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4000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3233" y="9993093"/>
            <a:ext cx="593090" cy="38735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265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4500</a:t>
            </a:r>
            <a:endParaRPr sz="10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160"/>
              </a:spcBef>
            </a:pPr>
            <a:r>
              <a:rPr sz="1050" spc="-65" dirty="0">
                <a:solidFill>
                  <a:srgbClr val="242424"/>
                </a:solidFill>
                <a:latin typeface="Tahoma"/>
                <a:cs typeface="Tahoma"/>
              </a:rPr>
              <a:t>Total</a:t>
            </a:r>
            <a:r>
              <a:rPr sz="1050" spc="-5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1050" spc="-20" dirty="0">
                <a:solidFill>
                  <a:srgbClr val="242424"/>
                </a:solidFill>
                <a:latin typeface="Tahoma"/>
                <a:cs typeface="Tahoma"/>
              </a:rPr>
              <a:t>Units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102014" y="10013949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5000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066185" y="10013949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5500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9925050" y="7134225"/>
            <a:ext cx="8582025" cy="3386454"/>
            <a:chOff x="9925050" y="7134225"/>
            <a:chExt cx="8582025" cy="3386454"/>
          </a:xfrm>
        </p:grpSpPr>
        <p:sp>
          <p:nvSpPr>
            <p:cNvPr id="105" name="object 105"/>
            <p:cNvSpPr/>
            <p:nvPr/>
          </p:nvSpPr>
          <p:spPr>
            <a:xfrm>
              <a:off x="9929813" y="7138987"/>
              <a:ext cx="8572500" cy="3376929"/>
            </a:xfrm>
            <a:custGeom>
              <a:avLst/>
              <a:gdLst/>
              <a:ahLst/>
              <a:cxnLst/>
              <a:rect l="l" t="t" r="r" b="b"/>
              <a:pathLst>
                <a:path w="8572500" h="3376929">
                  <a:moveTo>
                    <a:pt x="8526766" y="3376612"/>
                  </a:moveTo>
                  <a:lnTo>
                    <a:pt x="45731" y="3376612"/>
                  </a:lnTo>
                  <a:lnTo>
                    <a:pt x="39765" y="3374141"/>
                  </a:lnTo>
                  <a:lnTo>
                    <a:pt x="9433" y="3345724"/>
                  </a:lnTo>
                  <a:lnTo>
                    <a:pt x="0" y="331462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8505751" y="0"/>
                  </a:lnTo>
                  <a:lnTo>
                    <a:pt x="8544648" y="14645"/>
                  </a:lnTo>
                  <a:lnTo>
                    <a:pt x="8568854" y="48433"/>
                  </a:lnTo>
                  <a:lnTo>
                    <a:pt x="8572498" y="66746"/>
                  </a:lnTo>
                  <a:lnTo>
                    <a:pt x="8572498" y="3314627"/>
                  </a:lnTo>
                  <a:lnTo>
                    <a:pt x="8557852" y="3353525"/>
                  </a:lnTo>
                  <a:lnTo>
                    <a:pt x="8526766" y="33766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929813" y="7138987"/>
              <a:ext cx="8572500" cy="3376929"/>
            </a:xfrm>
            <a:custGeom>
              <a:avLst/>
              <a:gdLst/>
              <a:ahLst/>
              <a:cxnLst/>
              <a:rect l="l" t="t" r="r" b="b"/>
              <a:pathLst>
                <a:path w="8572500" h="3376929">
                  <a:moveTo>
                    <a:pt x="45731" y="3376612"/>
                  </a:moveTo>
                  <a:lnTo>
                    <a:pt x="44099" y="3375936"/>
                  </a:lnTo>
                  <a:lnTo>
                    <a:pt x="39765" y="3374141"/>
                  </a:lnTo>
                  <a:lnTo>
                    <a:pt x="35649" y="3371940"/>
                  </a:lnTo>
                  <a:lnTo>
                    <a:pt x="31748" y="3369334"/>
                  </a:lnTo>
                  <a:lnTo>
                    <a:pt x="27848" y="3366728"/>
                  </a:lnTo>
                  <a:lnTo>
                    <a:pt x="3642" y="3332941"/>
                  </a:lnTo>
                  <a:lnTo>
                    <a:pt x="1372" y="3323873"/>
                  </a:lnTo>
                  <a:lnTo>
                    <a:pt x="457" y="3319273"/>
                  </a:lnTo>
                  <a:lnTo>
                    <a:pt x="0" y="3314627"/>
                  </a:lnTo>
                  <a:lnTo>
                    <a:pt x="0" y="3309937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501061" y="0"/>
                  </a:lnTo>
                  <a:lnTo>
                    <a:pt x="8505751" y="0"/>
                  </a:lnTo>
                  <a:lnTo>
                    <a:pt x="8510397" y="457"/>
                  </a:lnTo>
                  <a:lnTo>
                    <a:pt x="8548257" y="17606"/>
                  </a:lnTo>
                  <a:lnTo>
                    <a:pt x="8551574" y="20923"/>
                  </a:lnTo>
                  <a:lnTo>
                    <a:pt x="8554891" y="24240"/>
                  </a:lnTo>
                  <a:lnTo>
                    <a:pt x="8572040" y="62101"/>
                  </a:lnTo>
                  <a:lnTo>
                    <a:pt x="8572498" y="71437"/>
                  </a:lnTo>
                  <a:lnTo>
                    <a:pt x="8572498" y="3309937"/>
                  </a:lnTo>
                  <a:lnTo>
                    <a:pt x="8560458" y="3349625"/>
                  </a:lnTo>
                  <a:lnTo>
                    <a:pt x="8528398" y="3375936"/>
                  </a:lnTo>
                  <a:lnTo>
                    <a:pt x="8526766" y="3376612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10074274" y="7177668"/>
            <a:ext cx="5767705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547620">
              <a:lnSpc>
                <a:spcPct val="100000"/>
              </a:lnSpc>
              <a:spcBef>
                <a:spcPts val="430"/>
              </a:spcBef>
            </a:pPr>
            <a:r>
              <a:rPr sz="2000" spc="-70" dirty="0">
                <a:solidFill>
                  <a:srgbClr val="242424"/>
                </a:solidFill>
                <a:latin typeface="Tahoma"/>
                <a:cs typeface="Tahoma"/>
              </a:rPr>
              <a:t>Store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42424"/>
                </a:solidFill>
                <a:latin typeface="Tahoma"/>
                <a:cs typeface="Tahoma"/>
              </a:rPr>
              <a:t>vs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42424"/>
                </a:solidFill>
                <a:latin typeface="Tahoma"/>
                <a:cs typeface="Tahoma"/>
              </a:rPr>
              <a:t>Gross</a:t>
            </a:r>
            <a:r>
              <a:rPr sz="2000" spc="-13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42424"/>
                </a:solidFill>
                <a:latin typeface="Tahoma"/>
                <a:cs typeface="Tahoma"/>
              </a:rPr>
              <a:t>Margin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Revenue,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Margin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Profit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Store_Name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0265766" y="7921476"/>
            <a:ext cx="278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45%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10075238" y="8636362"/>
            <a:ext cx="158750" cy="7359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50" spc="-35" dirty="0">
                <a:solidFill>
                  <a:srgbClr val="242424"/>
                </a:solidFill>
                <a:latin typeface="Tahoma"/>
                <a:cs typeface="Tahoma"/>
              </a:rPr>
              <a:t>Gross</a:t>
            </a:r>
            <a:r>
              <a:rPr sz="1050" spc="-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1050" spc="-35" dirty="0">
                <a:solidFill>
                  <a:srgbClr val="242424"/>
                </a:solidFill>
                <a:latin typeface="Tahoma"/>
                <a:cs typeface="Tahoma"/>
              </a:rPr>
              <a:t>Margin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0265766" y="8708876"/>
            <a:ext cx="278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44%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0265766" y="9496275"/>
            <a:ext cx="2787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43%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10621961" y="8005761"/>
            <a:ext cx="7613650" cy="1997075"/>
            <a:chOff x="10621961" y="8005761"/>
            <a:chExt cx="7613650" cy="1997075"/>
          </a:xfrm>
        </p:grpSpPr>
        <p:sp>
          <p:nvSpPr>
            <p:cNvPr id="109" name="object 109"/>
            <p:cNvSpPr/>
            <p:nvPr/>
          </p:nvSpPr>
          <p:spPr>
            <a:xfrm>
              <a:off x="10626724" y="9599611"/>
              <a:ext cx="7604125" cy="0"/>
            </a:xfrm>
            <a:custGeom>
              <a:avLst/>
              <a:gdLst/>
              <a:ahLst/>
              <a:cxnLst/>
              <a:rect l="l" t="t" r="r" b="b"/>
              <a:pathLst>
                <a:path w="7604125">
                  <a:moveTo>
                    <a:pt x="0" y="0"/>
                  </a:moveTo>
                  <a:lnTo>
                    <a:pt x="76041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0626724" y="8812212"/>
              <a:ext cx="7604125" cy="0"/>
            </a:xfrm>
            <a:custGeom>
              <a:avLst/>
              <a:gdLst/>
              <a:ahLst/>
              <a:cxnLst/>
              <a:rect l="l" t="t" r="r" b="b"/>
              <a:pathLst>
                <a:path w="7604125">
                  <a:moveTo>
                    <a:pt x="0" y="0"/>
                  </a:moveTo>
                  <a:lnTo>
                    <a:pt x="76041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626724" y="8024811"/>
              <a:ext cx="7604125" cy="0"/>
            </a:xfrm>
            <a:custGeom>
              <a:avLst/>
              <a:gdLst/>
              <a:ahLst/>
              <a:cxnLst/>
              <a:rect l="l" t="t" r="r" b="b"/>
              <a:pathLst>
                <a:path w="7604125">
                  <a:moveTo>
                    <a:pt x="0" y="0"/>
                  </a:moveTo>
                  <a:lnTo>
                    <a:pt x="76041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1582001" y="8010524"/>
              <a:ext cx="0" cy="1987550"/>
            </a:xfrm>
            <a:custGeom>
              <a:avLst/>
              <a:gdLst/>
              <a:ahLst/>
              <a:cxnLst/>
              <a:rect l="l" t="t" r="r" b="b"/>
              <a:pathLst>
                <a:path h="1987550">
                  <a:moveTo>
                    <a:pt x="0" y="19875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/>
          <p:nvPr/>
        </p:nvSpPr>
        <p:spPr>
          <a:xfrm>
            <a:off x="13483032" y="8010524"/>
            <a:ext cx="0" cy="1987550"/>
          </a:xfrm>
          <a:custGeom>
            <a:avLst/>
            <a:gdLst/>
            <a:ahLst/>
            <a:cxnLst/>
            <a:rect l="l" t="t" r="r" b="b"/>
            <a:pathLst>
              <a:path h="1987550">
                <a:moveTo>
                  <a:pt x="0" y="198754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5384065" y="8010524"/>
            <a:ext cx="0" cy="1987550"/>
          </a:xfrm>
          <a:custGeom>
            <a:avLst/>
            <a:gdLst/>
            <a:ahLst/>
            <a:cxnLst/>
            <a:rect l="l" t="t" r="r" b="b"/>
            <a:pathLst>
              <a:path h="1987550">
                <a:moveTo>
                  <a:pt x="0" y="198754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17285095" y="8010524"/>
            <a:ext cx="0" cy="1987550"/>
          </a:xfrm>
          <a:custGeom>
            <a:avLst/>
            <a:gdLst/>
            <a:ahLst/>
            <a:cxnLst/>
            <a:rect l="l" t="t" r="r" b="b"/>
            <a:pathLst>
              <a:path h="1987550">
                <a:moveTo>
                  <a:pt x="0" y="198754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5" name="object 125"/>
          <p:cNvGrpSpPr/>
          <p:nvPr/>
        </p:nvGrpSpPr>
        <p:grpSpPr>
          <a:xfrm>
            <a:off x="9925049" y="266700"/>
            <a:ext cx="8582025" cy="9672320"/>
            <a:chOff x="9925049" y="266700"/>
            <a:chExt cx="8582025" cy="9672320"/>
          </a:xfrm>
        </p:grpSpPr>
        <p:sp>
          <p:nvSpPr>
            <p:cNvPr id="126" name="object 126"/>
            <p:cNvSpPr/>
            <p:nvPr/>
          </p:nvSpPr>
          <p:spPr>
            <a:xfrm>
              <a:off x="17767930" y="9201967"/>
              <a:ext cx="278765" cy="278765"/>
            </a:xfrm>
            <a:custGeom>
              <a:avLst/>
              <a:gdLst/>
              <a:ahLst/>
              <a:cxnLst/>
              <a:rect l="l" t="t" r="r" b="b"/>
              <a:pathLst>
                <a:path w="278765" h="278765">
                  <a:moveTo>
                    <a:pt x="139128" y="278353"/>
                  </a:moveTo>
                  <a:lnTo>
                    <a:pt x="98732" y="272361"/>
                  </a:lnTo>
                  <a:lnTo>
                    <a:pt x="61817" y="254895"/>
                  </a:lnTo>
                  <a:lnTo>
                    <a:pt x="31562" y="227466"/>
                  </a:lnTo>
                  <a:lnTo>
                    <a:pt x="10576" y="192433"/>
                  </a:lnTo>
                  <a:lnTo>
                    <a:pt x="663" y="152816"/>
                  </a:lnTo>
                  <a:lnTo>
                    <a:pt x="0" y="139176"/>
                  </a:lnTo>
                  <a:lnTo>
                    <a:pt x="164" y="132339"/>
                  </a:lnTo>
                  <a:lnTo>
                    <a:pt x="8116" y="92300"/>
                  </a:lnTo>
                  <a:lnTo>
                    <a:pt x="27366" y="56265"/>
                  </a:lnTo>
                  <a:lnTo>
                    <a:pt x="56226" y="27395"/>
                  </a:lnTo>
                  <a:lnTo>
                    <a:pt x="92255" y="8132"/>
                  </a:lnTo>
                  <a:lnTo>
                    <a:pt x="132291" y="167"/>
                  </a:lnTo>
                  <a:lnTo>
                    <a:pt x="139128" y="0"/>
                  </a:lnTo>
                  <a:lnTo>
                    <a:pt x="145965" y="167"/>
                  </a:lnTo>
                  <a:lnTo>
                    <a:pt x="186001" y="8132"/>
                  </a:lnTo>
                  <a:lnTo>
                    <a:pt x="222030" y="27395"/>
                  </a:lnTo>
                  <a:lnTo>
                    <a:pt x="250890" y="56265"/>
                  </a:lnTo>
                  <a:lnTo>
                    <a:pt x="270140" y="92300"/>
                  </a:lnTo>
                  <a:lnTo>
                    <a:pt x="278092" y="132339"/>
                  </a:lnTo>
                  <a:lnTo>
                    <a:pt x="278256" y="139176"/>
                  </a:lnTo>
                  <a:lnTo>
                    <a:pt x="278092" y="146013"/>
                  </a:lnTo>
                  <a:lnTo>
                    <a:pt x="270140" y="186052"/>
                  </a:lnTo>
                  <a:lnTo>
                    <a:pt x="250890" y="222087"/>
                  </a:lnTo>
                  <a:lnTo>
                    <a:pt x="222030" y="250957"/>
                  </a:lnTo>
                  <a:lnTo>
                    <a:pt x="186001" y="270220"/>
                  </a:lnTo>
                  <a:lnTo>
                    <a:pt x="145965" y="278185"/>
                  </a:lnTo>
                  <a:lnTo>
                    <a:pt x="139128" y="278353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7767930" y="9201967"/>
              <a:ext cx="278765" cy="278765"/>
            </a:xfrm>
            <a:custGeom>
              <a:avLst/>
              <a:gdLst/>
              <a:ahLst/>
              <a:cxnLst/>
              <a:rect l="l" t="t" r="r" b="b"/>
              <a:pathLst>
                <a:path w="278765" h="278765">
                  <a:moveTo>
                    <a:pt x="0" y="139176"/>
                  </a:moveTo>
                  <a:lnTo>
                    <a:pt x="5977" y="179574"/>
                  </a:lnTo>
                  <a:lnTo>
                    <a:pt x="23430" y="216495"/>
                  </a:lnTo>
                  <a:lnTo>
                    <a:pt x="50849" y="246760"/>
                  </a:lnTo>
                  <a:lnTo>
                    <a:pt x="85875" y="267757"/>
                  </a:lnTo>
                  <a:lnTo>
                    <a:pt x="125488" y="277684"/>
                  </a:lnTo>
                  <a:lnTo>
                    <a:pt x="139128" y="278353"/>
                  </a:lnTo>
                  <a:lnTo>
                    <a:pt x="145965" y="278185"/>
                  </a:lnTo>
                  <a:lnTo>
                    <a:pt x="186001" y="270220"/>
                  </a:lnTo>
                  <a:lnTo>
                    <a:pt x="222030" y="250957"/>
                  </a:lnTo>
                  <a:lnTo>
                    <a:pt x="250890" y="222087"/>
                  </a:lnTo>
                  <a:lnTo>
                    <a:pt x="270140" y="186052"/>
                  </a:lnTo>
                  <a:lnTo>
                    <a:pt x="278092" y="146013"/>
                  </a:lnTo>
                  <a:lnTo>
                    <a:pt x="278256" y="139176"/>
                  </a:lnTo>
                  <a:lnTo>
                    <a:pt x="278092" y="132339"/>
                  </a:lnTo>
                  <a:lnTo>
                    <a:pt x="270140" y="92300"/>
                  </a:lnTo>
                  <a:lnTo>
                    <a:pt x="250890" y="56265"/>
                  </a:lnTo>
                  <a:lnTo>
                    <a:pt x="222030" y="27395"/>
                  </a:lnTo>
                  <a:lnTo>
                    <a:pt x="186001" y="8132"/>
                  </a:lnTo>
                  <a:lnTo>
                    <a:pt x="145965" y="167"/>
                  </a:lnTo>
                  <a:lnTo>
                    <a:pt x="139128" y="0"/>
                  </a:lnTo>
                  <a:lnTo>
                    <a:pt x="132291" y="167"/>
                  </a:lnTo>
                  <a:lnTo>
                    <a:pt x="92255" y="8132"/>
                  </a:lnTo>
                  <a:lnTo>
                    <a:pt x="56226" y="27395"/>
                  </a:lnTo>
                  <a:lnTo>
                    <a:pt x="27366" y="56265"/>
                  </a:lnTo>
                  <a:lnTo>
                    <a:pt x="8116" y="92300"/>
                  </a:lnTo>
                  <a:lnTo>
                    <a:pt x="164" y="132339"/>
                  </a:lnTo>
                  <a:lnTo>
                    <a:pt x="0" y="139176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7153277" y="8807607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90">
                  <a:moveTo>
                    <a:pt x="137591" y="275182"/>
                  </a:moveTo>
                  <a:lnTo>
                    <a:pt x="97650" y="269259"/>
                  </a:lnTo>
                  <a:lnTo>
                    <a:pt x="61149" y="251993"/>
                  </a:lnTo>
                  <a:lnTo>
                    <a:pt x="31230" y="224879"/>
                  </a:lnTo>
                  <a:lnTo>
                    <a:pt x="10473" y="190244"/>
                  </a:lnTo>
                  <a:lnTo>
                    <a:pt x="660" y="151077"/>
                  </a:lnTo>
                  <a:lnTo>
                    <a:pt x="0" y="137591"/>
                  </a:lnTo>
                  <a:lnTo>
                    <a:pt x="165" y="130831"/>
                  </a:lnTo>
                  <a:lnTo>
                    <a:pt x="8039" y="91245"/>
                  </a:lnTo>
                  <a:lnTo>
                    <a:pt x="27081" y="55621"/>
                  </a:lnTo>
                  <a:lnTo>
                    <a:pt x="55621" y="27081"/>
                  </a:lnTo>
                  <a:lnTo>
                    <a:pt x="91245" y="8039"/>
                  </a:lnTo>
                  <a:lnTo>
                    <a:pt x="130831" y="165"/>
                  </a:lnTo>
                  <a:lnTo>
                    <a:pt x="137591" y="0"/>
                  </a:lnTo>
                  <a:lnTo>
                    <a:pt x="144350" y="165"/>
                  </a:lnTo>
                  <a:lnTo>
                    <a:pt x="183936" y="8039"/>
                  </a:lnTo>
                  <a:lnTo>
                    <a:pt x="219561" y="27081"/>
                  </a:lnTo>
                  <a:lnTo>
                    <a:pt x="248101" y="55621"/>
                  </a:lnTo>
                  <a:lnTo>
                    <a:pt x="267142" y="91245"/>
                  </a:lnTo>
                  <a:lnTo>
                    <a:pt x="275016" y="130831"/>
                  </a:lnTo>
                  <a:lnTo>
                    <a:pt x="275182" y="137591"/>
                  </a:lnTo>
                  <a:lnTo>
                    <a:pt x="275016" y="144350"/>
                  </a:lnTo>
                  <a:lnTo>
                    <a:pt x="267142" y="183936"/>
                  </a:lnTo>
                  <a:lnTo>
                    <a:pt x="248101" y="219561"/>
                  </a:lnTo>
                  <a:lnTo>
                    <a:pt x="219561" y="248101"/>
                  </a:lnTo>
                  <a:lnTo>
                    <a:pt x="183936" y="267142"/>
                  </a:lnTo>
                  <a:lnTo>
                    <a:pt x="144350" y="275016"/>
                  </a:lnTo>
                  <a:lnTo>
                    <a:pt x="137591" y="275182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7153277" y="8807607"/>
              <a:ext cx="275590" cy="275590"/>
            </a:xfrm>
            <a:custGeom>
              <a:avLst/>
              <a:gdLst/>
              <a:ahLst/>
              <a:cxnLst/>
              <a:rect l="l" t="t" r="r" b="b"/>
              <a:pathLst>
                <a:path w="275590" h="275590">
                  <a:moveTo>
                    <a:pt x="0" y="137591"/>
                  </a:moveTo>
                  <a:lnTo>
                    <a:pt x="5923" y="177532"/>
                  </a:lnTo>
                  <a:lnTo>
                    <a:pt x="23188" y="214032"/>
                  </a:lnTo>
                  <a:lnTo>
                    <a:pt x="50303" y="243951"/>
                  </a:lnTo>
                  <a:lnTo>
                    <a:pt x="84937" y="264708"/>
                  </a:lnTo>
                  <a:lnTo>
                    <a:pt x="124104" y="274521"/>
                  </a:lnTo>
                  <a:lnTo>
                    <a:pt x="137591" y="275182"/>
                  </a:lnTo>
                  <a:lnTo>
                    <a:pt x="144350" y="275016"/>
                  </a:lnTo>
                  <a:lnTo>
                    <a:pt x="183936" y="267142"/>
                  </a:lnTo>
                  <a:lnTo>
                    <a:pt x="219561" y="248101"/>
                  </a:lnTo>
                  <a:lnTo>
                    <a:pt x="248101" y="219561"/>
                  </a:lnTo>
                  <a:lnTo>
                    <a:pt x="267142" y="183936"/>
                  </a:lnTo>
                  <a:lnTo>
                    <a:pt x="275016" y="144350"/>
                  </a:lnTo>
                  <a:lnTo>
                    <a:pt x="275182" y="137591"/>
                  </a:lnTo>
                  <a:lnTo>
                    <a:pt x="275016" y="130831"/>
                  </a:lnTo>
                  <a:lnTo>
                    <a:pt x="267142" y="91245"/>
                  </a:lnTo>
                  <a:lnTo>
                    <a:pt x="248101" y="55621"/>
                  </a:lnTo>
                  <a:lnTo>
                    <a:pt x="219561" y="27081"/>
                  </a:lnTo>
                  <a:lnTo>
                    <a:pt x="183936" y="8039"/>
                  </a:lnTo>
                  <a:lnTo>
                    <a:pt x="144350" y="165"/>
                  </a:lnTo>
                  <a:lnTo>
                    <a:pt x="137591" y="0"/>
                  </a:lnTo>
                  <a:lnTo>
                    <a:pt x="130831" y="165"/>
                  </a:lnTo>
                  <a:lnTo>
                    <a:pt x="91245" y="8039"/>
                  </a:lnTo>
                  <a:lnTo>
                    <a:pt x="55621" y="27081"/>
                  </a:lnTo>
                  <a:lnTo>
                    <a:pt x="27081" y="55621"/>
                  </a:lnTo>
                  <a:lnTo>
                    <a:pt x="8039" y="91245"/>
                  </a:lnTo>
                  <a:lnTo>
                    <a:pt x="165" y="130831"/>
                  </a:lnTo>
                  <a:lnTo>
                    <a:pt x="0" y="137591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1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78087" y="9262609"/>
              <a:ext cx="376181" cy="360483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16241574" y="9086566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4" h="267334">
                  <a:moveTo>
                    <a:pt x="133613" y="267227"/>
                  </a:moveTo>
                  <a:lnTo>
                    <a:pt x="94827" y="261476"/>
                  </a:lnTo>
                  <a:lnTo>
                    <a:pt x="59382" y="244709"/>
                  </a:lnTo>
                  <a:lnTo>
                    <a:pt x="30327" y="218378"/>
                  </a:lnTo>
                  <a:lnTo>
                    <a:pt x="10170" y="184745"/>
                  </a:lnTo>
                  <a:lnTo>
                    <a:pt x="641" y="146710"/>
                  </a:lnTo>
                  <a:lnTo>
                    <a:pt x="0" y="133613"/>
                  </a:lnTo>
                  <a:lnTo>
                    <a:pt x="160" y="127049"/>
                  </a:lnTo>
                  <a:lnTo>
                    <a:pt x="7807" y="88607"/>
                  </a:lnTo>
                  <a:lnTo>
                    <a:pt x="26298" y="54013"/>
                  </a:lnTo>
                  <a:lnTo>
                    <a:pt x="54013" y="26298"/>
                  </a:lnTo>
                  <a:lnTo>
                    <a:pt x="88607" y="7807"/>
                  </a:lnTo>
                  <a:lnTo>
                    <a:pt x="127049" y="160"/>
                  </a:lnTo>
                  <a:lnTo>
                    <a:pt x="133613" y="0"/>
                  </a:lnTo>
                  <a:lnTo>
                    <a:pt x="140178" y="160"/>
                  </a:lnTo>
                  <a:lnTo>
                    <a:pt x="178619" y="7807"/>
                  </a:lnTo>
                  <a:lnTo>
                    <a:pt x="213214" y="26298"/>
                  </a:lnTo>
                  <a:lnTo>
                    <a:pt x="240929" y="54013"/>
                  </a:lnTo>
                  <a:lnTo>
                    <a:pt x="259420" y="88607"/>
                  </a:lnTo>
                  <a:lnTo>
                    <a:pt x="267067" y="127049"/>
                  </a:lnTo>
                  <a:lnTo>
                    <a:pt x="267227" y="133613"/>
                  </a:lnTo>
                  <a:lnTo>
                    <a:pt x="267067" y="140178"/>
                  </a:lnTo>
                  <a:lnTo>
                    <a:pt x="259420" y="178619"/>
                  </a:lnTo>
                  <a:lnTo>
                    <a:pt x="240929" y="213214"/>
                  </a:lnTo>
                  <a:lnTo>
                    <a:pt x="213214" y="240929"/>
                  </a:lnTo>
                  <a:lnTo>
                    <a:pt x="178619" y="259420"/>
                  </a:lnTo>
                  <a:lnTo>
                    <a:pt x="140178" y="267067"/>
                  </a:lnTo>
                  <a:lnTo>
                    <a:pt x="133613" y="267227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6241574" y="9086566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4" h="267334">
                  <a:moveTo>
                    <a:pt x="0" y="133613"/>
                  </a:moveTo>
                  <a:lnTo>
                    <a:pt x="5751" y="172400"/>
                  </a:lnTo>
                  <a:lnTo>
                    <a:pt x="22518" y="207845"/>
                  </a:lnTo>
                  <a:lnTo>
                    <a:pt x="48849" y="236900"/>
                  </a:lnTo>
                  <a:lnTo>
                    <a:pt x="82482" y="257057"/>
                  </a:lnTo>
                  <a:lnTo>
                    <a:pt x="120517" y="266586"/>
                  </a:lnTo>
                  <a:lnTo>
                    <a:pt x="133613" y="267227"/>
                  </a:lnTo>
                  <a:lnTo>
                    <a:pt x="140178" y="267067"/>
                  </a:lnTo>
                  <a:lnTo>
                    <a:pt x="178619" y="259420"/>
                  </a:lnTo>
                  <a:lnTo>
                    <a:pt x="213214" y="240929"/>
                  </a:lnTo>
                  <a:lnTo>
                    <a:pt x="240929" y="213214"/>
                  </a:lnTo>
                  <a:lnTo>
                    <a:pt x="259420" y="178619"/>
                  </a:lnTo>
                  <a:lnTo>
                    <a:pt x="267067" y="140178"/>
                  </a:lnTo>
                  <a:lnTo>
                    <a:pt x="267227" y="133613"/>
                  </a:lnTo>
                  <a:lnTo>
                    <a:pt x="267067" y="127049"/>
                  </a:lnTo>
                  <a:lnTo>
                    <a:pt x="259420" y="88607"/>
                  </a:lnTo>
                  <a:lnTo>
                    <a:pt x="240929" y="54013"/>
                  </a:lnTo>
                  <a:lnTo>
                    <a:pt x="213214" y="26298"/>
                  </a:lnTo>
                  <a:lnTo>
                    <a:pt x="178619" y="7807"/>
                  </a:lnTo>
                  <a:lnTo>
                    <a:pt x="140178" y="160"/>
                  </a:lnTo>
                  <a:lnTo>
                    <a:pt x="133613" y="0"/>
                  </a:lnTo>
                  <a:lnTo>
                    <a:pt x="127049" y="160"/>
                  </a:lnTo>
                  <a:lnTo>
                    <a:pt x="88607" y="7807"/>
                  </a:lnTo>
                  <a:lnTo>
                    <a:pt x="54013" y="26298"/>
                  </a:lnTo>
                  <a:lnTo>
                    <a:pt x="26298" y="54013"/>
                  </a:lnTo>
                  <a:lnTo>
                    <a:pt x="7807" y="88607"/>
                  </a:lnTo>
                  <a:lnTo>
                    <a:pt x="160" y="127049"/>
                  </a:lnTo>
                  <a:lnTo>
                    <a:pt x="0" y="133613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4888822" y="806132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130071" y="260143"/>
                  </a:moveTo>
                  <a:lnTo>
                    <a:pt x="92313" y="254544"/>
                  </a:lnTo>
                  <a:lnTo>
                    <a:pt x="57807" y="238222"/>
                  </a:lnTo>
                  <a:lnTo>
                    <a:pt x="29523" y="212589"/>
                  </a:lnTo>
                  <a:lnTo>
                    <a:pt x="9901" y="179848"/>
                  </a:lnTo>
                  <a:lnTo>
                    <a:pt x="624" y="142821"/>
                  </a:lnTo>
                  <a:lnTo>
                    <a:pt x="0" y="130071"/>
                  </a:lnTo>
                  <a:lnTo>
                    <a:pt x="156" y="123681"/>
                  </a:lnTo>
                  <a:lnTo>
                    <a:pt x="7600" y="86258"/>
                  </a:lnTo>
                  <a:lnTo>
                    <a:pt x="25601" y="52581"/>
                  </a:lnTo>
                  <a:lnTo>
                    <a:pt x="52581" y="25601"/>
                  </a:lnTo>
                  <a:lnTo>
                    <a:pt x="86258" y="7600"/>
                  </a:lnTo>
                  <a:lnTo>
                    <a:pt x="123681" y="156"/>
                  </a:lnTo>
                  <a:lnTo>
                    <a:pt x="130071" y="0"/>
                  </a:lnTo>
                  <a:lnTo>
                    <a:pt x="136461" y="156"/>
                  </a:lnTo>
                  <a:lnTo>
                    <a:pt x="173884" y="7600"/>
                  </a:lnTo>
                  <a:lnTo>
                    <a:pt x="207562" y="25601"/>
                  </a:lnTo>
                  <a:lnTo>
                    <a:pt x="234542" y="52581"/>
                  </a:lnTo>
                  <a:lnTo>
                    <a:pt x="252543" y="86258"/>
                  </a:lnTo>
                  <a:lnTo>
                    <a:pt x="259987" y="123681"/>
                  </a:lnTo>
                  <a:lnTo>
                    <a:pt x="260143" y="130071"/>
                  </a:lnTo>
                  <a:lnTo>
                    <a:pt x="259987" y="136461"/>
                  </a:lnTo>
                  <a:lnTo>
                    <a:pt x="252543" y="173884"/>
                  </a:lnTo>
                  <a:lnTo>
                    <a:pt x="234542" y="207562"/>
                  </a:lnTo>
                  <a:lnTo>
                    <a:pt x="207562" y="234542"/>
                  </a:lnTo>
                  <a:lnTo>
                    <a:pt x="173884" y="252543"/>
                  </a:lnTo>
                  <a:lnTo>
                    <a:pt x="136461" y="259987"/>
                  </a:lnTo>
                  <a:lnTo>
                    <a:pt x="130071" y="260143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4888822" y="8061328"/>
              <a:ext cx="260350" cy="260350"/>
            </a:xfrm>
            <a:custGeom>
              <a:avLst/>
              <a:gdLst/>
              <a:ahLst/>
              <a:cxnLst/>
              <a:rect l="l" t="t" r="r" b="b"/>
              <a:pathLst>
                <a:path w="260350" h="260350">
                  <a:moveTo>
                    <a:pt x="0" y="130071"/>
                  </a:moveTo>
                  <a:lnTo>
                    <a:pt x="5599" y="167830"/>
                  </a:lnTo>
                  <a:lnTo>
                    <a:pt x="21921" y="202335"/>
                  </a:lnTo>
                  <a:lnTo>
                    <a:pt x="47554" y="230619"/>
                  </a:lnTo>
                  <a:lnTo>
                    <a:pt x="80295" y="250242"/>
                  </a:lnTo>
                  <a:lnTo>
                    <a:pt x="117322" y="259518"/>
                  </a:lnTo>
                  <a:lnTo>
                    <a:pt x="130071" y="260143"/>
                  </a:lnTo>
                  <a:lnTo>
                    <a:pt x="136461" y="259987"/>
                  </a:lnTo>
                  <a:lnTo>
                    <a:pt x="173884" y="252543"/>
                  </a:lnTo>
                  <a:lnTo>
                    <a:pt x="207562" y="234542"/>
                  </a:lnTo>
                  <a:lnTo>
                    <a:pt x="234542" y="207562"/>
                  </a:lnTo>
                  <a:lnTo>
                    <a:pt x="252543" y="173884"/>
                  </a:lnTo>
                  <a:lnTo>
                    <a:pt x="259987" y="136461"/>
                  </a:lnTo>
                  <a:lnTo>
                    <a:pt x="260143" y="130071"/>
                  </a:lnTo>
                  <a:lnTo>
                    <a:pt x="259987" y="123681"/>
                  </a:lnTo>
                  <a:lnTo>
                    <a:pt x="252543" y="86258"/>
                  </a:lnTo>
                  <a:lnTo>
                    <a:pt x="234542" y="52581"/>
                  </a:lnTo>
                  <a:lnTo>
                    <a:pt x="207562" y="25601"/>
                  </a:lnTo>
                  <a:lnTo>
                    <a:pt x="173884" y="7600"/>
                  </a:lnTo>
                  <a:lnTo>
                    <a:pt x="136461" y="156"/>
                  </a:lnTo>
                  <a:lnTo>
                    <a:pt x="130071" y="0"/>
                  </a:lnTo>
                  <a:lnTo>
                    <a:pt x="123681" y="156"/>
                  </a:lnTo>
                  <a:lnTo>
                    <a:pt x="86258" y="7600"/>
                  </a:lnTo>
                  <a:lnTo>
                    <a:pt x="52581" y="25601"/>
                  </a:lnTo>
                  <a:lnTo>
                    <a:pt x="25601" y="52581"/>
                  </a:lnTo>
                  <a:lnTo>
                    <a:pt x="7600" y="86258"/>
                  </a:lnTo>
                  <a:lnTo>
                    <a:pt x="156" y="123681"/>
                  </a:lnTo>
                  <a:lnTo>
                    <a:pt x="0" y="130071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4502171" y="8452604"/>
              <a:ext cx="255904" cy="255904"/>
            </a:xfrm>
            <a:custGeom>
              <a:avLst/>
              <a:gdLst/>
              <a:ahLst/>
              <a:cxnLst/>
              <a:rect l="l" t="t" r="r" b="b"/>
              <a:pathLst>
                <a:path w="255905" h="255904">
                  <a:moveTo>
                    <a:pt x="136212" y="255640"/>
                  </a:moveTo>
                  <a:lnTo>
                    <a:pt x="119427" y="255640"/>
                  </a:lnTo>
                  <a:lnTo>
                    <a:pt x="111115" y="254821"/>
                  </a:lnTo>
                  <a:lnTo>
                    <a:pt x="71151" y="242698"/>
                  </a:lnTo>
                  <a:lnTo>
                    <a:pt x="31503" y="212267"/>
                  </a:lnTo>
                  <a:lnTo>
                    <a:pt x="6517" y="168980"/>
                  </a:lnTo>
                  <a:lnTo>
                    <a:pt x="0" y="136212"/>
                  </a:lnTo>
                  <a:lnTo>
                    <a:pt x="0" y="127820"/>
                  </a:lnTo>
                  <a:lnTo>
                    <a:pt x="0" y="119427"/>
                  </a:lnTo>
                  <a:lnTo>
                    <a:pt x="12941" y="71151"/>
                  </a:lnTo>
                  <a:lnTo>
                    <a:pt x="43372" y="31503"/>
                  </a:lnTo>
                  <a:lnTo>
                    <a:pt x="86659" y="6517"/>
                  </a:lnTo>
                  <a:lnTo>
                    <a:pt x="119427" y="0"/>
                  </a:lnTo>
                  <a:lnTo>
                    <a:pt x="136212" y="0"/>
                  </a:lnTo>
                  <a:lnTo>
                    <a:pt x="184488" y="12941"/>
                  </a:lnTo>
                  <a:lnTo>
                    <a:pt x="224137" y="43372"/>
                  </a:lnTo>
                  <a:lnTo>
                    <a:pt x="249122" y="86659"/>
                  </a:lnTo>
                  <a:lnTo>
                    <a:pt x="255640" y="119427"/>
                  </a:lnTo>
                  <a:lnTo>
                    <a:pt x="255640" y="136212"/>
                  </a:lnTo>
                  <a:lnTo>
                    <a:pt x="242698" y="184488"/>
                  </a:lnTo>
                  <a:lnTo>
                    <a:pt x="212267" y="224137"/>
                  </a:lnTo>
                  <a:lnTo>
                    <a:pt x="168980" y="249122"/>
                  </a:lnTo>
                  <a:lnTo>
                    <a:pt x="144524" y="254821"/>
                  </a:lnTo>
                  <a:lnTo>
                    <a:pt x="136212" y="255640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4502171" y="8452604"/>
              <a:ext cx="255904" cy="255904"/>
            </a:xfrm>
            <a:custGeom>
              <a:avLst/>
              <a:gdLst/>
              <a:ahLst/>
              <a:cxnLst/>
              <a:rect l="l" t="t" r="r" b="b"/>
              <a:pathLst>
                <a:path w="255905" h="255904">
                  <a:moveTo>
                    <a:pt x="0" y="127820"/>
                  </a:moveTo>
                  <a:lnTo>
                    <a:pt x="0" y="136212"/>
                  </a:lnTo>
                  <a:lnTo>
                    <a:pt x="818" y="144524"/>
                  </a:lnTo>
                  <a:lnTo>
                    <a:pt x="2456" y="152756"/>
                  </a:lnTo>
                  <a:lnTo>
                    <a:pt x="4093" y="160987"/>
                  </a:lnTo>
                  <a:lnTo>
                    <a:pt x="6517" y="168980"/>
                  </a:lnTo>
                  <a:lnTo>
                    <a:pt x="9729" y="176734"/>
                  </a:lnTo>
                  <a:lnTo>
                    <a:pt x="12941" y="184488"/>
                  </a:lnTo>
                  <a:lnTo>
                    <a:pt x="16878" y="191854"/>
                  </a:lnTo>
                  <a:lnTo>
                    <a:pt x="21541" y="198833"/>
                  </a:lnTo>
                  <a:lnTo>
                    <a:pt x="26204" y="205811"/>
                  </a:lnTo>
                  <a:lnTo>
                    <a:pt x="31503" y="212267"/>
                  </a:lnTo>
                  <a:lnTo>
                    <a:pt x="37437" y="218202"/>
                  </a:lnTo>
                  <a:lnTo>
                    <a:pt x="43372" y="224137"/>
                  </a:lnTo>
                  <a:lnTo>
                    <a:pt x="49828" y="229435"/>
                  </a:lnTo>
                  <a:lnTo>
                    <a:pt x="56807" y="234098"/>
                  </a:lnTo>
                  <a:lnTo>
                    <a:pt x="63785" y="238761"/>
                  </a:lnTo>
                  <a:lnTo>
                    <a:pt x="102883" y="253184"/>
                  </a:lnTo>
                  <a:lnTo>
                    <a:pt x="111115" y="254821"/>
                  </a:lnTo>
                  <a:lnTo>
                    <a:pt x="119427" y="255640"/>
                  </a:lnTo>
                  <a:lnTo>
                    <a:pt x="127820" y="255640"/>
                  </a:lnTo>
                  <a:lnTo>
                    <a:pt x="136212" y="255640"/>
                  </a:lnTo>
                  <a:lnTo>
                    <a:pt x="144524" y="254821"/>
                  </a:lnTo>
                  <a:lnTo>
                    <a:pt x="152756" y="253184"/>
                  </a:lnTo>
                  <a:lnTo>
                    <a:pt x="160987" y="251546"/>
                  </a:lnTo>
                  <a:lnTo>
                    <a:pt x="168980" y="249122"/>
                  </a:lnTo>
                  <a:lnTo>
                    <a:pt x="176734" y="245910"/>
                  </a:lnTo>
                  <a:lnTo>
                    <a:pt x="184488" y="242698"/>
                  </a:lnTo>
                  <a:lnTo>
                    <a:pt x="191854" y="238761"/>
                  </a:lnTo>
                  <a:lnTo>
                    <a:pt x="198833" y="234098"/>
                  </a:lnTo>
                  <a:lnTo>
                    <a:pt x="205811" y="229435"/>
                  </a:lnTo>
                  <a:lnTo>
                    <a:pt x="212267" y="224137"/>
                  </a:lnTo>
                  <a:lnTo>
                    <a:pt x="218202" y="218202"/>
                  </a:lnTo>
                  <a:lnTo>
                    <a:pt x="224137" y="212267"/>
                  </a:lnTo>
                  <a:lnTo>
                    <a:pt x="229435" y="205811"/>
                  </a:lnTo>
                  <a:lnTo>
                    <a:pt x="234098" y="198833"/>
                  </a:lnTo>
                  <a:lnTo>
                    <a:pt x="238761" y="191854"/>
                  </a:lnTo>
                  <a:lnTo>
                    <a:pt x="253184" y="152756"/>
                  </a:lnTo>
                  <a:lnTo>
                    <a:pt x="254821" y="144524"/>
                  </a:lnTo>
                  <a:lnTo>
                    <a:pt x="255640" y="136212"/>
                  </a:lnTo>
                  <a:lnTo>
                    <a:pt x="255640" y="127820"/>
                  </a:lnTo>
                  <a:lnTo>
                    <a:pt x="255640" y="119427"/>
                  </a:lnTo>
                  <a:lnTo>
                    <a:pt x="254821" y="111115"/>
                  </a:lnTo>
                  <a:lnTo>
                    <a:pt x="253184" y="102883"/>
                  </a:lnTo>
                  <a:lnTo>
                    <a:pt x="251546" y="94652"/>
                  </a:lnTo>
                  <a:lnTo>
                    <a:pt x="249122" y="86659"/>
                  </a:lnTo>
                  <a:lnTo>
                    <a:pt x="245910" y="78905"/>
                  </a:lnTo>
                  <a:lnTo>
                    <a:pt x="242698" y="71151"/>
                  </a:lnTo>
                  <a:lnTo>
                    <a:pt x="238761" y="63785"/>
                  </a:lnTo>
                  <a:lnTo>
                    <a:pt x="234098" y="56807"/>
                  </a:lnTo>
                  <a:lnTo>
                    <a:pt x="229435" y="49828"/>
                  </a:lnTo>
                  <a:lnTo>
                    <a:pt x="224137" y="43372"/>
                  </a:lnTo>
                  <a:lnTo>
                    <a:pt x="218202" y="37437"/>
                  </a:lnTo>
                  <a:lnTo>
                    <a:pt x="212267" y="31503"/>
                  </a:lnTo>
                  <a:lnTo>
                    <a:pt x="205811" y="26204"/>
                  </a:lnTo>
                  <a:lnTo>
                    <a:pt x="198833" y="21541"/>
                  </a:lnTo>
                  <a:lnTo>
                    <a:pt x="191854" y="16878"/>
                  </a:lnTo>
                  <a:lnTo>
                    <a:pt x="152756" y="2456"/>
                  </a:lnTo>
                  <a:lnTo>
                    <a:pt x="144524" y="818"/>
                  </a:lnTo>
                  <a:lnTo>
                    <a:pt x="136212" y="0"/>
                  </a:lnTo>
                  <a:lnTo>
                    <a:pt x="127820" y="0"/>
                  </a:lnTo>
                  <a:lnTo>
                    <a:pt x="119427" y="0"/>
                  </a:lnTo>
                  <a:lnTo>
                    <a:pt x="111115" y="818"/>
                  </a:lnTo>
                  <a:lnTo>
                    <a:pt x="102883" y="2456"/>
                  </a:lnTo>
                  <a:lnTo>
                    <a:pt x="94652" y="4093"/>
                  </a:lnTo>
                  <a:lnTo>
                    <a:pt x="86659" y="6517"/>
                  </a:lnTo>
                  <a:lnTo>
                    <a:pt x="78905" y="9729"/>
                  </a:lnTo>
                  <a:lnTo>
                    <a:pt x="71151" y="12941"/>
                  </a:lnTo>
                  <a:lnTo>
                    <a:pt x="63785" y="16878"/>
                  </a:lnTo>
                  <a:lnTo>
                    <a:pt x="56807" y="21541"/>
                  </a:lnTo>
                  <a:lnTo>
                    <a:pt x="49828" y="26204"/>
                  </a:lnTo>
                  <a:lnTo>
                    <a:pt x="43372" y="31503"/>
                  </a:lnTo>
                  <a:lnTo>
                    <a:pt x="37437" y="37437"/>
                  </a:lnTo>
                  <a:lnTo>
                    <a:pt x="31503" y="43372"/>
                  </a:lnTo>
                  <a:lnTo>
                    <a:pt x="26204" y="49828"/>
                  </a:lnTo>
                  <a:lnTo>
                    <a:pt x="21541" y="56807"/>
                  </a:lnTo>
                  <a:lnTo>
                    <a:pt x="16878" y="63785"/>
                  </a:lnTo>
                  <a:lnTo>
                    <a:pt x="2456" y="102883"/>
                  </a:lnTo>
                  <a:lnTo>
                    <a:pt x="818" y="111115"/>
                  </a:lnTo>
                  <a:lnTo>
                    <a:pt x="0" y="119427"/>
                  </a:lnTo>
                  <a:lnTo>
                    <a:pt x="0" y="127820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93388" y="9046360"/>
              <a:ext cx="253091" cy="253091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266877" y="9598626"/>
              <a:ext cx="251042" cy="251042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722600" y="8347923"/>
              <a:ext cx="250414" cy="250414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36574" y="9102305"/>
              <a:ext cx="249858" cy="249967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09212" y="8485601"/>
              <a:ext cx="243622" cy="243622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451077" y="9703605"/>
              <a:ext cx="234795" cy="234795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9929811" y="271462"/>
              <a:ext cx="8572500" cy="6886575"/>
            </a:xfrm>
            <a:custGeom>
              <a:avLst/>
              <a:gdLst/>
              <a:ahLst/>
              <a:cxnLst/>
              <a:rect l="l" t="t" r="r" b="b"/>
              <a:pathLst>
                <a:path w="8572500" h="6886575">
                  <a:moveTo>
                    <a:pt x="8505752" y="6886574"/>
                  </a:moveTo>
                  <a:lnTo>
                    <a:pt x="66746" y="6886574"/>
                  </a:lnTo>
                  <a:lnTo>
                    <a:pt x="62101" y="6886116"/>
                  </a:lnTo>
                  <a:lnTo>
                    <a:pt x="24240" y="6868967"/>
                  </a:lnTo>
                  <a:lnTo>
                    <a:pt x="2287" y="6833673"/>
                  </a:lnTo>
                  <a:lnTo>
                    <a:pt x="0" y="6819827"/>
                  </a:lnTo>
                  <a:lnTo>
                    <a:pt x="0" y="6815136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8505752" y="0"/>
                  </a:lnTo>
                  <a:lnTo>
                    <a:pt x="8544649" y="14645"/>
                  </a:lnTo>
                  <a:lnTo>
                    <a:pt x="8568854" y="48433"/>
                  </a:lnTo>
                  <a:lnTo>
                    <a:pt x="8572498" y="66746"/>
                  </a:lnTo>
                  <a:lnTo>
                    <a:pt x="8572498" y="6819827"/>
                  </a:lnTo>
                  <a:lnTo>
                    <a:pt x="8557852" y="6858724"/>
                  </a:lnTo>
                  <a:lnTo>
                    <a:pt x="8524064" y="6882930"/>
                  </a:lnTo>
                  <a:lnTo>
                    <a:pt x="8510397" y="6886116"/>
                  </a:lnTo>
                  <a:lnTo>
                    <a:pt x="8505752" y="6886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929811" y="271462"/>
              <a:ext cx="8572500" cy="6886575"/>
            </a:xfrm>
            <a:custGeom>
              <a:avLst/>
              <a:gdLst/>
              <a:ahLst/>
              <a:cxnLst/>
              <a:rect l="l" t="t" r="r" b="b"/>
              <a:pathLst>
                <a:path w="8572500" h="6886575">
                  <a:moveTo>
                    <a:pt x="0" y="6815136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501061" y="0"/>
                  </a:lnTo>
                  <a:lnTo>
                    <a:pt x="8505752" y="0"/>
                  </a:lnTo>
                  <a:lnTo>
                    <a:pt x="8510397" y="457"/>
                  </a:lnTo>
                  <a:lnTo>
                    <a:pt x="8548258" y="17606"/>
                  </a:lnTo>
                  <a:lnTo>
                    <a:pt x="8551574" y="20923"/>
                  </a:lnTo>
                  <a:lnTo>
                    <a:pt x="8554891" y="24240"/>
                  </a:lnTo>
                  <a:lnTo>
                    <a:pt x="8572041" y="62101"/>
                  </a:lnTo>
                  <a:lnTo>
                    <a:pt x="8572499" y="71437"/>
                  </a:lnTo>
                  <a:lnTo>
                    <a:pt x="8572499" y="6815136"/>
                  </a:lnTo>
                  <a:lnTo>
                    <a:pt x="8572498" y="6819827"/>
                  </a:lnTo>
                  <a:lnTo>
                    <a:pt x="8572041" y="6824472"/>
                  </a:lnTo>
                  <a:lnTo>
                    <a:pt x="8571125" y="6829073"/>
                  </a:lnTo>
                  <a:lnTo>
                    <a:pt x="8570209" y="6833673"/>
                  </a:lnTo>
                  <a:lnTo>
                    <a:pt x="8551574" y="6865650"/>
                  </a:lnTo>
                  <a:lnTo>
                    <a:pt x="8548258" y="6868967"/>
                  </a:lnTo>
                  <a:lnTo>
                    <a:pt x="8514997" y="6885201"/>
                  </a:lnTo>
                  <a:lnTo>
                    <a:pt x="8510397" y="6886116"/>
                  </a:lnTo>
                  <a:lnTo>
                    <a:pt x="8505752" y="6886574"/>
                  </a:lnTo>
                  <a:lnTo>
                    <a:pt x="8501061" y="6886574"/>
                  </a:lnTo>
                  <a:lnTo>
                    <a:pt x="71437" y="6886574"/>
                  </a:lnTo>
                  <a:lnTo>
                    <a:pt x="66746" y="6886574"/>
                  </a:lnTo>
                  <a:lnTo>
                    <a:pt x="62101" y="6886116"/>
                  </a:lnTo>
                  <a:lnTo>
                    <a:pt x="57500" y="6885201"/>
                  </a:lnTo>
                  <a:lnTo>
                    <a:pt x="52900" y="6884285"/>
                  </a:lnTo>
                  <a:lnTo>
                    <a:pt x="20923" y="6865650"/>
                  </a:lnTo>
                  <a:lnTo>
                    <a:pt x="17606" y="6862334"/>
                  </a:lnTo>
                  <a:lnTo>
                    <a:pt x="1372" y="6829073"/>
                  </a:lnTo>
                  <a:lnTo>
                    <a:pt x="457" y="6824472"/>
                  </a:lnTo>
                  <a:lnTo>
                    <a:pt x="0" y="6819827"/>
                  </a:lnTo>
                  <a:lnTo>
                    <a:pt x="0" y="6815136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12806609" y="352488"/>
            <a:ext cx="2837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42424"/>
                </a:solidFill>
                <a:latin typeface="Tahoma"/>
                <a:cs typeface="Tahoma"/>
              </a:rPr>
              <a:t>Store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42424"/>
                </a:solidFill>
                <a:latin typeface="Tahoma"/>
                <a:cs typeface="Tahoma"/>
              </a:rPr>
              <a:t>Contribution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0074274" y="682625"/>
            <a:ext cx="2470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Store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Share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Store_Name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0948192" y="1295418"/>
            <a:ext cx="12376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Spark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&amp;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Play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Omaha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0702626" y="1718194"/>
            <a:ext cx="14833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Giggles &amp; Gadgets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Mesa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0748912" y="2140970"/>
            <a:ext cx="14370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Bluebird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 Toys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Naperville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0236496" y="2563747"/>
            <a:ext cx="19494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Wonderland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Newport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News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0582671" y="2986523"/>
            <a:ext cx="1603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City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Lights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Springfield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0652322" y="3409299"/>
            <a:ext cx="15335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Wonderland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Boulder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0619133" y="3832075"/>
            <a:ext cx="15665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Rocketship</a:t>
            </a:r>
            <a:r>
              <a:rPr sz="1050" spc="-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r>
              <a:rPr sz="1050" spc="-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Cleveland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0586689" y="4254852"/>
            <a:ext cx="15989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Wonderland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Knoxville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0717658" y="4677628"/>
            <a:ext cx="1468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Bluebird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 Toys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Gainesville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0657233" y="5100404"/>
            <a:ext cx="15284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City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Lights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Columbia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0229799" y="5523181"/>
            <a:ext cx="19558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Rainbow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 Toy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Market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Sacramento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0638779" y="5945957"/>
            <a:ext cx="15468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Space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Ranger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 Toys Tempe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10476258" y="6368734"/>
            <a:ext cx="17094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Tiny</a:t>
            </a:r>
            <a:r>
              <a:rPr sz="1050" spc="-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Treasures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Toys</a:t>
            </a:r>
            <a:r>
              <a:rPr sz="1050" spc="-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Riverside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12263436" y="1123949"/>
            <a:ext cx="0" cy="5622925"/>
          </a:xfrm>
          <a:custGeom>
            <a:avLst/>
            <a:gdLst/>
            <a:ahLst/>
            <a:cxnLst/>
            <a:rect l="l" t="t" r="r" b="b"/>
            <a:pathLst>
              <a:path h="5622925">
                <a:moveTo>
                  <a:pt x="0" y="5446155"/>
                </a:moveTo>
                <a:lnTo>
                  <a:pt x="0" y="5622924"/>
                </a:lnTo>
              </a:path>
              <a:path h="5622925">
                <a:moveTo>
                  <a:pt x="0" y="5023379"/>
                </a:moveTo>
                <a:lnTo>
                  <a:pt x="0" y="5242426"/>
                </a:lnTo>
              </a:path>
              <a:path h="5622925">
                <a:moveTo>
                  <a:pt x="0" y="4600602"/>
                </a:moveTo>
                <a:lnTo>
                  <a:pt x="0" y="4819649"/>
                </a:lnTo>
              </a:path>
              <a:path h="5622925">
                <a:moveTo>
                  <a:pt x="0" y="4177826"/>
                </a:moveTo>
                <a:lnTo>
                  <a:pt x="0" y="4396873"/>
                </a:lnTo>
              </a:path>
              <a:path h="5622925">
                <a:moveTo>
                  <a:pt x="0" y="3755049"/>
                </a:moveTo>
                <a:lnTo>
                  <a:pt x="0" y="3974097"/>
                </a:lnTo>
              </a:path>
              <a:path h="5622925">
                <a:moveTo>
                  <a:pt x="0" y="3332273"/>
                </a:moveTo>
                <a:lnTo>
                  <a:pt x="0" y="3551320"/>
                </a:lnTo>
              </a:path>
              <a:path h="5622925">
                <a:moveTo>
                  <a:pt x="0" y="2909497"/>
                </a:moveTo>
                <a:lnTo>
                  <a:pt x="0" y="3128544"/>
                </a:lnTo>
              </a:path>
              <a:path h="5622925">
                <a:moveTo>
                  <a:pt x="0" y="2486721"/>
                </a:moveTo>
                <a:lnTo>
                  <a:pt x="0" y="2705768"/>
                </a:lnTo>
              </a:path>
              <a:path h="5622925">
                <a:moveTo>
                  <a:pt x="0" y="2063944"/>
                </a:moveTo>
                <a:lnTo>
                  <a:pt x="0" y="2282991"/>
                </a:lnTo>
              </a:path>
              <a:path h="5622925">
                <a:moveTo>
                  <a:pt x="0" y="1641168"/>
                </a:moveTo>
                <a:lnTo>
                  <a:pt x="0" y="1860215"/>
                </a:lnTo>
              </a:path>
              <a:path h="5622925">
                <a:moveTo>
                  <a:pt x="0" y="1218392"/>
                </a:moveTo>
                <a:lnTo>
                  <a:pt x="0" y="1437439"/>
                </a:lnTo>
              </a:path>
              <a:path h="5622925">
                <a:moveTo>
                  <a:pt x="0" y="795615"/>
                </a:moveTo>
                <a:lnTo>
                  <a:pt x="0" y="1014663"/>
                </a:lnTo>
              </a:path>
              <a:path h="5622925">
                <a:moveTo>
                  <a:pt x="0" y="372839"/>
                </a:moveTo>
                <a:lnTo>
                  <a:pt x="0" y="591886"/>
                </a:lnTo>
              </a:path>
              <a:path h="5622925">
                <a:moveTo>
                  <a:pt x="0" y="0"/>
                </a:moveTo>
                <a:lnTo>
                  <a:pt x="0" y="16911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5168632" y="1123949"/>
            <a:ext cx="0" cy="5622925"/>
          </a:xfrm>
          <a:custGeom>
            <a:avLst/>
            <a:gdLst/>
            <a:ahLst/>
            <a:cxnLst/>
            <a:rect l="l" t="t" r="r" b="b"/>
            <a:pathLst>
              <a:path h="5622925">
                <a:moveTo>
                  <a:pt x="0" y="5446155"/>
                </a:moveTo>
                <a:lnTo>
                  <a:pt x="0" y="5622924"/>
                </a:lnTo>
              </a:path>
              <a:path h="5622925">
                <a:moveTo>
                  <a:pt x="0" y="5023379"/>
                </a:moveTo>
                <a:lnTo>
                  <a:pt x="0" y="5242426"/>
                </a:lnTo>
              </a:path>
              <a:path h="5622925">
                <a:moveTo>
                  <a:pt x="0" y="4600602"/>
                </a:moveTo>
                <a:lnTo>
                  <a:pt x="0" y="4819649"/>
                </a:lnTo>
              </a:path>
              <a:path h="5622925">
                <a:moveTo>
                  <a:pt x="0" y="4177826"/>
                </a:moveTo>
                <a:lnTo>
                  <a:pt x="0" y="4396873"/>
                </a:lnTo>
              </a:path>
              <a:path h="5622925">
                <a:moveTo>
                  <a:pt x="0" y="3755049"/>
                </a:moveTo>
                <a:lnTo>
                  <a:pt x="0" y="3974097"/>
                </a:lnTo>
              </a:path>
              <a:path h="5622925">
                <a:moveTo>
                  <a:pt x="0" y="3332273"/>
                </a:moveTo>
                <a:lnTo>
                  <a:pt x="0" y="3551320"/>
                </a:lnTo>
              </a:path>
              <a:path h="5622925">
                <a:moveTo>
                  <a:pt x="0" y="2909497"/>
                </a:moveTo>
                <a:lnTo>
                  <a:pt x="0" y="3128544"/>
                </a:lnTo>
              </a:path>
              <a:path h="5622925">
                <a:moveTo>
                  <a:pt x="0" y="2486721"/>
                </a:moveTo>
                <a:lnTo>
                  <a:pt x="0" y="2705768"/>
                </a:lnTo>
              </a:path>
              <a:path h="5622925">
                <a:moveTo>
                  <a:pt x="0" y="2063944"/>
                </a:moveTo>
                <a:lnTo>
                  <a:pt x="0" y="2282991"/>
                </a:lnTo>
              </a:path>
              <a:path h="5622925">
                <a:moveTo>
                  <a:pt x="0" y="1641168"/>
                </a:moveTo>
                <a:lnTo>
                  <a:pt x="0" y="1860215"/>
                </a:lnTo>
              </a:path>
              <a:path h="5622925">
                <a:moveTo>
                  <a:pt x="0" y="1218392"/>
                </a:moveTo>
                <a:lnTo>
                  <a:pt x="0" y="1437439"/>
                </a:lnTo>
              </a:path>
              <a:path h="5622925">
                <a:moveTo>
                  <a:pt x="0" y="795615"/>
                </a:moveTo>
                <a:lnTo>
                  <a:pt x="0" y="1014663"/>
                </a:lnTo>
              </a:path>
              <a:path h="5622925">
                <a:moveTo>
                  <a:pt x="0" y="372839"/>
                </a:moveTo>
                <a:lnTo>
                  <a:pt x="0" y="591886"/>
                </a:lnTo>
              </a:path>
              <a:path h="5622925">
                <a:moveTo>
                  <a:pt x="0" y="0"/>
                </a:moveTo>
                <a:lnTo>
                  <a:pt x="0" y="16911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2258662" y="1293062"/>
            <a:ext cx="5496560" cy="5277485"/>
          </a:xfrm>
          <a:custGeom>
            <a:avLst/>
            <a:gdLst/>
            <a:ahLst/>
            <a:cxnLst/>
            <a:rect l="l" t="t" r="r" b="b"/>
            <a:pathLst>
              <a:path w="5496559" h="5277484">
                <a:moveTo>
                  <a:pt x="3531971" y="5073320"/>
                </a:moveTo>
                <a:lnTo>
                  <a:pt x="0" y="5073320"/>
                </a:lnTo>
                <a:lnTo>
                  <a:pt x="0" y="5277053"/>
                </a:lnTo>
                <a:lnTo>
                  <a:pt x="3531971" y="5277053"/>
                </a:lnTo>
                <a:lnTo>
                  <a:pt x="3531971" y="5073320"/>
                </a:lnTo>
                <a:close/>
              </a:path>
              <a:path w="5496559" h="5277484">
                <a:moveTo>
                  <a:pt x="3706304" y="4650537"/>
                </a:moveTo>
                <a:lnTo>
                  <a:pt x="0" y="4650537"/>
                </a:lnTo>
                <a:lnTo>
                  <a:pt x="0" y="4854270"/>
                </a:lnTo>
                <a:lnTo>
                  <a:pt x="3706304" y="4854270"/>
                </a:lnTo>
                <a:lnTo>
                  <a:pt x="3706304" y="4650537"/>
                </a:lnTo>
                <a:close/>
              </a:path>
              <a:path w="5496559" h="5277484">
                <a:moveTo>
                  <a:pt x="3928427" y="4227766"/>
                </a:moveTo>
                <a:lnTo>
                  <a:pt x="0" y="4227766"/>
                </a:lnTo>
                <a:lnTo>
                  <a:pt x="0" y="4431500"/>
                </a:lnTo>
                <a:lnTo>
                  <a:pt x="3928427" y="4431500"/>
                </a:lnTo>
                <a:lnTo>
                  <a:pt x="3928427" y="4227766"/>
                </a:lnTo>
                <a:close/>
              </a:path>
              <a:path w="5496559" h="5277484">
                <a:moveTo>
                  <a:pt x="3994645" y="3804996"/>
                </a:moveTo>
                <a:lnTo>
                  <a:pt x="0" y="3804996"/>
                </a:lnTo>
                <a:lnTo>
                  <a:pt x="0" y="4008717"/>
                </a:lnTo>
                <a:lnTo>
                  <a:pt x="3994645" y="4008717"/>
                </a:lnTo>
                <a:lnTo>
                  <a:pt x="3994645" y="3804996"/>
                </a:lnTo>
                <a:close/>
              </a:path>
              <a:path w="5496559" h="5277484">
                <a:moveTo>
                  <a:pt x="4097197" y="3382213"/>
                </a:moveTo>
                <a:lnTo>
                  <a:pt x="0" y="3382213"/>
                </a:lnTo>
                <a:lnTo>
                  <a:pt x="0" y="3585946"/>
                </a:lnTo>
                <a:lnTo>
                  <a:pt x="4097197" y="3585946"/>
                </a:lnTo>
                <a:lnTo>
                  <a:pt x="4097197" y="3382213"/>
                </a:lnTo>
                <a:close/>
              </a:path>
              <a:path w="5496559" h="5277484">
                <a:moveTo>
                  <a:pt x="4105719" y="2959443"/>
                </a:moveTo>
                <a:lnTo>
                  <a:pt x="0" y="2959443"/>
                </a:lnTo>
                <a:lnTo>
                  <a:pt x="0" y="3163163"/>
                </a:lnTo>
                <a:lnTo>
                  <a:pt x="4105719" y="3163163"/>
                </a:lnTo>
                <a:lnTo>
                  <a:pt x="4105719" y="2959443"/>
                </a:lnTo>
                <a:close/>
              </a:path>
              <a:path w="5496559" h="5277484">
                <a:moveTo>
                  <a:pt x="4480712" y="2536660"/>
                </a:moveTo>
                <a:lnTo>
                  <a:pt x="0" y="2536660"/>
                </a:lnTo>
                <a:lnTo>
                  <a:pt x="0" y="2740393"/>
                </a:lnTo>
                <a:lnTo>
                  <a:pt x="4480712" y="2740393"/>
                </a:lnTo>
                <a:lnTo>
                  <a:pt x="4480712" y="2536660"/>
                </a:lnTo>
                <a:close/>
              </a:path>
              <a:path w="5496559" h="5277484">
                <a:moveTo>
                  <a:pt x="4601222" y="2113889"/>
                </a:moveTo>
                <a:lnTo>
                  <a:pt x="0" y="2113889"/>
                </a:lnTo>
                <a:lnTo>
                  <a:pt x="0" y="2317610"/>
                </a:lnTo>
                <a:lnTo>
                  <a:pt x="4601222" y="2317610"/>
                </a:lnTo>
                <a:lnTo>
                  <a:pt x="4601222" y="2113889"/>
                </a:lnTo>
                <a:close/>
              </a:path>
              <a:path w="5496559" h="5277484">
                <a:moveTo>
                  <a:pt x="5021529" y="1691106"/>
                </a:moveTo>
                <a:lnTo>
                  <a:pt x="0" y="1691106"/>
                </a:lnTo>
                <a:lnTo>
                  <a:pt x="0" y="1894840"/>
                </a:lnTo>
                <a:lnTo>
                  <a:pt x="5021529" y="1894840"/>
                </a:lnTo>
                <a:lnTo>
                  <a:pt x="5021529" y="1691106"/>
                </a:lnTo>
                <a:close/>
              </a:path>
              <a:path w="5496559" h="5277484">
                <a:moveTo>
                  <a:pt x="5252021" y="1268336"/>
                </a:moveTo>
                <a:lnTo>
                  <a:pt x="0" y="1268336"/>
                </a:lnTo>
                <a:lnTo>
                  <a:pt x="0" y="1472057"/>
                </a:lnTo>
                <a:lnTo>
                  <a:pt x="5252021" y="1472057"/>
                </a:lnTo>
                <a:lnTo>
                  <a:pt x="5252021" y="1268336"/>
                </a:lnTo>
                <a:close/>
              </a:path>
              <a:path w="5496559" h="5277484">
                <a:moveTo>
                  <a:pt x="5281231" y="845553"/>
                </a:moveTo>
                <a:lnTo>
                  <a:pt x="0" y="845553"/>
                </a:lnTo>
                <a:lnTo>
                  <a:pt x="0" y="1049286"/>
                </a:lnTo>
                <a:lnTo>
                  <a:pt x="5281231" y="1049286"/>
                </a:lnTo>
                <a:lnTo>
                  <a:pt x="5281231" y="845553"/>
                </a:lnTo>
                <a:close/>
              </a:path>
              <a:path w="5496559" h="5277484">
                <a:moveTo>
                  <a:pt x="5305298" y="422783"/>
                </a:moveTo>
                <a:lnTo>
                  <a:pt x="0" y="422783"/>
                </a:lnTo>
                <a:lnTo>
                  <a:pt x="0" y="626503"/>
                </a:lnTo>
                <a:lnTo>
                  <a:pt x="5305298" y="626503"/>
                </a:lnTo>
                <a:lnTo>
                  <a:pt x="5305298" y="422783"/>
                </a:lnTo>
                <a:close/>
              </a:path>
              <a:path w="5496559" h="5277484">
                <a:moveTo>
                  <a:pt x="5496242" y="0"/>
                </a:moveTo>
                <a:lnTo>
                  <a:pt x="0" y="0"/>
                </a:lnTo>
                <a:lnTo>
                  <a:pt x="0" y="203733"/>
                </a:lnTo>
                <a:lnTo>
                  <a:pt x="5496242" y="203733"/>
                </a:lnTo>
                <a:lnTo>
                  <a:pt x="5496242" y="0"/>
                </a:lnTo>
                <a:close/>
              </a:path>
            </a:pathLst>
          </a:custGeom>
          <a:solidFill>
            <a:srgbClr val="118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8073827" y="1123949"/>
            <a:ext cx="0" cy="5622925"/>
          </a:xfrm>
          <a:custGeom>
            <a:avLst/>
            <a:gdLst/>
            <a:ahLst/>
            <a:cxnLst/>
            <a:rect l="l" t="t" r="r" b="b"/>
            <a:pathLst>
              <a:path h="5622925">
                <a:moveTo>
                  <a:pt x="0" y="5622924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 txBox="1"/>
          <p:nvPr/>
        </p:nvSpPr>
        <p:spPr>
          <a:xfrm>
            <a:off x="17818527" y="1303905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0.0095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17627575" y="1726682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0.0091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17603506" y="2149458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0.0091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17574297" y="2572234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0.0090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17343814" y="2995010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0.0086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16923509" y="3417787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0.0079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6802991" y="3840563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0.0077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6428006" y="4263339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0.0071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16419472" y="4686116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0.0071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16316929" y="5108892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0.0069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16250707" y="5531668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0.0068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6028581" y="5954445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0.0064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15854253" y="6377221"/>
            <a:ext cx="3765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0.0061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2092532" y="6762749"/>
            <a:ext cx="3422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4997727" y="6762749"/>
            <a:ext cx="3422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0.005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7902922" y="6762749"/>
            <a:ext cx="3422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0.010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11458723" y="10013949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60K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3359753" y="10013949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70K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5260786" y="10013949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80K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17161816" y="10013949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90K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4183667" y="10194825"/>
            <a:ext cx="4902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1" name="Title 1">
            <a:extLst>
              <a:ext uri="{FF2B5EF4-FFF2-40B4-BE49-F238E27FC236}">
                <a16:creationId xmlns:a16="http://schemas.microsoft.com/office/drawing/2014/main" id="{B1936473-4C3A-04B4-43CA-FF9C2772208E}"/>
              </a:ext>
            </a:extLst>
          </p:cNvPr>
          <p:cNvSpPr txBox="1">
            <a:spLocks/>
          </p:cNvSpPr>
          <p:nvPr/>
        </p:nvSpPr>
        <p:spPr>
          <a:xfrm>
            <a:off x="407681" y="284797"/>
            <a:ext cx="744577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616161"/>
                </a:solidFill>
                <a:latin typeface="Segoe UI"/>
                <a:ea typeface="+mj-ea"/>
                <a:cs typeface="Segoe UI"/>
              </a:defRPr>
            </a:lvl1pPr>
          </a:lstStyle>
          <a:p>
            <a:r>
              <a:rPr lang="en-US" sz="2800" dirty="0"/>
              <a:t>Store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AFA">
              <a:alpha val="8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33374" y="228600"/>
            <a:ext cx="2686050" cy="3895725"/>
            <a:chOff x="333374" y="228600"/>
            <a:chExt cx="2686050" cy="3895725"/>
          </a:xfrm>
        </p:grpSpPr>
        <p:sp>
          <p:nvSpPr>
            <p:cNvPr id="5" name="object 5"/>
            <p:cNvSpPr/>
            <p:nvPr/>
          </p:nvSpPr>
          <p:spPr>
            <a:xfrm>
              <a:off x="338137" y="233362"/>
              <a:ext cx="2676525" cy="3886200"/>
            </a:xfrm>
            <a:custGeom>
              <a:avLst/>
              <a:gdLst/>
              <a:ahLst/>
              <a:cxnLst/>
              <a:rect l="l" t="t" r="r" b="b"/>
              <a:pathLst>
                <a:path w="2676525" h="3886200">
                  <a:moveTo>
                    <a:pt x="2609777" y="3886199"/>
                  </a:moveTo>
                  <a:lnTo>
                    <a:pt x="66746" y="3886199"/>
                  </a:lnTo>
                  <a:lnTo>
                    <a:pt x="62101" y="3885741"/>
                  </a:lnTo>
                  <a:lnTo>
                    <a:pt x="24240" y="3868592"/>
                  </a:lnTo>
                  <a:lnTo>
                    <a:pt x="2287" y="3833299"/>
                  </a:lnTo>
                  <a:lnTo>
                    <a:pt x="0" y="3819452"/>
                  </a:lnTo>
                  <a:lnTo>
                    <a:pt x="0" y="38147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2609777" y="0"/>
                  </a:lnTo>
                  <a:lnTo>
                    <a:pt x="2648675" y="14645"/>
                  </a:lnTo>
                  <a:lnTo>
                    <a:pt x="2672881" y="48433"/>
                  </a:lnTo>
                  <a:lnTo>
                    <a:pt x="2676524" y="66746"/>
                  </a:lnTo>
                  <a:lnTo>
                    <a:pt x="2676524" y="3819452"/>
                  </a:lnTo>
                  <a:lnTo>
                    <a:pt x="2661879" y="3858350"/>
                  </a:lnTo>
                  <a:lnTo>
                    <a:pt x="2628091" y="3882556"/>
                  </a:lnTo>
                  <a:lnTo>
                    <a:pt x="2614423" y="3885741"/>
                  </a:lnTo>
                  <a:lnTo>
                    <a:pt x="2609777" y="3886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8137" y="233362"/>
              <a:ext cx="2676525" cy="3886200"/>
            </a:xfrm>
            <a:custGeom>
              <a:avLst/>
              <a:gdLst/>
              <a:ahLst/>
              <a:cxnLst/>
              <a:rect l="l" t="t" r="r" b="b"/>
              <a:pathLst>
                <a:path w="2676525" h="3886200">
                  <a:moveTo>
                    <a:pt x="0" y="38147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605087" y="0"/>
                  </a:lnTo>
                  <a:lnTo>
                    <a:pt x="2609777" y="0"/>
                  </a:lnTo>
                  <a:lnTo>
                    <a:pt x="2614423" y="457"/>
                  </a:lnTo>
                  <a:lnTo>
                    <a:pt x="2619023" y="1372"/>
                  </a:lnTo>
                  <a:lnTo>
                    <a:pt x="2623624" y="2287"/>
                  </a:lnTo>
                  <a:lnTo>
                    <a:pt x="2658917" y="24240"/>
                  </a:lnTo>
                  <a:lnTo>
                    <a:pt x="2675151" y="57500"/>
                  </a:lnTo>
                  <a:lnTo>
                    <a:pt x="2676067" y="62101"/>
                  </a:lnTo>
                  <a:lnTo>
                    <a:pt x="2676524" y="66746"/>
                  </a:lnTo>
                  <a:lnTo>
                    <a:pt x="2676524" y="71437"/>
                  </a:lnTo>
                  <a:lnTo>
                    <a:pt x="2676524" y="3814762"/>
                  </a:lnTo>
                  <a:lnTo>
                    <a:pt x="2676524" y="3819452"/>
                  </a:lnTo>
                  <a:lnTo>
                    <a:pt x="2676067" y="3824098"/>
                  </a:lnTo>
                  <a:lnTo>
                    <a:pt x="2675151" y="3828698"/>
                  </a:lnTo>
                  <a:lnTo>
                    <a:pt x="2674236" y="3833299"/>
                  </a:lnTo>
                  <a:lnTo>
                    <a:pt x="2652284" y="3868592"/>
                  </a:lnTo>
                  <a:lnTo>
                    <a:pt x="2614423" y="3885741"/>
                  </a:lnTo>
                  <a:lnTo>
                    <a:pt x="2605087" y="3886199"/>
                  </a:lnTo>
                  <a:lnTo>
                    <a:pt x="71437" y="3886199"/>
                  </a:lnTo>
                  <a:lnTo>
                    <a:pt x="31748" y="3874159"/>
                  </a:lnTo>
                  <a:lnTo>
                    <a:pt x="27848" y="3871554"/>
                  </a:lnTo>
                  <a:lnTo>
                    <a:pt x="24240" y="3868592"/>
                  </a:lnTo>
                  <a:lnTo>
                    <a:pt x="20923" y="3865275"/>
                  </a:lnTo>
                  <a:lnTo>
                    <a:pt x="17606" y="3861959"/>
                  </a:lnTo>
                  <a:lnTo>
                    <a:pt x="5437" y="3842099"/>
                  </a:lnTo>
                  <a:lnTo>
                    <a:pt x="3642" y="3837766"/>
                  </a:lnTo>
                  <a:lnTo>
                    <a:pt x="2287" y="3833299"/>
                  </a:lnTo>
                  <a:lnTo>
                    <a:pt x="1372" y="3828698"/>
                  </a:lnTo>
                  <a:lnTo>
                    <a:pt x="457" y="3824098"/>
                  </a:lnTo>
                  <a:lnTo>
                    <a:pt x="0" y="3819452"/>
                  </a:lnTo>
                  <a:lnTo>
                    <a:pt x="0" y="381476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2600" y="330200"/>
            <a:ext cx="13900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5" dirty="0">
                <a:solidFill>
                  <a:srgbClr val="242424"/>
                </a:solidFill>
                <a:latin typeface="Tahoma"/>
                <a:cs typeface="Tahoma"/>
              </a:rPr>
              <a:t>Product_Category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5287" y="714374"/>
            <a:ext cx="2238375" cy="3143250"/>
          </a:xfrm>
          <a:custGeom>
            <a:avLst/>
            <a:gdLst/>
            <a:ahLst/>
            <a:cxnLst/>
            <a:rect l="l" t="t" r="r" b="b"/>
            <a:pathLst>
              <a:path w="2238375" h="3143250">
                <a:moveTo>
                  <a:pt x="2238375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0" y="3143250"/>
                </a:lnTo>
                <a:lnTo>
                  <a:pt x="2238375" y="3143250"/>
                </a:lnTo>
                <a:lnTo>
                  <a:pt x="2238375" y="285750"/>
                </a:lnTo>
                <a:lnTo>
                  <a:pt x="2238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6725" y="646430"/>
            <a:ext cx="1342390" cy="31686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Action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Figures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40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Arts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&amp;</a:t>
            </a:r>
            <a:r>
              <a:rPr sz="1200" spc="-5" dirty="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Crafts</a:t>
            </a:r>
            <a:endParaRPr sz="1200">
              <a:latin typeface="Segoe UI"/>
              <a:cs typeface="Segoe UI"/>
            </a:endParaRPr>
          </a:p>
          <a:p>
            <a:pPr marL="38100" marR="30480" indent="228600">
              <a:lnSpc>
                <a:spcPct val="156300"/>
              </a:lnSpc>
              <a:buFont typeface="Verdana"/>
              <a:buChar char="◉"/>
              <a:tabLst>
                <a:tab pos="266700" algn="l"/>
              </a:tabLst>
            </a:pP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Baby</a:t>
            </a:r>
            <a:r>
              <a:rPr sz="1200" spc="-5" dirty="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&amp;</a:t>
            </a:r>
            <a:r>
              <a:rPr sz="1200" spc="-5" dirty="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Toddler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Board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Games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Building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Blocks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Card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Games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Collectibles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Dolls</a:t>
            </a:r>
            <a:endParaRPr sz="1200">
              <a:latin typeface="Segoe UI"/>
              <a:cs typeface="Segoe UI"/>
            </a:endParaRPr>
          </a:p>
          <a:p>
            <a:pPr marL="38100" marR="177800">
              <a:lnSpc>
                <a:spcPct val="156300"/>
              </a:lnSpc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Educational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Model </a:t>
            </a:r>
            <a:r>
              <a:rPr sz="1200" spc="-20" dirty="0">
                <a:solidFill>
                  <a:srgbClr val="242424"/>
                </a:solidFill>
                <a:latin typeface="Segoe UI"/>
                <a:cs typeface="Segoe UI"/>
              </a:rPr>
              <a:t>Kits</a:t>
            </a:r>
            <a:r>
              <a:rPr sz="1200" spc="245" dirty="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Outdoor </a:t>
            </a:r>
            <a:r>
              <a:rPr sz="1200" spc="-20" dirty="0">
                <a:solidFill>
                  <a:srgbClr val="242424"/>
                </a:solidFill>
                <a:latin typeface="Segoe UI"/>
                <a:cs typeface="Segoe UI"/>
              </a:rPr>
              <a:t>Play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3375" y="714374"/>
            <a:ext cx="6762750" cy="9806305"/>
            <a:chOff x="333375" y="714374"/>
            <a:chExt cx="6762750" cy="9806305"/>
          </a:xfrm>
        </p:grpSpPr>
        <p:sp>
          <p:nvSpPr>
            <p:cNvPr id="11" name="object 11"/>
            <p:cNvSpPr/>
            <p:nvPr/>
          </p:nvSpPr>
          <p:spPr>
            <a:xfrm>
              <a:off x="495299" y="3857624"/>
              <a:ext cx="2238375" cy="104775"/>
            </a:xfrm>
            <a:custGeom>
              <a:avLst/>
              <a:gdLst/>
              <a:ahLst/>
              <a:cxnLst/>
              <a:rect l="l" t="t" r="r" b="b"/>
              <a:pathLst>
                <a:path w="2238375" h="104775">
                  <a:moveTo>
                    <a:pt x="2238374" y="104774"/>
                  </a:moveTo>
                  <a:lnTo>
                    <a:pt x="0" y="104774"/>
                  </a:lnTo>
                  <a:lnTo>
                    <a:pt x="0" y="0"/>
                  </a:lnTo>
                  <a:lnTo>
                    <a:pt x="2238374" y="0"/>
                  </a:lnTo>
                  <a:lnTo>
                    <a:pt x="2238374" y="104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81299" y="714374"/>
              <a:ext cx="76200" cy="2305050"/>
            </a:xfrm>
            <a:custGeom>
              <a:avLst/>
              <a:gdLst/>
              <a:ahLst/>
              <a:cxnLst/>
              <a:rect l="l" t="t" r="r" b="b"/>
              <a:pathLst>
                <a:path w="76200" h="2305050">
                  <a:moveTo>
                    <a:pt x="76199" y="2305049"/>
                  </a:moveTo>
                  <a:lnTo>
                    <a:pt x="0" y="230504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2305049"/>
                  </a:lnTo>
                  <a:close/>
                </a:path>
              </a:pathLst>
            </a:custGeom>
            <a:solidFill>
              <a:srgbClr val="8A8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8137" y="4129087"/>
              <a:ext cx="6753225" cy="6386830"/>
            </a:xfrm>
            <a:custGeom>
              <a:avLst/>
              <a:gdLst/>
              <a:ahLst/>
              <a:cxnLst/>
              <a:rect l="l" t="t" r="r" b="b"/>
              <a:pathLst>
                <a:path w="6753225" h="6386830">
                  <a:moveTo>
                    <a:pt x="6707490" y="6386512"/>
                  </a:moveTo>
                  <a:lnTo>
                    <a:pt x="45732" y="6386512"/>
                  </a:lnTo>
                  <a:lnTo>
                    <a:pt x="39765" y="6384040"/>
                  </a:lnTo>
                  <a:lnTo>
                    <a:pt x="9433" y="6355624"/>
                  </a:lnTo>
                  <a:lnTo>
                    <a:pt x="0" y="632452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686477" y="0"/>
                  </a:lnTo>
                  <a:lnTo>
                    <a:pt x="6725374" y="14645"/>
                  </a:lnTo>
                  <a:lnTo>
                    <a:pt x="6749580" y="48433"/>
                  </a:lnTo>
                  <a:lnTo>
                    <a:pt x="6753223" y="66746"/>
                  </a:lnTo>
                  <a:lnTo>
                    <a:pt x="6753223" y="6324527"/>
                  </a:lnTo>
                  <a:lnTo>
                    <a:pt x="6738577" y="6363424"/>
                  </a:lnTo>
                  <a:lnTo>
                    <a:pt x="6707490" y="63865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8137" y="4129087"/>
              <a:ext cx="6753225" cy="6386830"/>
            </a:xfrm>
            <a:custGeom>
              <a:avLst/>
              <a:gdLst/>
              <a:ahLst/>
              <a:cxnLst/>
              <a:rect l="l" t="t" r="r" b="b"/>
              <a:pathLst>
                <a:path w="6753225" h="6386830">
                  <a:moveTo>
                    <a:pt x="45732" y="6386512"/>
                  </a:moveTo>
                  <a:lnTo>
                    <a:pt x="44099" y="6385835"/>
                  </a:lnTo>
                  <a:lnTo>
                    <a:pt x="39765" y="6384040"/>
                  </a:lnTo>
                  <a:lnTo>
                    <a:pt x="35649" y="6381840"/>
                  </a:lnTo>
                  <a:lnTo>
                    <a:pt x="31748" y="6379234"/>
                  </a:lnTo>
                  <a:lnTo>
                    <a:pt x="27848" y="6376628"/>
                  </a:lnTo>
                  <a:lnTo>
                    <a:pt x="24240" y="6373667"/>
                  </a:lnTo>
                  <a:lnTo>
                    <a:pt x="20923" y="6370350"/>
                  </a:lnTo>
                  <a:lnTo>
                    <a:pt x="17606" y="6367033"/>
                  </a:lnTo>
                  <a:lnTo>
                    <a:pt x="14645" y="6363425"/>
                  </a:lnTo>
                  <a:lnTo>
                    <a:pt x="1372" y="6333772"/>
                  </a:lnTo>
                  <a:lnTo>
                    <a:pt x="457" y="6329172"/>
                  </a:lnTo>
                  <a:lnTo>
                    <a:pt x="0" y="6324527"/>
                  </a:lnTo>
                  <a:lnTo>
                    <a:pt x="0" y="6319836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681786" y="0"/>
                  </a:lnTo>
                  <a:lnTo>
                    <a:pt x="6686477" y="0"/>
                  </a:lnTo>
                  <a:lnTo>
                    <a:pt x="6691122" y="457"/>
                  </a:lnTo>
                  <a:lnTo>
                    <a:pt x="6695722" y="1372"/>
                  </a:lnTo>
                  <a:lnTo>
                    <a:pt x="6700323" y="2287"/>
                  </a:lnTo>
                  <a:lnTo>
                    <a:pt x="6704790" y="3642"/>
                  </a:lnTo>
                  <a:lnTo>
                    <a:pt x="6709123" y="5437"/>
                  </a:lnTo>
                  <a:lnTo>
                    <a:pt x="6713457" y="7232"/>
                  </a:lnTo>
                  <a:lnTo>
                    <a:pt x="6717574" y="9433"/>
                  </a:lnTo>
                  <a:lnTo>
                    <a:pt x="6721474" y="12039"/>
                  </a:lnTo>
                  <a:lnTo>
                    <a:pt x="6725374" y="14645"/>
                  </a:lnTo>
                  <a:lnTo>
                    <a:pt x="6728983" y="17606"/>
                  </a:lnTo>
                  <a:lnTo>
                    <a:pt x="6732300" y="20923"/>
                  </a:lnTo>
                  <a:lnTo>
                    <a:pt x="6735617" y="24240"/>
                  </a:lnTo>
                  <a:lnTo>
                    <a:pt x="6738577" y="27848"/>
                  </a:lnTo>
                  <a:lnTo>
                    <a:pt x="6741183" y="31748"/>
                  </a:lnTo>
                  <a:lnTo>
                    <a:pt x="6743789" y="35649"/>
                  </a:lnTo>
                  <a:lnTo>
                    <a:pt x="6745990" y="39765"/>
                  </a:lnTo>
                  <a:lnTo>
                    <a:pt x="6747785" y="44099"/>
                  </a:lnTo>
                  <a:lnTo>
                    <a:pt x="6749580" y="48433"/>
                  </a:lnTo>
                  <a:lnTo>
                    <a:pt x="6750935" y="52900"/>
                  </a:lnTo>
                  <a:lnTo>
                    <a:pt x="6751850" y="57500"/>
                  </a:lnTo>
                  <a:lnTo>
                    <a:pt x="6752765" y="62101"/>
                  </a:lnTo>
                  <a:lnTo>
                    <a:pt x="6753223" y="66746"/>
                  </a:lnTo>
                  <a:lnTo>
                    <a:pt x="6753224" y="71437"/>
                  </a:lnTo>
                  <a:lnTo>
                    <a:pt x="6753224" y="6319836"/>
                  </a:lnTo>
                  <a:lnTo>
                    <a:pt x="6753223" y="6324527"/>
                  </a:lnTo>
                  <a:lnTo>
                    <a:pt x="6752765" y="6329172"/>
                  </a:lnTo>
                  <a:lnTo>
                    <a:pt x="6751850" y="6333772"/>
                  </a:lnTo>
                  <a:lnTo>
                    <a:pt x="6750935" y="6338373"/>
                  </a:lnTo>
                  <a:lnTo>
                    <a:pt x="6749580" y="6342840"/>
                  </a:lnTo>
                  <a:lnTo>
                    <a:pt x="6747785" y="6347174"/>
                  </a:lnTo>
                  <a:lnTo>
                    <a:pt x="6745990" y="6351507"/>
                  </a:lnTo>
                  <a:lnTo>
                    <a:pt x="6743789" y="6355624"/>
                  </a:lnTo>
                  <a:lnTo>
                    <a:pt x="6741183" y="6359524"/>
                  </a:lnTo>
                  <a:lnTo>
                    <a:pt x="6738577" y="6363424"/>
                  </a:lnTo>
                  <a:lnTo>
                    <a:pt x="6735617" y="6367033"/>
                  </a:lnTo>
                  <a:lnTo>
                    <a:pt x="6732300" y="6370350"/>
                  </a:lnTo>
                  <a:lnTo>
                    <a:pt x="6728983" y="6373667"/>
                  </a:lnTo>
                  <a:lnTo>
                    <a:pt x="6725375" y="6376628"/>
                  </a:lnTo>
                  <a:lnTo>
                    <a:pt x="6721474" y="6379234"/>
                  </a:lnTo>
                  <a:lnTo>
                    <a:pt x="6717574" y="6381840"/>
                  </a:lnTo>
                  <a:lnTo>
                    <a:pt x="6713457" y="6384040"/>
                  </a:lnTo>
                  <a:lnTo>
                    <a:pt x="6709123" y="6385835"/>
                  </a:lnTo>
                  <a:lnTo>
                    <a:pt x="6707490" y="6386512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82600" y="4167770"/>
            <a:ext cx="4399915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096135">
              <a:lnSpc>
                <a:spcPct val="100000"/>
              </a:lnSpc>
              <a:spcBef>
                <a:spcPts val="430"/>
              </a:spcBef>
            </a:pPr>
            <a:r>
              <a:rPr sz="2000" spc="-90" dirty="0">
                <a:solidFill>
                  <a:srgbClr val="242424"/>
                </a:solidFill>
                <a:latin typeface="Tahoma"/>
                <a:cs typeface="Tahoma"/>
              </a:rPr>
              <a:t>Category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75" dirty="0">
                <a:solidFill>
                  <a:srgbClr val="242424"/>
                </a:solidFill>
                <a:latin typeface="Tahoma"/>
                <a:cs typeface="Tahoma"/>
              </a:rPr>
              <a:t>Performance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Margin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Quarter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Month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0041" y="4911575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70K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59550" y="4920320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43.7%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0041" y="5486250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60K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0041" y="6060926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50K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0041" y="6635601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0041" y="7210275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30K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0041" y="7784951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0041" y="8359626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10K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14387" y="5010149"/>
            <a:ext cx="5667375" cy="4032250"/>
            <a:chOff x="814387" y="5010149"/>
            <a:chExt cx="5667375" cy="4032250"/>
          </a:xfrm>
        </p:grpSpPr>
        <p:sp>
          <p:nvSpPr>
            <p:cNvPr id="17" name="object 17"/>
            <p:cNvSpPr/>
            <p:nvPr/>
          </p:nvSpPr>
          <p:spPr>
            <a:xfrm>
              <a:off x="819150" y="9037637"/>
              <a:ext cx="5657850" cy="0"/>
            </a:xfrm>
            <a:custGeom>
              <a:avLst/>
              <a:gdLst/>
              <a:ahLst/>
              <a:cxnLst/>
              <a:rect l="l" t="t" r="r" b="b"/>
              <a:pathLst>
                <a:path w="5657850">
                  <a:moveTo>
                    <a:pt x="0" y="0"/>
                  </a:moveTo>
                  <a:lnTo>
                    <a:pt x="56578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9150" y="5589586"/>
              <a:ext cx="5657850" cy="2873375"/>
            </a:xfrm>
            <a:custGeom>
              <a:avLst/>
              <a:gdLst/>
              <a:ahLst/>
              <a:cxnLst/>
              <a:rect l="l" t="t" r="r" b="b"/>
              <a:pathLst>
                <a:path w="5657850" h="2873375">
                  <a:moveTo>
                    <a:pt x="0" y="2873375"/>
                  </a:moveTo>
                  <a:lnTo>
                    <a:pt x="183995" y="2873375"/>
                  </a:lnTo>
                </a:path>
                <a:path w="5657850" h="2873375">
                  <a:moveTo>
                    <a:pt x="405004" y="2873375"/>
                  </a:moveTo>
                  <a:lnTo>
                    <a:pt x="643982" y="2873375"/>
                  </a:lnTo>
                </a:path>
                <a:path w="5657850" h="2873375">
                  <a:moveTo>
                    <a:pt x="864992" y="2873375"/>
                  </a:moveTo>
                  <a:lnTo>
                    <a:pt x="1103970" y="2873375"/>
                  </a:lnTo>
                </a:path>
                <a:path w="5657850" h="2873375">
                  <a:moveTo>
                    <a:pt x="1324980" y="2873375"/>
                  </a:moveTo>
                  <a:lnTo>
                    <a:pt x="1563958" y="2873375"/>
                  </a:lnTo>
                </a:path>
                <a:path w="5657850" h="2873375">
                  <a:moveTo>
                    <a:pt x="1784968" y="2873375"/>
                  </a:moveTo>
                  <a:lnTo>
                    <a:pt x="2023946" y="2873375"/>
                  </a:lnTo>
                </a:path>
                <a:path w="5657850" h="2873375">
                  <a:moveTo>
                    <a:pt x="2244955" y="2873375"/>
                  </a:moveTo>
                  <a:lnTo>
                    <a:pt x="2483933" y="2873375"/>
                  </a:lnTo>
                </a:path>
                <a:path w="5657850" h="2873375">
                  <a:moveTo>
                    <a:pt x="2704943" y="2873375"/>
                  </a:moveTo>
                  <a:lnTo>
                    <a:pt x="2943921" y="2873375"/>
                  </a:lnTo>
                </a:path>
                <a:path w="5657850" h="2873375">
                  <a:moveTo>
                    <a:pt x="3164931" y="2873375"/>
                  </a:moveTo>
                  <a:lnTo>
                    <a:pt x="3403909" y="2873375"/>
                  </a:lnTo>
                </a:path>
                <a:path w="5657850" h="2873375">
                  <a:moveTo>
                    <a:pt x="3624919" y="2873375"/>
                  </a:moveTo>
                  <a:lnTo>
                    <a:pt x="3863897" y="2873375"/>
                  </a:lnTo>
                </a:path>
                <a:path w="5657850" h="2873375">
                  <a:moveTo>
                    <a:pt x="4084907" y="2873375"/>
                  </a:moveTo>
                  <a:lnTo>
                    <a:pt x="4323885" y="2873375"/>
                  </a:lnTo>
                </a:path>
                <a:path w="5657850" h="2873375">
                  <a:moveTo>
                    <a:pt x="4544894" y="2873375"/>
                  </a:moveTo>
                  <a:lnTo>
                    <a:pt x="4783872" y="2873375"/>
                  </a:lnTo>
                </a:path>
                <a:path w="5657850" h="2873375">
                  <a:moveTo>
                    <a:pt x="5004882" y="2873375"/>
                  </a:moveTo>
                  <a:lnTo>
                    <a:pt x="5243860" y="2873375"/>
                  </a:lnTo>
                </a:path>
                <a:path w="5657850" h="2873375">
                  <a:moveTo>
                    <a:pt x="5464870" y="2873375"/>
                  </a:moveTo>
                  <a:lnTo>
                    <a:pt x="5657849" y="2873375"/>
                  </a:lnTo>
                </a:path>
                <a:path w="5657850" h="2873375">
                  <a:moveTo>
                    <a:pt x="0" y="2298700"/>
                  </a:moveTo>
                  <a:lnTo>
                    <a:pt x="183995" y="2298700"/>
                  </a:lnTo>
                </a:path>
                <a:path w="5657850" h="2873375">
                  <a:moveTo>
                    <a:pt x="405004" y="2298700"/>
                  </a:moveTo>
                  <a:lnTo>
                    <a:pt x="643982" y="2298700"/>
                  </a:lnTo>
                </a:path>
                <a:path w="5657850" h="2873375">
                  <a:moveTo>
                    <a:pt x="864992" y="2298700"/>
                  </a:moveTo>
                  <a:lnTo>
                    <a:pt x="1103970" y="2298700"/>
                  </a:lnTo>
                </a:path>
                <a:path w="5657850" h="2873375">
                  <a:moveTo>
                    <a:pt x="1324980" y="2298700"/>
                  </a:moveTo>
                  <a:lnTo>
                    <a:pt x="1563958" y="2298700"/>
                  </a:lnTo>
                </a:path>
                <a:path w="5657850" h="2873375">
                  <a:moveTo>
                    <a:pt x="1784968" y="2298700"/>
                  </a:moveTo>
                  <a:lnTo>
                    <a:pt x="2023946" y="2298700"/>
                  </a:lnTo>
                </a:path>
                <a:path w="5657850" h="2873375">
                  <a:moveTo>
                    <a:pt x="2244955" y="2298700"/>
                  </a:moveTo>
                  <a:lnTo>
                    <a:pt x="2483933" y="2298700"/>
                  </a:lnTo>
                </a:path>
                <a:path w="5657850" h="2873375">
                  <a:moveTo>
                    <a:pt x="2704943" y="2298700"/>
                  </a:moveTo>
                  <a:lnTo>
                    <a:pt x="2943921" y="2298700"/>
                  </a:lnTo>
                </a:path>
                <a:path w="5657850" h="2873375">
                  <a:moveTo>
                    <a:pt x="3164931" y="2298700"/>
                  </a:moveTo>
                  <a:lnTo>
                    <a:pt x="3403909" y="2298700"/>
                  </a:lnTo>
                </a:path>
                <a:path w="5657850" h="2873375">
                  <a:moveTo>
                    <a:pt x="3624919" y="2298700"/>
                  </a:moveTo>
                  <a:lnTo>
                    <a:pt x="3863897" y="2298700"/>
                  </a:lnTo>
                </a:path>
                <a:path w="5657850" h="2873375">
                  <a:moveTo>
                    <a:pt x="4084907" y="2298700"/>
                  </a:moveTo>
                  <a:lnTo>
                    <a:pt x="4323885" y="2298700"/>
                  </a:lnTo>
                </a:path>
                <a:path w="5657850" h="2873375">
                  <a:moveTo>
                    <a:pt x="4544894" y="2298700"/>
                  </a:moveTo>
                  <a:lnTo>
                    <a:pt x="4783872" y="2298700"/>
                  </a:lnTo>
                </a:path>
                <a:path w="5657850" h="2873375">
                  <a:moveTo>
                    <a:pt x="5004882" y="2298700"/>
                  </a:moveTo>
                  <a:lnTo>
                    <a:pt x="5243860" y="2298700"/>
                  </a:lnTo>
                </a:path>
                <a:path w="5657850" h="2873375">
                  <a:moveTo>
                    <a:pt x="5464870" y="2298700"/>
                  </a:moveTo>
                  <a:lnTo>
                    <a:pt x="5657849" y="2298700"/>
                  </a:lnTo>
                </a:path>
                <a:path w="5657850" h="2873375">
                  <a:moveTo>
                    <a:pt x="0" y="1724024"/>
                  </a:moveTo>
                  <a:lnTo>
                    <a:pt x="183995" y="1724024"/>
                  </a:lnTo>
                </a:path>
                <a:path w="5657850" h="2873375">
                  <a:moveTo>
                    <a:pt x="405004" y="1724024"/>
                  </a:moveTo>
                  <a:lnTo>
                    <a:pt x="643982" y="1724024"/>
                  </a:lnTo>
                </a:path>
                <a:path w="5657850" h="2873375">
                  <a:moveTo>
                    <a:pt x="864992" y="1724024"/>
                  </a:moveTo>
                  <a:lnTo>
                    <a:pt x="1103970" y="1724024"/>
                  </a:lnTo>
                </a:path>
                <a:path w="5657850" h="2873375">
                  <a:moveTo>
                    <a:pt x="1324980" y="1724024"/>
                  </a:moveTo>
                  <a:lnTo>
                    <a:pt x="1563958" y="1724024"/>
                  </a:lnTo>
                </a:path>
                <a:path w="5657850" h="2873375">
                  <a:moveTo>
                    <a:pt x="1784968" y="1724024"/>
                  </a:moveTo>
                  <a:lnTo>
                    <a:pt x="2023946" y="1724024"/>
                  </a:lnTo>
                </a:path>
                <a:path w="5657850" h="2873375">
                  <a:moveTo>
                    <a:pt x="2244955" y="1724024"/>
                  </a:moveTo>
                  <a:lnTo>
                    <a:pt x="2483933" y="1724024"/>
                  </a:lnTo>
                </a:path>
                <a:path w="5657850" h="2873375">
                  <a:moveTo>
                    <a:pt x="2704943" y="1724024"/>
                  </a:moveTo>
                  <a:lnTo>
                    <a:pt x="2943921" y="1724024"/>
                  </a:lnTo>
                </a:path>
                <a:path w="5657850" h="2873375">
                  <a:moveTo>
                    <a:pt x="3164931" y="1724024"/>
                  </a:moveTo>
                  <a:lnTo>
                    <a:pt x="3403909" y="1724024"/>
                  </a:lnTo>
                </a:path>
                <a:path w="5657850" h="2873375">
                  <a:moveTo>
                    <a:pt x="3624919" y="1724024"/>
                  </a:moveTo>
                  <a:lnTo>
                    <a:pt x="3863897" y="1724024"/>
                  </a:lnTo>
                </a:path>
                <a:path w="5657850" h="2873375">
                  <a:moveTo>
                    <a:pt x="4084907" y="1724024"/>
                  </a:moveTo>
                  <a:lnTo>
                    <a:pt x="4323885" y="1724024"/>
                  </a:lnTo>
                </a:path>
                <a:path w="5657850" h="2873375">
                  <a:moveTo>
                    <a:pt x="4544894" y="1724024"/>
                  </a:moveTo>
                  <a:lnTo>
                    <a:pt x="4783872" y="1724024"/>
                  </a:lnTo>
                </a:path>
                <a:path w="5657850" h="2873375">
                  <a:moveTo>
                    <a:pt x="5004882" y="1724024"/>
                  </a:moveTo>
                  <a:lnTo>
                    <a:pt x="5243860" y="1724024"/>
                  </a:lnTo>
                </a:path>
                <a:path w="5657850" h="2873375">
                  <a:moveTo>
                    <a:pt x="5464870" y="1724024"/>
                  </a:moveTo>
                  <a:lnTo>
                    <a:pt x="5657849" y="1724024"/>
                  </a:lnTo>
                </a:path>
                <a:path w="5657850" h="2873375">
                  <a:moveTo>
                    <a:pt x="0" y="1149350"/>
                  </a:moveTo>
                  <a:lnTo>
                    <a:pt x="183995" y="1149350"/>
                  </a:lnTo>
                </a:path>
                <a:path w="5657850" h="2873375">
                  <a:moveTo>
                    <a:pt x="405004" y="1149350"/>
                  </a:moveTo>
                  <a:lnTo>
                    <a:pt x="643982" y="1149350"/>
                  </a:lnTo>
                </a:path>
                <a:path w="5657850" h="2873375">
                  <a:moveTo>
                    <a:pt x="864992" y="1149350"/>
                  </a:moveTo>
                  <a:lnTo>
                    <a:pt x="1103970" y="1149350"/>
                  </a:lnTo>
                </a:path>
                <a:path w="5657850" h="2873375">
                  <a:moveTo>
                    <a:pt x="1324980" y="1149350"/>
                  </a:moveTo>
                  <a:lnTo>
                    <a:pt x="1563958" y="1149350"/>
                  </a:lnTo>
                </a:path>
                <a:path w="5657850" h="2873375">
                  <a:moveTo>
                    <a:pt x="1784968" y="1149350"/>
                  </a:moveTo>
                  <a:lnTo>
                    <a:pt x="2023946" y="1149350"/>
                  </a:lnTo>
                </a:path>
                <a:path w="5657850" h="2873375">
                  <a:moveTo>
                    <a:pt x="2244955" y="1149350"/>
                  </a:moveTo>
                  <a:lnTo>
                    <a:pt x="2483933" y="1149350"/>
                  </a:lnTo>
                </a:path>
                <a:path w="5657850" h="2873375">
                  <a:moveTo>
                    <a:pt x="2704943" y="1149350"/>
                  </a:moveTo>
                  <a:lnTo>
                    <a:pt x="2943921" y="1149350"/>
                  </a:lnTo>
                </a:path>
                <a:path w="5657850" h="2873375">
                  <a:moveTo>
                    <a:pt x="3164931" y="1149350"/>
                  </a:moveTo>
                  <a:lnTo>
                    <a:pt x="3403909" y="1149350"/>
                  </a:lnTo>
                </a:path>
                <a:path w="5657850" h="2873375">
                  <a:moveTo>
                    <a:pt x="3624919" y="1149350"/>
                  </a:moveTo>
                  <a:lnTo>
                    <a:pt x="3863897" y="1149350"/>
                  </a:lnTo>
                </a:path>
                <a:path w="5657850" h="2873375">
                  <a:moveTo>
                    <a:pt x="4084907" y="1149350"/>
                  </a:moveTo>
                  <a:lnTo>
                    <a:pt x="4323885" y="1149350"/>
                  </a:lnTo>
                </a:path>
                <a:path w="5657850" h="2873375">
                  <a:moveTo>
                    <a:pt x="4544894" y="1149350"/>
                  </a:moveTo>
                  <a:lnTo>
                    <a:pt x="4783872" y="1149350"/>
                  </a:lnTo>
                </a:path>
                <a:path w="5657850" h="2873375">
                  <a:moveTo>
                    <a:pt x="5004882" y="1149350"/>
                  </a:moveTo>
                  <a:lnTo>
                    <a:pt x="5243860" y="1149350"/>
                  </a:lnTo>
                </a:path>
                <a:path w="5657850" h="2873375">
                  <a:moveTo>
                    <a:pt x="5464870" y="1149350"/>
                  </a:moveTo>
                  <a:lnTo>
                    <a:pt x="5657849" y="1149350"/>
                  </a:lnTo>
                </a:path>
                <a:path w="5657850" h="2873375">
                  <a:moveTo>
                    <a:pt x="0" y="574675"/>
                  </a:moveTo>
                  <a:lnTo>
                    <a:pt x="183995" y="574675"/>
                  </a:lnTo>
                </a:path>
                <a:path w="5657850" h="2873375">
                  <a:moveTo>
                    <a:pt x="405004" y="574675"/>
                  </a:moveTo>
                  <a:lnTo>
                    <a:pt x="643982" y="574675"/>
                  </a:lnTo>
                </a:path>
                <a:path w="5657850" h="2873375">
                  <a:moveTo>
                    <a:pt x="864992" y="574675"/>
                  </a:moveTo>
                  <a:lnTo>
                    <a:pt x="1103970" y="574675"/>
                  </a:lnTo>
                </a:path>
                <a:path w="5657850" h="2873375">
                  <a:moveTo>
                    <a:pt x="1324980" y="574675"/>
                  </a:moveTo>
                  <a:lnTo>
                    <a:pt x="1563958" y="574675"/>
                  </a:lnTo>
                </a:path>
                <a:path w="5657850" h="2873375">
                  <a:moveTo>
                    <a:pt x="1784968" y="574675"/>
                  </a:moveTo>
                  <a:lnTo>
                    <a:pt x="2023946" y="574675"/>
                  </a:lnTo>
                </a:path>
                <a:path w="5657850" h="2873375">
                  <a:moveTo>
                    <a:pt x="2244955" y="574675"/>
                  </a:moveTo>
                  <a:lnTo>
                    <a:pt x="2483933" y="574675"/>
                  </a:lnTo>
                </a:path>
                <a:path w="5657850" h="2873375">
                  <a:moveTo>
                    <a:pt x="2704943" y="574675"/>
                  </a:moveTo>
                  <a:lnTo>
                    <a:pt x="2943921" y="574675"/>
                  </a:lnTo>
                </a:path>
                <a:path w="5657850" h="2873375">
                  <a:moveTo>
                    <a:pt x="3164931" y="574675"/>
                  </a:moveTo>
                  <a:lnTo>
                    <a:pt x="3403909" y="574675"/>
                  </a:lnTo>
                </a:path>
                <a:path w="5657850" h="2873375">
                  <a:moveTo>
                    <a:pt x="3624919" y="574675"/>
                  </a:moveTo>
                  <a:lnTo>
                    <a:pt x="3863897" y="574675"/>
                  </a:lnTo>
                </a:path>
                <a:path w="5657850" h="2873375">
                  <a:moveTo>
                    <a:pt x="4084907" y="574675"/>
                  </a:moveTo>
                  <a:lnTo>
                    <a:pt x="4323885" y="574675"/>
                  </a:lnTo>
                </a:path>
                <a:path w="5657850" h="2873375">
                  <a:moveTo>
                    <a:pt x="4544894" y="574675"/>
                  </a:moveTo>
                  <a:lnTo>
                    <a:pt x="4783872" y="574675"/>
                  </a:lnTo>
                </a:path>
                <a:path w="5657850" h="2873375">
                  <a:moveTo>
                    <a:pt x="5004882" y="574675"/>
                  </a:moveTo>
                  <a:lnTo>
                    <a:pt x="5243860" y="574675"/>
                  </a:lnTo>
                </a:path>
                <a:path w="5657850" h="2873375">
                  <a:moveTo>
                    <a:pt x="5464870" y="574675"/>
                  </a:moveTo>
                  <a:lnTo>
                    <a:pt x="5657849" y="574675"/>
                  </a:lnTo>
                </a:path>
                <a:path w="5657850" h="2873375">
                  <a:moveTo>
                    <a:pt x="0" y="0"/>
                  </a:moveTo>
                  <a:lnTo>
                    <a:pt x="183995" y="0"/>
                  </a:lnTo>
                </a:path>
                <a:path w="5657850" h="2873375">
                  <a:moveTo>
                    <a:pt x="405004" y="0"/>
                  </a:moveTo>
                  <a:lnTo>
                    <a:pt x="643982" y="0"/>
                  </a:lnTo>
                </a:path>
                <a:path w="5657850" h="2873375">
                  <a:moveTo>
                    <a:pt x="864992" y="0"/>
                  </a:moveTo>
                  <a:lnTo>
                    <a:pt x="1103970" y="0"/>
                  </a:lnTo>
                </a:path>
                <a:path w="5657850" h="2873375">
                  <a:moveTo>
                    <a:pt x="1324980" y="0"/>
                  </a:moveTo>
                  <a:lnTo>
                    <a:pt x="2023946" y="0"/>
                  </a:lnTo>
                </a:path>
                <a:path w="5657850" h="2873375">
                  <a:moveTo>
                    <a:pt x="2244955" y="0"/>
                  </a:moveTo>
                  <a:lnTo>
                    <a:pt x="2483933" y="0"/>
                  </a:lnTo>
                </a:path>
                <a:path w="5657850" h="2873375">
                  <a:moveTo>
                    <a:pt x="2704943" y="0"/>
                  </a:moveTo>
                  <a:lnTo>
                    <a:pt x="2943921" y="0"/>
                  </a:lnTo>
                </a:path>
                <a:path w="5657850" h="2873375">
                  <a:moveTo>
                    <a:pt x="3164931" y="0"/>
                  </a:moveTo>
                  <a:lnTo>
                    <a:pt x="3403909" y="0"/>
                  </a:lnTo>
                </a:path>
                <a:path w="5657850" h="2873375">
                  <a:moveTo>
                    <a:pt x="3624919" y="0"/>
                  </a:moveTo>
                  <a:lnTo>
                    <a:pt x="4323885" y="0"/>
                  </a:lnTo>
                </a:path>
                <a:path w="5657850" h="2873375">
                  <a:moveTo>
                    <a:pt x="4544894" y="0"/>
                  </a:moveTo>
                  <a:lnTo>
                    <a:pt x="4783872" y="0"/>
                  </a:lnTo>
                </a:path>
                <a:path w="5657850" h="2873375">
                  <a:moveTo>
                    <a:pt x="5004882" y="0"/>
                  </a:moveTo>
                  <a:lnTo>
                    <a:pt x="5243860" y="0"/>
                  </a:lnTo>
                </a:path>
                <a:path w="5657850" h="2873375">
                  <a:moveTo>
                    <a:pt x="5464870" y="0"/>
                  </a:moveTo>
                  <a:lnTo>
                    <a:pt x="56578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9150" y="5014912"/>
              <a:ext cx="5657850" cy="0"/>
            </a:xfrm>
            <a:custGeom>
              <a:avLst/>
              <a:gdLst/>
              <a:ahLst/>
              <a:cxnLst/>
              <a:rect l="l" t="t" r="r" b="b"/>
              <a:pathLst>
                <a:path w="5657850">
                  <a:moveTo>
                    <a:pt x="0" y="0"/>
                  </a:moveTo>
                  <a:lnTo>
                    <a:pt x="56578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19849" y="9037637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19849" y="846296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19849" y="7888286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19849" y="7313611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19849" y="6738937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19849" y="616426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19849" y="5589586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19849" y="501491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559550" y="5494995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43.6%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59550" y="6069671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43.5%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59550" y="6644345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43.4%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59550" y="7219020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43.3%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59550" y="7793695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43.2%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59550" y="8368370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1925" y="8934301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59550" y="8943046"/>
            <a:ext cx="34544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43.0%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08275" y="9080486"/>
            <a:ext cx="203200" cy="470534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January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468263" y="9080551"/>
            <a:ext cx="203200" cy="53975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February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28251" y="9080468"/>
            <a:ext cx="203200" cy="396875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March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88239" y="9080570"/>
            <a:ext cx="203200" cy="30099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April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48227" y="9080449"/>
            <a:ext cx="203200" cy="27813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May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308214" y="9080524"/>
            <a:ext cx="203200" cy="294005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June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68202" y="9080533"/>
            <a:ext cx="203200" cy="245745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July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28190" y="9080524"/>
            <a:ext cx="203200" cy="44323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August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88178" y="9080589"/>
            <a:ext cx="203200" cy="668655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September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48166" y="9080478"/>
            <a:ext cx="203200" cy="505459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October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608153" y="9080515"/>
            <a:ext cx="203200" cy="64643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November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068141" y="9080478"/>
            <a:ext cx="203200" cy="629920"/>
          </a:xfrm>
          <a:prstGeom prst="rect">
            <a:avLst/>
          </a:prstGeom>
        </p:spPr>
        <p:txBody>
          <a:bodyPr vert="vert270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December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49521" y="4981574"/>
            <a:ext cx="5597525" cy="5037455"/>
            <a:chOff x="849521" y="4981574"/>
            <a:chExt cx="5597525" cy="5037455"/>
          </a:xfrm>
        </p:grpSpPr>
        <p:sp>
          <p:nvSpPr>
            <p:cNvPr id="57" name="object 57"/>
            <p:cNvSpPr/>
            <p:nvPr/>
          </p:nvSpPr>
          <p:spPr>
            <a:xfrm>
              <a:off x="888148" y="9042400"/>
              <a:ext cx="1380490" cy="971550"/>
            </a:xfrm>
            <a:custGeom>
              <a:avLst/>
              <a:gdLst/>
              <a:ahLst/>
              <a:cxnLst/>
              <a:rect l="l" t="t" r="r" b="b"/>
              <a:pathLst>
                <a:path w="1380489" h="971550">
                  <a:moveTo>
                    <a:pt x="0" y="971549"/>
                  </a:moveTo>
                  <a:lnTo>
                    <a:pt x="0" y="0"/>
                  </a:lnTo>
                </a:path>
                <a:path w="1380489" h="971550">
                  <a:moveTo>
                    <a:pt x="1379963" y="971549"/>
                  </a:moveTo>
                  <a:lnTo>
                    <a:pt x="137996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268111" y="9042400"/>
              <a:ext cx="1380490" cy="971550"/>
            </a:xfrm>
            <a:custGeom>
              <a:avLst/>
              <a:gdLst/>
              <a:ahLst/>
              <a:cxnLst/>
              <a:rect l="l" t="t" r="r" b="b"/>
              <a:pathLst>
                <a:path w="1380489" h="971550">
                  <a:moveTo>
                    <a:pt x="0" y="971549"/>
                  </a:moveTo>
                  <a:lnTo>
                    <a:pt x="0" y="0"/>
                  </a:lnTo>
                </a:path>
                <a:path w="1380489" h="971550">
                  <a:moveTo>
                    <a:pt x="1379963" y="971549"/>
                  </a:moveTo>
                  <a:lnTo>
                    <a:pt x="137996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648074" y="9042400"/>
              <a:ext cx="1380490" cy="971550"/>
            </a:xfrm>
            <a:custGeom>
              <a:avLst/>
              <a:gdLst/>
              <a:ahLst/>
              <a:cxnLst/>
              <a:rect l="l" t="t" r="r" b="b"/>
              <a:pathLst>
                <a:path w="1380489" h="971550">
                  <a:moveTo>
                    <a:pt x="0" y="971549"/>
                  </a:moveTo>
                  <a:lnTo>
                    <a:pt x="0" y="0"/>
                  </a:lnTo>
                </a:path>
                <a:path w="1380489" h="971550">
                  <a:moveTo>
                    <a:pt x="1379963" y="971549"/>
                  </a:moveTo>
                  <a:lnTo>
                    <a:pt x="137996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028038" y="9042400"/>
              <a:ext cx="1380490" cy="971550"/>
            </a:xfrm>
            <a:custGeom>
              <a:avLst/>
              <a:gdLst/>
              <a:ahLst/>
              <a:cxnLst/>
              <a:rect l="l" t="t" r="r" b="b"/>
              <a:pathLst>
                <a:path w="1380489" h="971550">
                  <a:moveTo>
                    <a:pt x="0" y="971549"/>
                  </a:moveTo>
                  <a:lnTo>
                    <a:pt x="0" y="0"/>
                  </a:lnTo>
                </a:path>
                <a:path w="1380489" h="971550">
                  <a:moveTo>
                    <a:pt x="1379963" y="971549"/>
                  </a:moveTo>
                  <a:lnTo>
                    <a:pt x="1379963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003134" y="5325668"/>
              <a:ext cx="5281295" cy="3707765"/>
            </a:xfrm>
            <a:custGeom>
              <a:avLst/>
              <a:gdLst/>
              <a:ahLst/>
              <a:cxnLst/>
              <a:rect l="l" t="t" r="r" b="b"/>
              <a:pathLst>
                <a:path w="5281295" h="3707765">
                  <a:moveTo>
                    <a:pt x="221018" y="2032"/>
                  </a:moveTo>
                  <a:lnTo>
                    <a:pt x="0" y="2032"/>
                  </a:lnTo>
                  <a:lnTo>
                    <a:pt x="0" y="3707206"/>
                  </a:lnTo>
                  <a:lnTo>
                    <a:pt x="221018" y="3707206"/>
                  </a:lnTo>
                  <a:lnTo>
                    <a:pt x="221018" y="2032"/>
                  </a:lnTo>
                  <a:close/>
                </a:path>
                <a:path w="5281295" h="3707765">
                  <a:moveTo>
                    <a:pt x="680999" y="200101"/>
                  </a:moveTo>
                  <a:lnTo>
                    <a:pt x="459994" y="200101"/>
                  </a:lnTo>
                  <a:lnTo>
                    <a:pt x="459994" y="3707206"/>
                  </a:lnTo>
                  <a:lnTo>
                    <a:pt x="680999" y="3707206"/>
                  </a:lnTo>
                  <a:lnTo>
                    <a:pt x="680999" y="200101"/>
                  </a:lnTo>
                  <a:close/>
                </a:path>
                <a:path w="5281295" h="3707765">
                  <a:moveTo>
                    <a:pt x="1140993" y="0"/>
                  </a:moveTo>
                  <a:lnTo>
                    <a:pt x="919975" y="0"/>
                  </a:lnTo>
                  <a:lnTo>
                    <a:pt x="919975" y="3707206"/>
                  </a:lnTo>
                  <a:lnTo>
                    <a:pt x="1140993" y="3707206"/>
                  </a:lnTo>
                  <a:lnTo>
                    <a:pt x="1140993" y="0"/>
                  </a:lnTo>
                  <a:close/>
                </a:path>
                <a:path w="5281295" h="3707765">
                  <a:moveTo>
                    <a:pt x="1600974" y="308470"/>
                  </a:moveTo>
                  <a:lnTo>
                    <a:pt x="1379969" y="308470"/>
                  </a:lnTo>
                  <a:lnTo>
                    <a:pt x="1379969" y="3707206"/>
                  </a:lnTo>
                  <a:lnTo>
                    <a:pt x="1600974" y="3707206"/>
                  </a:lnTo>
                  <a:lnTo>
                    <a:pt x="1600974" y="308470"/>
                  </a:lnTo>
                  <a:close/>
                </a:path>
                <a:path w="5281295" h="3707765">
                  <a:moveTo>
                    <a:pt x="2060968" y="58445"/>
                  </a:moveTo>
                  <a:lnTo>
                    <a:pt x="1839950" y="58445"/>
                  </a:lnTo>
                  <a:lnTo>
                    <a:pt x="1839950" y="3707206"/>
                  </a:lnTo>
                  <a:lnTo>
                    <a:pt x="2060968" y="3707206"/>
                  </a:lnTo>
                  <a:lnTo>
                    <a:pt x="2060968" y="58445"/>
                  </a:lnTo>
                  <a:close/>
                </a:path>
                <a:path w="5281295" h="3707765">
                  <a:moveTo>
                    <a:pt x="2520950" y="135229"/>
                  </a:moveTo>
                  <a:lnTo>
                    <a:pt x="2299944" y="135229"/>
                  </a:lnTo>
                  <a:lnTo>
                    <a:pt x="2299944" y="3707206"/>
                  </a:lnTo>
                  <a:lnTo>
                    <a:pt x="2520950" y="3707206"/>
                  </a:lnTo>
                  <a:lnTo>
                    <a:pt x="2520950" y="135229"/>
                  </a:lnTo>
                  <a:close/>
                </a:path>
                <a:path w="5281295" h="3707765">
                  <a:moveTo>
                    <a:pt x="2980944" y="190982"/>
                  </a:moveTo>
                  <a:lnTo>
                    <a:pt x="2759926" y="190982"/>
                  </a:lnTo>
                  <a:lnTo>
                    <a:pt x="2759926" y="3707206"/>
                  </a:lnTo>
                  <a:lnTo>
                    <a:pt x="2980944" y="3707206"/>
                  </a:lnTo>
                  <a:lnTo>
                    <a:pt x="2980944" y="190982"/>
                  </a:lnTo>
                  <a:close/>
                </a:path>
                <a:path w="5281295" h="3707765">
                  <a:moveTo>
                    <a:pt x="3440925" y="38430"/>
                  </a:moveTo>
                  <a:lnTo>
                    <a:pt x="3219920" y="38430"/>
                  </a:lnTo>
                  <a:lnTo>
                    <a:pt x="3219920" y="3707206"/>
                  </a:lnTo>
                  <a:lnTo>
                    <a:pt x="3440925" y="3707206"/>
                  </a:lnTo>
                  <a:lnTo>
                    <a:pt x="3440925" y="38430"/>
                  </a:lnTo>
                  <a:close/>
                </a:path>
                <a:path w="5281295" h="3707765">
                  <a:moveTo>
                    <a:pt x="3900919" y="266065"/>
                  </a:moveTo>
                  <a:lnTo>
                    <a:pt x="3679901" y="266065"/>
                  </a:lnTo>
                  <a:lnTo>
                    <a:pt x="3679901" y="3707206"/>
                  </a:lnTo>
                  <a:lnTo>
                    <a:pt x="3900919" y="3707206"/>
                  </a:lnTo>
                  <a:lnTo>
                    <a:pt x="3900919" y="266065"/>
                  </a:lnTo>
                  <a:close/>
                </a:path>
                <a:path w="5281295" h="3707765">
                  <a:moveTo>
                    <a:pt x="4360900" y="31026"/>
                  </a:moveTo>
                  <a:lnTo>
                    <a:pt x="4139895" y="31026"/>
                  </a:lnTo>
                  <a:lnTo>
                    <a:pt x="4139895" y="3707206"/>
                  </a:lnTo>
                  <a:lnTo>
                    <a:pt x="4360900" y="3707206"/>
                  </a:lnTo>
                  <a:lnTo>
                    <a:pt x="4360900" y="31026"/>
                  </a:lnTo>
                  <a:close/>
                </a:path>
                <a:path w="5281295" h="3707765">
                  <a:moveTo>
                    <a:pt x="4820894" y="146494"/>
                  </a:moveTo>
                  <a:lnTo>
                    <a:pt x="4599876" y="146494"/>
                  </a:lnTo>
                  <a:lnTo>
                    <a:pt x="4599876" y="3707206"/>
                  </a:lnTo>
                  <a:lnTo>
                    <a:pt x="4820894" y="3707206"/>
                  </a:lnTo>
                  <a:lnTo>
                    <a:pt x="4820894" y="146494"/>
                  </a:lnTo>
                  <a:close/>
                </a:path>
                <a:path w="5281295" h="3707765">
                  <a:moveTo>
                    <a:pt x="5280876" y="101765"/>
                  </a:moveTo>
                  <a:lnTo>
                    <a:pt x="5059870" y="101765"/>
                  </a:lnTo>
                  <a:lnTo>
                    <a:pt x="5059870" y="3707206"/>
                  </a:lnTo>
                  <a:lnTo>
                    <a:pt x="5280876" y="3707206"/>
                  </a:lnTo>
                  <a:lnTo>
                    <a:pt x="5280876" y="101765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521" y="4981574"/>
              <a:ext cx="5597105" cy="3788707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1001086" y="5083641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921061" y="5081609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841037" y="5140057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221000" y="5120042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140976" y="5112633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461074" y="5281712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301024" y="5216839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761013" y="5272585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513033" y="4986440"/>
            <a:ext cx="410845" cy="41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43.67%</a:t>
            </a:r>
            <a:endParaRPr sz="950">
              <a:latin typeface="Segoe UI"/>
              <a:cs typeface="Segoe UI"/>
            </a:endParaRPr>
          </a:p>
          <a:p>
            <a:pPr marR="1270" algn="ctr">
              <a:lnSpc>
                <a:spcPct val="100000"/>
              </a:lnSpc>
              <a:spcBef>
                <a:spcPts val="76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060951" y="5183375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381049" y="5390079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59K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680988" y="5347667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60K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753107" y="5517637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43.57%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213095" y="5900882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43.50%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833131" y="6540044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43.39%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673082" y="6745775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43.41%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13156" y="6982429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43.31%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373143" y="7327370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43.31%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293119" y="8083918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43.18%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973021" y="8462875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43.11%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593058" y="8583377"/>
            <a:ext cx="4108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616161"/>
                </a:solidFill>
                <a:latin typeface="Segoe UI"/>
                <a:cs typeface="Segoe UI"/>
              </a:rPr>
              <a:t>43.09%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859221" y="9804400"/>
            <a:ext cx="198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239185" y="9804400"/>
            <a:ext cx="198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619148" y="9804400"/>
            <a:ext cx="198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Q4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87" name="object 8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730" y="10178414"/>
            <a:ext cx="95249" cy="95249"/>
          </a:xfrm>
          <a:prstGeom prst="rect">
            <a:avLst/>
          </a:prstGeom>
        </p:spPr>
      </p:pic>
      <p:sp>
        <p:nvSpPr>
          <p:cNvPr id="88" name="object 88"/>
          <p:cNvSpPr txBox="1"/>
          <p:nvPr/>
        </p:nvSpPr>
        <p:spPr>
          <a:xfrm>
            <a:off x="610145" y="10121899"/>
            <a:ext cx="5257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89" name="object 8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3005" y="10178414"/>
            <a:ext cx="95249" cy="95249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1287015" y="9804400"/>
            <a:ext cx="811530" cy="50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Q1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Margin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7096124" y="4124324"/>
            <a:ext cx="6581775" cy="6396355"/>
            <a:chOff x="7096124" y="4124324"/>
            <a:chExt cx="6581775" cy="6396355"/>
          </a:xfrm>
        </p:grpSpPr>
        <p:sp>
          <p:nvSpPr>
            <p:cNvPr id="92" name="object 92"/>
            <p:cNvSpPr/>
            <p:nvPr/>
          </p:nvSpPr>
          <p:spPr>
            <a:xfrm>
              <a:off x="7100886" y="4129087"/>
              <a:ext cx="6572250" cy="6386830"/>
            </a:xfrm>
            <a:custGeom>
              <a:avLst/>
              <a:gdLst/>
              <a:ahLst/>
              <a:cxnLst/>
              <a:rect l="l" t="t" r="r" b="b"/>
              <a:pathLst>
                <a:path w="6572250" h="6386830">
                  <a:moveTo>
                    <a:pt x="6526515" y="6386512"/>
                  </a:moveTo>
                  <a:lnTo>
                    <a:pt x="45732" y="6386512"/>
                  </a:lnTo>
                  <a:lnTo>
                    <a:pt x="39765" y="6384040"/>
                  </a:lnTo>
                  <a:lnTo>
                    <a:pt x="9433" y="6355624"/>
                  </a:lnTo>
                  <a:lnTo>
                    <a:pt x="0" y="632452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505502" y="0"/>
                  </a:lnTo>
                  <a:lnTo>
                    <a:pt x="6544399" y="14645"/>
                  </a:lnTo>
                  <a:lnTo>
                    <a:pt x="6568605" y="48433"/>
                  </a:lnTo>
                  <a:lnTo>
                    <a:pt x="6572248" y="66746"/>
                  </a:lnTo>
                  <a:lnTo>
                    <a:pt x="6572248" y="6324527"/>
                  </a:lnTo>
                  <a:lnTo>
                    <a:pt x="6557602" y="6363424"/>
                  </a:lnTo>
                  <a:lnTo>
                    <a:pt x="6526515" y="63865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100886" y="4129087"/>
              <a:ext cx="6572250" cy="6386830"/>
            </a:xfrm>
            <a:custGeom>
              <a:avLst/>
              <a:gdLst/>
              <a:ahLst/>
              <a:cxnLst/>
              <a:rect l="l" t="t" r="r" b="b"/>
              <a:pathLst>
                <a:path w="6572250" h="6386830">
                  <a:moveTo>
                    <a:pt x="45732" y="6386512"/>
                  </a:moveTo>
                  <a:lnTo>
                    <a:pt x="44099" y="6385835"/>
                  </a:lnTo>
                  <a:lnTo>
                    <a:pt x="39765" y="6384040"/>
                  </a:lnTo>
                  <a:lnTo>
                    <a:pt x="35649" y="6381840"/>
                  </a:lnTo>
                  <a:lnTo>
                    <a:pt x="31748" y="6379234"/>
                  </a:lnTo>
                  <a:lnTo>
                    <a:pt x="27848" y="6376628"/>
                  </a:lnTo>
                  <a:lnTo>
                    <a:pt x="24240" y="6373667"/>
                  </a:lnTo>
                  <a:lnTo>
                    <a:pt x="20923" y="6370350"/>
                  </a:lnTo>
                  <a:lnTo>
                    <a:pt x="17606" y="6367033"/>
                  </a:lnTo>
                  <a:lnTo>
                    <a:pt x="14645" y="6363425"/>
                  </a:lnTo>
                  <a:lnTo>
                    <a:pt x="1372" y="6333772"/>
                  </a:lnTo>
                  <a:lnTo>
                    <a:pt x="457" y="6329172"/>
                  </a:lnTo>
                  <a:lnTo>
                    <a:pt x="0" y="6324527"/>
                  </a:lnTo>
                  <a:lnTo>
                    <a:pt x="0" y="6319836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500811" y="0"/>
                  </a:lnTo>
                  <a:lnTo>
                    <a:pt x="6505502" y="0"/>
                  </a:lnTo>
                  <a:lnTo>
                    <a:pt x="6510147" y="457"/>
                  </a:lnTo>
                  <a:lnTo>
                    <a:pt x="6514747" y="1372"/>
                  </a:lnTo>
                  <a:lnTo>
                    <a:pt x="6519348" y="2287"/>
                  </a:lnTo>
                  <a:lnTo>
                    <a:pt x="6551324" y="20923"/>
                  </a:lnTo>
                  <a:lnTo>
                    <a:pt x="6554641" y="24240"/>
                  </a:lnTo>
                  <a:lnTo>
                    <a:pt x="6557602" y="27848"/>
                  </a:lnTo>
                  <a:lnTo>
                    <a:pt x="6560208" y="31748"/>
                  </a:lnTo>
                  <a:lnTo>
                    <a:pt x="6562814" y="35649"/>
                  </a:lnTo>
                  <a:lnTo>
                    <a:pt x="6565015" y="39765"/>
                  </a:lnTo>
                  <a:lnTo>
                    <a:pt x="6566809" y="44099"/>
                  </a:lnTo>
                  <a:lnTo>
                    <a:pt x="6568605" y="48433"/>
                  </a:lnTo>
                  <a:lnTo>
                    <a:pt x="6569960" y="52900"/>
                  </a:lnTo>
                  <a:lnTo>
                    <a:pt x="6570875" y="57500"/>
                  </a:lnTo>
                  <a:lnTo>
                    <a:pt x="6571790" y="62101"/>
                  </a:lnTo>
                  <a:lnTo>
                    <a:pt x="6572248" y="66746"/>
                  </a:lnTo>
                  <a:lnTo>
                    <a:pt x="6572249" y="71437"/>
                  </a:lnTo>
                  <a:lnTo>
                    <a:pt x="6572249" y="6319836"/>
                  </a:lnTo>
                  <a:lnTo>
                    <a:pt x="6572248" y="6324527"/>
                  </a:lnTo>
                  <a:lnTo>
                    <a:pt x="6571790" y="6329172"/>
                  </a:lnTo>
                  <a:lnTo>
                    <a:pt x="6570875" y="6333772"/>
                  </a:lnTo>
                  <a:lnTo>
                    <a:pt x="6569960" y="6338373"/>
                  </a:lnTo>
                  <a:lnTo>
                    <a:pt x="6568605" y="6342840"/>
                  </a:lnTo>
                  <a:lnTo>
                    <a:pt x="6566809" y="6347174"/>
                  </a:lnTo>
                  <a:lnTo>
                    <a:pt x="6565015" y="6351507"/>
                  </a:lnTo>
                  <a:lnTo>
                    <a:pt x="6562814" y="6355624"/>
                  </a:lnTo>
                  <a:lnTo>
                    <a:pt x="6560208" y="6359524"/>
                  </a:lnTo>
                  <a:lnTo>
                    <a:pt x="6557602" y="6363424"/>
                  </a:lnTo>
                  <a:lnTo>
                    <a:pt x="6554641" y="6367033"/>
                  </a:lnTo>
                  <a:lnTo>
                    <a:pt x="6551324" y="6370350"/>
                  </a:lnTo>
                  <a:lnTo>
                    <a:pt x="6548008" y="6373667"/>
                  </a:lnTo>
                  <a:lnTo>
                    <a:pt x="6544399" y="6376628"/>
                  </a:lnTo>
                  <a:lnTo>
                    <a:pt x="6540499" y="6379234"/>
                  </a:lnTo>
                  <a:lnTo>
                    <a:pt x="6536599" y="6381840"/>
                  </a:lnTo>
                  <a:lnTo>
                    <a:pt x="6532482" y="6384040"/>
                  </a:lnTo>
                  <a:lnTo>
                    <a:pt x="6528148" y="6385835"/>
                  </a:lnTo>
                  <a:lnTo>
                    <a:pt x="6526515" y="6386512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3019424" y="228600"/>
            <a:ext cx="10658475" cy="3895725"/>
            <a:chOff x="3019424" y="228600"/>
            <a:chExt cx="10658475" cy="3895725"/>
          </a:xfrm>
        </p:grpSpPr>
        <p:sp>
          <p:nvSpPr>
            <p:cNvPr id="158" name="object 158"/>
            <p:cNvSpPr/>
            <p:nvPr/>
          </p:nvSpPr>
          <p:spPr>
            <a:xfrm>
              <a:off x="3024187" y="233362"/>
              <a:ext cx="10648950" cy="3886200"/>
            </a:xfrm>
            <a:custGeom>
              <a:avLst/>
              <a:gdLst/>
              <a:ahLst/>
              <a:cxnLst/>
              <a:rect l="l" t="t" r="r" b="b"/>
              <a:pathLst>
                <a:path w="10648950" h="3886200">
                  <a:moveTo>
                    <a:pt x="10582202" y="3886199"/>
                  </a:moveTo>
                  <a:lnTo>
                    <a:pt x="66746" y="3886199"/>
                  </a:lnTo>
                  <a:lnTo>
                    <a:pt x="62101" y="3885741"/>
                  </a:lnTo>
                  <a:lnTo>
                    <a:pt x="24240" y="3868592"/>
                  </a:lnTo>
                  <a:lnTo>
                    <a:pt x="2287" y="3833299"/>
                  </a:lnTo>
                  <a:lnTo>
                    <a:pt x="0" y="3819452"/>
                  </a:lnTo>
                  <a:lnTo>
                    <a:pt x="0" y="38147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0582202" y="0"/>
                  </a:lnTo>
                  <a:lnTo>
                    <a:pt x="10621099" y="14645"/>
                  </a:lnTo>
                  <a:lnTo>
                    <a:pt x="10645305" y="48433"/>
                  </a:lnTo>
                  <a:lnTo>
                    <a:pt x="10648949" y="66746"/>
                  </a:lnTo>
                  <a:lnTo>
                    <a:pt x="10648949" y="3819452"/>
                  </a:lnTo>
                  <a:lnTo>
                    <a:pt x="10634302" y="3858350"/>
                  </a:lnTo>
                  <a:lnTo>
                    <a:pt x="10600514" y="3882556"/>
                  </a:lnTo>
                  <a:lnTo>
                    <a:pt x="10586847" y="3885741"/>
                  </a:lnTo>
                  <a:lnTo>
                    <a:pt x="10582202" y="3886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024187" y="233362"/>
              <a:ext cx="10648950" cy="3886200"/>
            </a:xfrm>
            <a:custGeom>
              <a:avLst/>
              <a:gdLst/>
              <a:ahLst/>
              <a:cxnLst/>
              <a:rect l="l" t="t" r="r" b="b"/>
              <a:pathLst>
                <a:path w="10648950" h="3886200">
                  <a:moveTo>
                    <a:pt x="0" y="38147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0577511" y="0"/>
                  </a:lnTo>
                  <a:lnTo>
                    <a:pt x="10582202" y="0"/>
                  </a:lnTo>
                  <a:lnTo>
                    <a:pt x="10586847" y="457"/>
                  </a:lnTo>
                  <a:lnTo>
                    <a:pt x="10624707" y="17606"/>
                  </a:lnTo>
                  <a:lnTo>
                    <a:pt x="10646659" y="52900"/>
                  </a:lnTo>
                  <a:lnTo>
                    <a:pt x="10647574" y="57500"/>
                  </a:lnTo>
                  <a:lnTo>
                    <a:pt x="10648491" y="62101"/>
                  </a:lnTo>
                  <a:lnTo>
                    <a:pt x="10648949" y="66746"/>
                  </a:lnTo>
                  <a:lnTo>
                    <a:pt x="10648949" y="71437"/>
                  </a:lnTo>
                  <a:lnTo>
                    <a:pt x="10648949" y="3814762"/>
                  </a:lnTo>
                  <a:lnTo>
                    <a:pt x="10648949" y="3819452"/>
                  </a:lnTo>
                  <a:lnTo>
                    <a:pt x="10648491" y="3824098"/>
                  </a:lnTo>
                  <a:lnTo>
                    <a:pt x="10647574" y="3828698"/>
                  </a:lnTo>
                  <a:lnTo>
                    <a:pt x="10646659" y="3833299"/>
                  </a:lnTo>
                  <a:lnTo>
                    <a:pt x="10624707" y="3868592"/>
                  </a:lnTo>
                  <a:lnTo>
                    <a:pt x="10586847" y="3885741"/>
                  </a:lnTo>
                  <a:lnTo>
                    <a:pt x="10577511" y="3886199"/>
                  </a:lnTo>
                  <a:lnTo>
                    <a:pt x="71437" y="3886199"/>
                  </a:lnTo>
                  <a:lnTo>
                    <a:pt x="31748" y="3874159"/>
                  </a:lnTo>
                  <a:lnTo>
                    <a:pt x="27848" y="3871554"/>
                  </a:lnTo>
                  <a:lnTo>
                    <a:pt x="24240" y="3868592"/>
                  </a:lnTo>
                  <a:lnTo>
                    <a:pt x="20923" y="3865275"/>
                  </a:lnTo>
                  <a:lnTo>
                    <a:pt x="17606" y="3861959"/>
                  </a:lnTo>
                  <a:lnTo>
                    <a:pt x="5437" y="3842099"/>
                  </a:lnTo>
                  <a:lnTo>
                    <a:pt x="3642" y="3837766"/>
                  </a:lnTo>
                  <a:lnTo>
                    <a:pt x="2287" y="3833299"/>
                  </a:lnTo>
                  <a:lnTo>
                    <a:pt x="1372" y="3828698"/>
                  </a:lnTo>
                  <a:lnTo>
                    <a:pt x="457" y="3824098"/>
                  </a:lnTo>
                  <a:lnTo>
                    <a:pt x="0" y="3819452"/>
                  </a:lnTo>
                  <a:lnTo>
                    <a:pt x="0" y="3814762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6949926" y="314388"/>
            <a:ext cx="2816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95" dirty="0">
                <a:solidFill>
                  <a:srgbClr val="242424"/>
                </a:solidFill>
                <a:latin typeface="Tahoma"/>
                <a:cs typeface="Tahoma"/>
              </a:rPr>
              <a:t>Top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Product</a:t>
            </a:r>
            <a:r>
              <a:rPr sz="2000" spc="-12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2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95" dirty="0">
                <a:solidFill>
                  <a:srgbClr val="242424"/>
                </a:solidFill>
                <a:latin typeface="Tahoma"/>
                <a:cs typeface="Tahoma"/>
              </a:rPr>
              <a:t>Trend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3168649" y="644525"/>
            <a:ext cx="3657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Quarter,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Month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Name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Product_Name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5352990" y="1181570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8.3K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3171775" y="1414631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8K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3171775" y="2250291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6K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3424237" y="1513204"/>
            <a:ext cx="10086975" cy="1680845"/>
            <a:chOff x="3424237" y="1513204"/>
            <a:chExt cx="10086975" cy="1680845"/>
          </a:xfrm>
        </p:grpSpPr>
        <p:sp>
          <p:nvSpPr>
            <p:cNvPr id="163" name="object 163"/>
            <p:cNvSpPr/>
            <p:nvPr/>
          </p:nvSpPr>
          <p:spPr>
            <a:xfrm>
              <a:off x="3429000" y="3189287"/>
              <a:ext cx="10077450" cy="0"/>
            </a:xfrm>
            <a:custGeom>
              <a:avLst/>
              <a:gdLst/>
              <a:ahLst/>
              <a:cxnLst/>
              <a:rect l="l" t="t" r="r" b="b"/>
              <a:pathLst>
                <a:path w="10077450">
                  <a:moveTo>
                    <a:pt x="0" y="0"/>
                  </a:moveTo>
                  <a:lnTo>
                    <a:pt x="100774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3429000" y="2353627"/>
              <a:ext cx="10077450" cy="0"/>
            </a:xfrm>
            <a:custGeom>
              <a:avLst/>
              <a:gdLst/>
              <a:ahLst/>
              <a:cxnLst/>
              <a:rect l="l" t="t" r="r" b="b"/>
              <a:pathLst>
                <a:path w="10077450">
                  <a:moveTo>
                    <a:pt x="0" y="0"/>
                  </a:moveTo>
                  <a:lnTo>
                    <a:pt x="100774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429000" y="1517967"/>
              <a:ext cx="10077450" cy="0"/>
            </a:xfrm>
            <a:custGeom>
              <a:avLst/>
              <a:gdLst/>
              <a:ahLst/>
              <a:cxnLst/>
              <a:rect l="l" t="t" r="r" b="b"/>
              <a:pathLst>
                <a:path w="10077450">
                  <a:moveTo>
                    <a:pt x="0" y="0"/>
                  </a:moveTo>
                  <a:lnTo>
                    <a:pt x="1007744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6" name="object 166"/>
          <p:cNvSpPr txBox="1"/>
          <p:nvPr/>
        </p:nvSpPr>
        <p:spPr>
          <a:xfrm>
            <a:off x="3171775" y="3085951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3535410" y="3209925"/>
            <a:ext cx="47053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January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4355052" y="3176270"/>
            <a:ext cx="539750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70815">
              <a:lnSpc>
                <a:spcPct val="121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February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5280511" y="3209925"/>
            <a:ext cx="3968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March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6182305" y="3209925"/>
            <a:ext cx="3009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April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7047934" y="3176270"/>
            <a:ext cx="278130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indent="-40005">
              <a:lnSpc>
                <a:spcPct val="121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May Q2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7893920" y="3209925"/>
            <a:ext cx="2940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June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8772050" y="3209925"/>
            <a:ext cx="2457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July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9527399" y="3176270"/>
            <a:ext cx="443230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 marR="5080" indent="-122555">
              <a:lnSpc>
                <a:spcPct val="121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August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0268460" y="3209925"/>
            <a:ext cx="6686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September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11204186" y="3209925"/>
            <a:ext cx="50545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October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11987665" y="3176270"/>
            <a:ext cx="646430" cy="41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 marR="5080" indent="-224790">
              <a:lnSpc>
                <a:spcPct val="121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November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Q4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81" name="object 18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56320" y="1392287"/>
            <a:ext cx="9422807" cy="1791583"/>
          </a:xfrm>
          <a:prstGeom prst="rect">
            <a:avLst/>
          </a:prstGeom>
        </p:spPr>
      </p:pic>
      <p:sp>
        <p:nvSpPr>
          <p:cNvPr id="208" name="object 208"/>
          <p:cNvSpPr txBox="1"/>
          <p:nvPr/>
        </p:nvSpPr>
        <p:spPr>
          <a:xfrm>
            <a:off x="7915054" y="1308382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8.0K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8769074" y="1359106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3644947" y="1456586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4498968" y="1471419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7061031" y="1540908"/>
            <a:ext cx="25209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5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7.4K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ts val="1050"/>
              </a:lnSpc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9623095" y="1638091"/>
            <a:ext cx="252095" cy="288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35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7.2K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ts val="1035"/>
              </a:lnSpc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8" name="object 198"/>
          <p:cNvSpPr txBox="1"/>
          <p:nvPr/>
        </p:nvSpPr>
        <p:spPr>
          <a:xfrm>
            <a:off x="3644947" y="1837718"/>
            <a:ext cx="252095" cy="447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6.7K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4498968" y="1768864"/>
            <a:ext cx="252095" cy="44513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6.7K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5" name="object 195"/>
          <p:cNvSpPr txBox="1"/>
          <p:nvPr/>
        </p:nvSpPr>
        <p:spPr>
          <a:xfrm>
            <a:off x="7061031" y="1872777"/>
            <a:ext cx="25209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6.6K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8769074" y="1886742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9" name="object 199"/>
          <p:cNvSpPr txBox="1"/>
          <p:nvPr/>
        </p:nvSpPr>
        <p:spPr>
          <a:xfrm>
            <a:off x="13039180" y="1779210"/>
            <a:ext cx="252095" cy="43243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6.7K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3" name="object 203"/>
          <p:cNvSpPr txBox="1"/>
          <p:nvPr/>
        </p:nvSpPr>
        <p:spPr>
          <a:xfrm>
            <a:off x="5352990" y="2077984"/>
            <a:ext cx="252095" cy="3778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6.0K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6207011" y="2032872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11331137" y="1546553"/>
            <a:ext cx="252095" cy="60579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7.3K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6.9K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1" name="object 201"/>
          <p:cNvSpPr txBox="1"/>
          <p:nvPr/>
        </p:nvSpPr>
        <p:spPr>
          <a:xfrm>
            <a:off x="10477117" y="1817208"/>
            <a:ext cx="252095" cy="6819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6.6K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6.2K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12185160" y="1565334"/>
            <a:ext cx="252095" cy="65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75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7.3K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ts val="1075"/>
              </a:lnSpc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7.0K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ts val="1085"/>
              </a:lnSpc>
              <a:spcBef>
                <a:spcPts val="61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6.5K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ts val="1085"/>
              </a:lnSpc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4" name="object 204"/>
          <p:cNvSpPr txBox="1"/>
          <p:nvPr/>
        </p:nvSpPr>
        <p:spPr>
          <a:xfrm>
            <a:off x="7915054" y="1968369"/>
            <a:ext cx="252095" cy="50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65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6.4K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ts val="1065"/>
              </a:lnSpc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6.1K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2" name="object 202"/>
          <p:cNvSpPr txBox="1"/>
          <p:nvPr/>
        </p:nvSpPr>
        <p:spPr>
          <a:xfrm>
            <a:off x="9623095" y="2077568"/>
            <a:ext cx="25209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5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6.8K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ts val="1050"/>
              </a:lnSpc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5" name="object 205"/>
          <p:cNvSpPr txBox="1"/>
          <p:nvPr/>
        </p:nvSpPr>
        <p:spPr>
          <a:xfrm>
            <a:off x="3644947" y="2451350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11331137" y="2419350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4498968" y="2488458"/>
            <a:ext cx="252095" cy="418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5.1K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7061031" y="2599033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7915054" y="2619766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9623095" y="2564479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3644947" y="2943023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5352990" y="2767158"/>
            <a:ext cx="252095" cy="34798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5.1K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7" name="object 197"/>
          <p:cNvSpPr txBox="1"/>
          <p:nvPr/>
        </p:nvSpPr>
        <p:spPr>
          <a:xfrm>
            <a:off x="6207011" y="2412482"/>
            <a:ext cx="252095" cy="6400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5.3K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5.5K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0" name="object 200"/>
          <p:cNvSpPr txBox="1"/>
          <p:nvPr/>
        </p:nvSpPr>
        <p:spPr>
          <a:xfrm>
            <a:off x="8769074" y="2322551"/>
            <a:ext cx="25209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5.5K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10477117" y="2540118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11331137" y="2736770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10477117" y="2847826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12185160" y="2806360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13039180" y="2320955"/>
            <a:ext cx="252095" cy="7112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6.0K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5.6K</a:t>
            </a:r>
            <a:endParaRPr sz="9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8769074" y="3039775"/>
            <a:ext cx="2520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616161"/>
                </a:solidFill>
                <a:latin typeface="Segoe UI"/>
                <a:cs typeface="Segoe UI"/>
              </a:rPr>
              <a:t>4.4K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12850169" y="3209925"/>
            <a:ext cx="6299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December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217" name="object 2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2779" y="3777614"/>
            <a:ext cx="95249" cy="95249"/>
          </a:xfrm>
          <a:prstGeom prst="rect">
            <a:avLst/>
          </a:prstGeom>
        </p:spPr>
      </p:pic>
      <p:sp>
        <p:nvSpPr>
          <p:cNvPr id="218" name="object 218"/>
          <p:cNvSpPr txBox="1"/>
          <p:nvPr/>
        </p:nvSpPr>
        <p:spPr>
          <a:xfrm>
            <a:off x="3296195" y="3721100"/>
            <a:ext cx="10280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Adventure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Robot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219" name="object 2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73879" y="3777614"/>
            <a:ext cx="95249" cy="95249"/>
          </a:xfrm>
          <a:prstGeom prst="rect">
            <a:avLst/>
          </a:prstGeom>
        </p:spPr>
      </p:pic>
      <p:sp>
        <p:nvSpPr>
          <p:cNvPr id="220" name="object 220"/>
          <p:cNvSpPr txBox="1"/>
          <p:nvPr/>
        </p:nvSpPr>
        <p:spPr>
          <a:xfrm>
            <a:off x="4475807" y="3721100"/>
            <a:ext cx="10972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Deluxe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Builder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Set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221" name="object 2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21654" y="3777614"/>
            <a:ext cx="95249" cy="95249"/>
          </a:xfrm>
          <a:prstGeom prst="rect">
            <a:avLst/>
          </a:prstGeom>
        </p:spPr>
      </p:pic>
      <p:sp>
        <p:nvSpPr>
          <p:cNvPr id="222" name="object 222"/>
          <p:cNvSpPr txBox="1"/>
          <p:nvPr/>
        </p:nvSpPr>
        <p:spPr>
          <a:xfrm>
            <a:off x="5724773" y="3721100"/>
            <a:ext cx="11512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Deluxe</a:t>
            </a:r>
            <a:r>
              <a:rPr sz="1050" spc="-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Science</a:t>
            </a:r>
            <a:r>
              <a:rPr sz="1050" spc="-3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Lab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223" name="object 2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926580" y="3777614"/>
            <a:ext cx="95249" cy="95249"/>
          </a:xfrm>
          <a:prstGeom prst="rect">
            <a:avLst/>
          </a:prstGeom>
        </p:spPr>
      </p:pic>
      <p:sp>
        <p:nvSpPr>
          <p:cNvPr id="224" name="object 224"/>
          <p:cNvSpPr txBox="1"/>
          <p:nvPr/>
        </p:nvSpPr>
        <p:spPr>
          <a:xfrm>
            <a:off x="7027019" y="3721100"/>
            <a:ext cx="11823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Rocket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Sticker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Book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225" name="object 2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60079" y="3777614"/>
            <a:ext cx="95249" cy="95249"/>
          </a:xfrm>
          <a:prstGeom prst="rect">
            <a:avLst/>
          </a:prstGeom>
        </p:spPr>
      </p:pic>
      <p:sp>
        <p:nvSpPr>
          <p:cNvPr id="226" name="object 226"/>
          <p:cNvSpPr txBox="1"/>
          <p:nvPr/>
        </p:nvSpPr>
        <p:spPr>
          <a:xfrm>
            <a:off x="8360965" y="3721100"/>
            <a:ext cx="10102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Smart Card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Deck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245350" y="4167770"/>
            <a:ext cx="5193665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121410">
              <a:lnSpc>
                <a:spcPct val="100000"/>
              </a:lnSpc>
              <a:spcBef>
                <a:spcPts val="430"/>
              </a:spcBef>
            </a:pPr>
            <a:r>
              <a:rPr sz="2000" spc="-195" dirty="0">
                <a:solidFill>
                  <a:srgbClr val="242424"/>
                </a:solidFill>
                <a:latin typeface="Tahoma"/>
                <a:cs typeface="Tahoma"/>
              </a:rPr>
              <a:t>Top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65" dirty="0">
                <a:solidFill>
                  <a:srgbClr val="242424"/>
                </a:solidFill>
                <a:latin typeface="Tahoma"/>
                <a:cs typeface="Tahoma"/>
              </a:rPr>
              <a:t>Products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Revenue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&amp;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55" dirty="0">
                <a:solidFill>
                  <a:srgbClr val="242424"/>
                </a:solidFill>
                <a:latin typeface="Tahoma"/>
                <a:cs typeface="Tahoma"/>
              </a:rPr>
              <a:t>Gross</a:t>
            </a:r>
            <a:r>
              <a:rPr sz="2000" spc="-13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42424"/>
                </a:solidFill>
                <a:latin typeface="Tahoma"/>
                <a:cs typeface="Tahoma"/>
              </a:rPr>
              <a:t>Profit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Profit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Product_Name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7770200" y="5122830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82K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357566" y="5332086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80K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357566" y="6211209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60K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357566" y="7090331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40K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357566" y="7969453"/>
            <a:ext cx="2470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20K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7681912" y="5430660"/>
            <a:ext cx="5838825" cy="3526154"/>
            <a:chOff x="7681912" y="5430660"/>
            <a:chExt cx="5838825" cy="3526154"/>
          </a:xfrm>
        </p:grpSpPr>
        <p:sp>
          <p:nvSpPr>
            <p:cNvPr id="96" name="object 96"/>
            <p:cNvSpPr/>
            <p:nvPr/>
          </p:nvSpPr>
          <p:spPr>
            <a:xfrm>
              <a:off x="7686675" y="8951912"/>
              <a:ext cx="5829300" cy="0"/>
            </a:xfrm>
            <a:custGeom>
              <a:avLst/>
              <a:gdLst/>
              <a:ahLst/>
              <a:cxnLst/>
              <a:rect l="l" t="t" r="r" b="b"/>
              <a:pathLst>
                <a:path w="5829300">
                  <a:moveTo>
                    <a:pt x="0" y="0"/>
                  </a:moveTo>
                  <a:lnTo>
                    <a:pt x="58292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686675" y="5435423"/>
              <a:ext cx="5829300" cy="2637790"/>
            </a:xfrm>
            <a:custGeom>
              <a:avLst/>
              <a:gdLst/>
              <a:ahLst/>
              <a:cxnLst/>
              <a:rect l="l" t="t" r="r" b="b"/>
              <a:pathLst>
                <a:path w="5829300" h="2637790">
                  <a:moveTo>
                    <a:pt x="0" y="2637366"/>
                  </a:moveTo>
                  <a:lnTo>
                    <a:pt x="152399" y="2637366"/>
                  </a:lnTo>
                </a:path>
                <a:path w="5829300" h="2637790">
                  <a:moveTo>
                    <a:pt x="239781" y="2637366"/>
                  </a:moveTo>
                  <a:lnTo>
                    <a:pt x="249490" y="2637366"/>
                  </a:lnTo>
                </a:path>
                <a:path w="5829300" h="2637790">
                  <a:moveTo>
                    <a:pt x="336871" y="2637366"/>
                  </a:moveTo>
                  <a:lnTo>
                    <a:pt x="533399" y="2637366"/>
                  </a:lnTo>
                </a:path>
                <a:path w="5829300" h="2637790">
                  <a:moveTo>
                    <a:pt x="620781" y="2637366"/>
                  </a:moveTo>
                  <a:lnTo>
                    <a:pt x="630490" y="2637366"/>
                  </a:lnTo>
                </a:path>
                <a:path w="5829300" h="2637790">
                  <a:moveTo>
                    <a:pt x="717871" y="2637366"/>
                  </a:moveTo>
                  <a:lnTo>
                    <a:pt x="914399" y="2637366"/>
                  </a:lnTo>
                </a:path>
                <a:path w="5829300" h="2637790">
                  <a:moveTo>
                    <a:pt x="1001781" y="2637366"/>
                  </a:moveTo>
                  <a:lnTo>
                    <a:pt x="1011490" y="2637366"/>
                  </a:lnTo>
                </a:path>
                <a:path w="5829300" h="2637790">
                  <a:moveTo>
                    <a:pt x="1098871" y="2637366"/>
                  </a:moveTo>
                  <a:lnTo>
                    <a:pt x="1295399" y="2637366"/>
                  </a:lnTo>
                </a:path>
                <a:path w="5829300" h="2637790">
                  <a:moveTo>
                    <a:pt x="1382781" y="2637366"/>
                  </a:moveTo>
                  <a:lnTo>
                    <a:pt x="1392490" y="2637366"/>
                  </a:lnTo>
                </a:path>
                <a:path w="5829300" h="2637790">
                  <a:moveTo>
                    <a:pt x="1479871" y="2637366"/>
                  </a:moveTo>
                  <a:lnTo>
                    <a:pt x="1676399" y="2637366"/>
                  </a:lnTo>
                </a:path>
                <a:path w="5829300" h="2637790">
                  <a:moveTo>
                    <a:pt x="1763781" y="2637366"/>
                  </a:moveTo>
                  <a:lnTo>
                    <a:pt x="1773490" y="2637366"/>
                  </a:lnTo>
                </a:path>
                <a:path w="5829300" h="2637790">
                  <a:moveTo>
                    <a:pt x="1860871" y="2637366"/>
                  </a:moveTo>
                  <a:lnTo>
                    <a:pt x="2057399" y="2637366"/>
                  </a:lnTo>
                </a:path>
                <a:path w="5829300" h="2637790">
                  <a:moveTo>
                    <a:pt x="2144781" y="2637366"/>
                  </a:moveTo>
                  <a:lnTo>
                    <a:pt x="2154490" y="2637366"/>
                  </a:lnTo>
                </a:path>
                <a:path w="5829300" h="2637790">
                  <a:moveTo>
                    <a:pt x="2241871" y="2637366"/>
                  </a:moveTo>
                  <a:lnTo>
                    <a:pt x="2438399" y="2637366"/>
                  </a:lnTo>
                </a:path>
                <a:path w="5829300" h="2637790">
                  <a:moveTo>
                    <a:pt x="2525781" y="2637366"/>
                  </a:moveTo>
                  <a:lnTo>
                    <a:pt x="2819399" y="2637366"/>
                  </a:lnTo>
                </a:path>
                <a:path w="5829300" h="2637790">
                  <a:moveTo>
                    <a:pt x="2906781" y="2637366"/>
                  </a:moveTo>
                  <a:lnTo>
                    <a:pt x="3200399" y="2637366"/>
                  </a:lnTo>
                </a:path>
                <a:path w="5829300" h="2637790">
                  <a:moveTo>
                    <a:pt x="3287781" y="2637366"/>
                  </a:moveTo>
                  <a:lnTo>
                    <a:pt x="3297490" y="2637366"/>
                  </a:lnTo>
                </a:path>
                <a:path w="5829300" h="2637790">
                  <a:moveTo>
                    <a:pt x="3384871" y="2637366"/>
                  </a:moveTo>
                  <a:lnTo>
                    <a:pt x="3581399" y="2637366"/>
                  </a:lnTo>
                </a:path>
                <a:path w="5829300" h="2637790">
                  <a:moveTo>
                    <a:pt x="3668781" y="2637366"/>
                  </a:moveTo>
                  <a:lnTo>
                    <a:pt x="3962399" y="2637366"/>
                  </a:lnTo>
                </a:path>
                <a:path w="5829300" h="2637790">
                  <a:moveTo>
                    <a:pt x="4049780" y="2637366"/>
                  </a:moveTo>
                  <a:lnTo>
                    <a:pt x="4343399" y="2637366"/>
                  </a:lnTo>
                </a:path>
                <a:path w="5829300" h="2637790">
                  <a:moveTo>
                    <a:pt x="4430780" y="2637366"/>
                  </a:moveTo>
                  <a:lnTo>
                    <a:pt x="4724399" y="2637366"/>
                  </a:lnTo>
                </a:path>
                <a:path w="5829300" h="2637790">
                  <a:moveTo>
                    <a:pt x="4811780" y="2637366"/>
                  </a:moveTo>
                  <a:lnTo>
                    <a:pt x="5105399" y="2637366"/>
                  </a:lnTo>
                </a:path>
                <a:path w="5829300" h="2637790">
                  <a:moveTo>
                    <a:pt x="5192780" y="2637366"/>
                  </a:moveTo>
                  <a:lnTo>
                    <a:pt x="5486399" y="2637366"/>
                  </a:lnTo>
                </a:path>
                <a:path w="5829300" h="2637790">
                  <a:moveTo>
                    <a:pt x="5573780" y="2637366"/>
                  </a:moveTo>
                  <a:lnTo>
                    <a:pt x="5829299" y="2637366"/>
                  </a:lnTo>
                </a:path>
                <a:path w="5829300" h="2637790">
                  <a:moveTo>
                    <a:pt x="0" y="1758244"/>
                  </a:moveTo>
                  <a:lnTo>
                    <a:pt x="152399" y="1758244"/>
                  </a:lnTo>
                </a:path>
                <a:path w="5829300" h="2637790">
                  <a:moveTo>
                    <a:pt x="239781" y="1758244"/>
                  </a:moveTo>
                  <a:lnTo>
                    <a:pt x="249490" y="1758244"/>
                  </a:lnTo>
                </a:path>
                <a:path w="5829300" h="2637790">
                  <a:moveTo>
                    <a:pt x="336871" y="1758244"/>
                  </a:moveTo>
                  <a:lnTo>
                    <a:pt x="533399" y="1758244"/>
                  </a:lnTo>
                </a:path>
                <a:path w="5829300" h="2637790">
                  <a:moveTo>
                    <a:pt x="620781" y="1758244"/>
                  </a:moveTo>
                  <a:lnTo>
                    <a:pt x="914399" y="1758244"/>
                  </a:lnTo>
                </a:path>
                <a:path w="5829300" h="2637790">
                  <a:moveTo>
                    <a:pt x="1001781" y="1758244"/>
                  </a:moveTo>
                  <a:lnTo>
                    <a:pt x="1295399" y="1758244"/>
                  </a:lnTo>
                </a:path>
                <a:path w="5829300" h="2637790">
                  <a:moveTo>
                    <a:pt x="1382781" y="1758244"/>
                  </a:moveTo>
                  <a:lnTo>
                    <a:pt x="1676399" y="1758244"/>
                  </a:lnTo>
                </a:path>
                <a:path w="5829300" h="2637790">
                  <a:moveTo>
                    <a:pt x="1763781" y="1758244"/>
                  </a:moveTo>
                  <a:lnTo>
                    <a:pt x="2057399" y="1758244"/>
                  </a:lnTo>
                </a:path>
                <a:path w="5829300" h="2637790">
                  <a:moveTo>
                    <a:pt x="2144781" y="1758244"/>
                  </a:moveTo>
                  <a:lnTo>
                    <a:pt x="2438399" y="1758244"/>
                  </a:lnTo>
                </a:path>
                <a:path w="5829300" h="2637790">
                  <a:moveTo>
                    <a:pt x="2525781" y="1758244"/>
                  </a:moveTo>
                  <a:lnTo>
                    <a:pt x="2819399" y="1758244"/>
                  </a:lnTo>
                </a:path>
                <a:path w="5829300" h="2637790">
                  <a:moveTo>
                    <a:pt x="2906781" y="1758244"/>
                  </a:moveTo>
                  <a:lnTo>
                    <a:pt x="5829299" y="1758244"/>
                  </a:lnTo>
                </a:path>
                <a:path w="5829300" h="2637790">
                  <a:moveTo>
                    <a:pt x="0" y="879122"/>
                  </a:moveTo>
                  <a:lnTo>
                    <a:pt x="152399" y="879122"/>
                  </a:lnTo>
                </a:path>
                <a:path w="5829300" h="2637790">
                  <a:moveTo>
                    <a:pt x="239781" y="879122"/>
                  </a:moveTo>
                  <a:lnTo>
                    <a:pt x="533399" y="879122"/>
                  </a:lnTo>
                </a:path>
                <a:path w="5829300" h="2637790">
                  <a:moveTo>
                    <a:pt x="620781" y="879122"/>
                  </a:moveTo>
                  <a:lnTo>
                    <a:pt x="914399" y="879122"/>
                  </a:lnTo>
                </a:path>
                <a:path w="5829300" h="2637790">
                  <a:moveTo>
                    <a:pt x="1001781" y="879122"/>
                  </a:moveTo>
                  <a:lnTo>
                    <a:pt x="1295399" y="879122"/>
                  </a:lnTo>
                </a:path>
                <a:path w="5829300" h="2637790">
                  <a:moveTo>
                    <a:pt x="1382781" y="879122"/>
                  </a:moveTo>
                  <a:lnTo>
                    <a:pt x="5829299" y="879122"/>
                  </a:lnTo>
                </a:path>
                <a:path w="5829300" h="2637790">
                  <a:moveTo>
                    <a:pt x="0" y="0"/>
                  </a:moveTo>
                  <a:lnTo>
                    <a:pt x="152399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8" name="object 118"/>
          <p:cNvGrpSpPr/>
          <p:nvPr/>
        </p:nvGrpSpPr>
        <p:grpSpPr>
          <a:xfrm>
            <a:off x="7839075" y="5347834"/>
            <a:ext cx="5518785" cy="3599815"/>
            <a:chOff x="7839075" y="5347834"/>
            <a:chExt cx="5518785" cy="3599815"/>
          </a:xfrm>
        </p:grpSpPr>
        <p:sp>
          <p:nvSpPr>
            <p:cNvPr id="119" name="object 119"/>
            <p:cNvSpPr/>
            <p:nvPr/>
          </p:nvSpPr>
          <p:spPr>
            <a:xfrm>
              <a:off x="7839063" y="5347842"/>
              <a:ext cx="5040630" cy="3599815"/>
            </a:xfrm>
            <a:custGeom>
              <a:avLst/>
              <a:gdLst/>
              <a:ahLst/>
              <a:cxnLst/>
              <a:rect l="l" t="t" r="r" b="b"/>
              <a:pathLst>
                <a:path w="5040630" h="3599815">
                  <a:moveTo>
                    <a:pt x="87388" y="0"/>
                  </a:moveTo>
                  <a:lnTo>
                    <a:pt x="0" y="0"/>
                  </a:lnTo>
                  <a:lnTo>
                    <a:pt x="0" y="3599307"/>
                  </a:lnTo>
                  <a:lnTo>
                    <a:pt x="87388" y="3599307"/>
                  </a:lnTo>
                  <a:lnTo>
                    <a:pt x="87388" y="0"/>
                  </a:lnTo>
                  <a:close/>
                </a:path>
                <a:path w="5040630" h="3599815">
                  <a:moveTo>
                    <a:pt x="468388" y="135394"/>
                  </a:moveTo>
                  <a:lnTo>
                    <a:pt x="381000" y="135394"/>
                  </a:lnTo>
                  <a:lnTo>
                    <a:pt x="381000" y="3599307"/>
                  </a:lnTo>
                  <a:lnTo>
                    <a:pt x="468388" y="3599307"/>
                  </a:lnTo>
                  <a:lnTo>
                    <a:pt x="468388" y="135394"/>
                  </a:lnTo>
                  <a:close/>
                </a:path>
                <a:path w="5040630" h="3599815">
                  <a:moveTo>
                    <a:pt x="849388" y="152298"/>
                  </a:moveTo>
                  <a:lnTo>
                    <a:pt x="762000" y="152298"/>
                  </a:lnTo>
                  <a:lnTo>
                    <a:pt x="762000" y="3599307"/>
                  </a:lnTo>
                  <a:lnTo>
                    <a:pt x="849388" y="3599307"/>
                  </a:lnTo>
                  <a:lnTo>
                    <a:pt x="849388" y="152298"/>
                  </a:lnTo>
                  <a:close/>
                </a:path>
                <a:path w="5040630" h="3599815">
                  <a:moveTo>
                    <a:pt x="1230388" y="507238"/>
                  </a:moveTo>
                  <a:lnTo>
                    <a:pt x="1143000" y="507238"/>
                  </a:lnTo>
                  <a:lnTo>
                    <a:pt x="1143000" y="3599307"/>
                  </a:lnTo>
                  <a:lnTo>
                    <a:pt x="1230388" y="3599307"/>
                  </a:lnTo>
                  <a:lnTo>
                    <a:pt x="1230388" y="507238"/>
                  </a:lnTo>
                  <a:close/>
                </a:path>
                <a:path w="5040630" h="3599815">
                  <a:moveTo>
                    <a:pt x="1611388" y="1170292"/>
                  </a:moveTo>
                  <a:lnTo>
                    <a:pt x="1524000" y="1170292"/>
                  </a:lnTo>
                  <a:lnTo>
                    <a:pt x="1524000" y="3599307"/>
                  </a:lnTo>
                  <a:lnTo>
                    <a:pt x="1611388" y="3599307"/>
                  </a:lnTo>
                  <a:lnTo>
                    <a:pt x="1611388" y="1170292"/>
                  </a:lnTo>
                  <a:close/>
                </a:path>
                <a:path w="5040630" h="3599815">
                  <a:moveTo>
                    <a:pt x="1992388" y="1194447"/>
                  </a:moveTo>
                  <a:lnTo>
                    <a:pt x="1905000" y="1194447"/>
                  </a:lnTo>
                  <a:lnTo>
                    <a:pt x="1905000" y="3599307"/>
                  </a:lnTo>
                  <a:lnTo>
                    <a:pt x="1992388" y="3599307"/>
                  </a:lnTo>
                  <a:lnTo>
                    <a:pt x="1992388" y="1194447"/>
                  </a:lnTo>
                  <a:close/>
                </a:path>
                <a:path w="5040630" h="3599815">
                  <a:moveTo>
                    <a:pt x="2373388" y="1611464"/>
                  </a:moveTo>
                  <a:lnTo>
                    <a:pt x="2286000" y="1611464"/>
                  </a:lnTo>
                  <a:lnTo>
                    <a:pt x="2286000" y="3599307"/>
                  </a:lnTo>
                  <a:lnTo>
                    <a:pt x="2373388" y="3599307"/>
                  </a:lnTo>
                  <a:lnTo>
                    <a:pt x="2373388" y="1611464"/>
                  </a:lnTo>
                  <a:close/>
                </a:path>
                <a:path w="5040630" h="3599815">
                  <a:moveTo>
                    <a:pt x="2754388" y="1750695"/>
                  </a:moveTo>
                  <a:lnTo>
                    <a:pt x="2667000" y="1750695"/>
                  </a:lnTo>
                  <a:lnTo>
                    <a:pt x="2667000" y="3599307"/>
                  </a:lnTo>
                  <a:lnTo>
                    <a:pt x="2754388" y="3599307"/>
                  </a:lnTo>
                  <a:lnTo>
                    <a:pt x="2754388" y="1750695"/>
                  </a:lnTo>
                  <a:close/>
                </a:path>
                <a:path w="5040630" h="3599815">
                  <a:moveTo>
                    <a:pt x="3135388" y="1944751"/>
                  </a:moveTo>
                  <a:lnTo>
                    <a:pt x="3048000" y="1944751"/>
                  </a:lnTo>
                  <a:lnTo>
                    <a:pt x="3048000" y="3599307"/>
                  </a:lnTo>
                  <a:lnTo>
                    <a:pt x="3135388" y="3599307"/>
                  </a:lnTo>
                  <a:lnTo>
                    <a:pt x="3135388" y="1944751"/>
                  </a:lnTo>
                  <a:close/>
                </a:path>
                <a:path w="5040630" h="3599815">
                  <a:moveTo>
                    <a:pt x="3516388" y="1968220"/>
                  </a:moveTo>
                  <a:lnTo>
                    <a:pt x="3429000" y="1968220"/>
                  </a:lnTo>
                  <a:lnTo>
                    <a:pt x="3429000" y="3599307"/>
                  </a:lnTo>
                  <a:lnTo>
                    <a:pt x="3516388" y="3599307"/>
                  </a:lnTo>
                  <a:lnTo>
                    <a:pt x="3516388" y="1968220"/>
                  </a:lnTo>
                  <a:close/>
                </a:path>
                <a:path w="5040630" h="3599815">
                  <a:moveTo>
                    <a:pt x="5040388" y="2305786"/>
                  </a:moveTo>
                  <a:lnTo>
                    <a:pt x="4953000" y="2305786"/>
                  </a:lnTo>
                  <a:lnTo>
                    <a:pt x="4953000" y="3599307"/>
                  </a:lnTo>
                  <a:lnTo>
                    <a:pt x="5040388" y="3599307"/>
                  </a:lnTo>
                  <a:lnTo>
                    <a:pt x="5040388" y="2305786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7936154" y="7118438"/>
              <a:ext cx="5421630" cy="1828800"/>
            </a:xfrm>
            <a:custGeom>
              <a:avLst/>
              <a:gdLst/>
              <a:ahLst/>
              <a:cxnLst/>
              <a:rect l="l" t="t" r="r" b="b"/>
              <a:pathLst>
                <a:path w="5421630" h="1828800">
                  <a:moveTo>
                    <a:pt x="87388" y="0"/>
                  </a:moveTo>
                  <a:lnTo>
                    <a:pt x="0" y="0"/>
                  </a:lnTo>
                  <a:lnTo>
                    <a:pt x="0" y="1828711"/>
                  </a:lnTo>
                  <a:lnTo>
                    <a:pt x="87388" y="1828711"/>
                  </a:lnTo>
                  <a:lnTo>
                    <a:pt x="87388" y="0"/>
                  </a:lnTo>
                  <a:close/>
                </a:path>
                <a:path w="5421630" h="1828800">
                  <a:moveTo>
                    <a:pt x="468388" y="118681"/>
                  </a:moveTo>
                  <a:lnTo>
                    <a:pt x="381000" y="118681"/>
                  </a:lnTo>
                  <a:lnTo>
                    <a:pt x="381000" y="1828711"/>
                  </a:lnTo>
                  <a:lnTo>
                    <a:pt x="468388" y="1828711"/>
                  </a:lnTo>
                  <a:lnTo>
                    <a:pt x="468388" y="118681"/>
                  </a:lnTo>
                  <a:close/>
                </a:path>
                <a:path w="5421630" h="1828800">
                  <a:moveTo>
                    <a:pt x="849388" y="330479"/>
                  </a:moveTo>
                  <a:lnTo>
                    <a:pt x="762000" y="330479"/>
                  </a:lnTo>
                  <a:lnTo>
                    <a:pt x="762000" y="1828711"/>
                  </a:lnTo>
                  <a:lnTo>
                    <a:pt x="849388" y="1828711"/>
                  </a:lnTo>
                  <a:lnTo>
                    <a:pt x="849388" y="330479"/>
                  </a:lnTo>
                  <a:close/>
                </a:path>
                <a:path w="5421630" h="1828800">
                  <a:moveTo>
                    <a:pt x="1230388" y="328561"/>
                  </a:moveTo>
                  <a:lnTo>
                    <a:pt x="1143000" y="328561"/>
                  </a:lnTo>
                  <a:lnTo>
                    <a:pt x="1143000" y="1828711"/>
                  </a:lnTo>
                  <a:lnTo>
                    <a:pt x="1230388" y="1828711"/>
                  </a:lnTo>
                  <a:lnTo>
                    <a:pt x="1230388" y="328561"/>
                  </a:lnTo>
                  <a:close/>
                </a:path>
                <a:path w="5421630" h="1828800">
                  <a:moveTo>
                    <a:pt x="1611388" y="564273"/>
                  </a:moveTo>
                  <a:lnTo>
                    <a:pt x="1524000" y="564273"/>
                  </a:lnTo>
                  <a:lnTo>
                    <a:pt x="1524000" y="1828711"/>
                  </a:lnTo>
                  <a:lnTo>
                    <a:pt x="1611388" y="1828711"/>
                  </a:lnTo>
                  <a:lnTo>
                    <a:pt x="1611388" y="564273"/>
                  </a:lnTo>
                  <a:close/>
                </a:path>
                <a:path w="5421630" h="1828800">
                  <a:moveTo>
                    <a:pt x="1992388" y="824649"/>
                  </a:moveTo>
                  <a:lnTo>
                    <a:pt x="1905000" y="824649"/>
                  </a:lnTo>
                  <a:lnTo>
                    <a:pt x="1905000" y="1828711"/>
                  </a:lnTo>
                  <a:lnTo>
                    <a:pt x="1992388" y="1828711"/>
                  </a:lnTo>
                  <a:lnTo>
                    <a:pt x="1992388" y="824649"/>
                  </a:lnTo>
                  <a:close/>
                </a:path>
                <a:path w="5421630" h="1828800">
                  <a:moveTo>
                    <a:pt x="2373388" y="1112266"/>
                  </a:moveTo>
                  <a:lnTo>
                    <a:pt x="2286000" y="1112266"/>
                  </a:lnTo>
                  <a:lnTo>
                    <a:pt x="2286000" y="1828711"/>
                  </a:lnTo>
                  <a:lnTo>
                    <a:pt x="2373388" y="1828711"/>
                  </a:lnTo>
                  <a:lnTo>
                    <a:pt x="2373388" y="1112266"/>
                  </a:lnTo>
                  <a:close/>
                </a:path>
                <a:path w="5421630" h="1828800">
                  <a:moveTo>
                    <a:pt x="2754388" y="983488"/>
                  </a:moveTo>
                  <a:lnTo>
                    <a:pt x="2667000" y="983488"/>
                  </a:lnTo>
                  <a:lnTo>
                    <a:pt x="2667000" y="1828711"/>
                  </a:lnTo>
                  <a:lnTo>
                    <a:pt x="2754388" y="1828711"/>
                  </a:lnTo>
                  <a:lnTo>
                    <a:pt x="2754388" y="983488"/>
                  </a:lnTo>
                  <a:close/>
                </a:path>
                <a:path w="5421630" h="1828800">
                  <a:moveTo>
                    <a:pt x="3135388" y="943825"/>
                  </a:moveTo>
                  <a:lnTo>
                    <a:pt x="3048000" y="943825"/>
                  </a:lnTo>
                  <a:lnTo>
                    <a:pt x="3048000" y="1828711"/>
                  </a:lnTo>
                  <a:lnTo>
                    <a:pt x="3135388" y="1828711"/>
                  </a:lnTo>
                  <a:lnTo>
                    <a:pt x="3135388" y="943825"/>
                  </a:lnTo>
                  <a:close/>
                </a:path>
                <a:path w="5421630" h="1828800">
                  <a:moveTo>
                    <a:pt x="3516388" y="1379537"/>
                  </a:moveTo>
                  <a:lnTo>
                    <a:pt x="3429000" y="1379537"/>
                  </a:lnTo>
                  <a:lnTo>
                    <a:pt x="3429000" y="1828711"/>
                  </a:lnTo>
                  <a:lnTo>
                    <a:pt x="3516388" y="1828711"/>
                  </a:lnTo>
                  <a:lnTo>
                    <a:pt x="3516388" y="1379537"/>
                  </a:lnTo>
                  <a:close/>
                </a:path>
                <a:path w="5421630" h="1828800">
                  <a:moveTo>
                    <a:pt x="3897388" y="1070267"/>
                  </a:moveTo>
                  <a:lnTo>
                    <a:pt x="3810000" y="1070267"/>
                  </a:lnTo>
                  <a:lnTo>
                    <a:pt x="3810000" y="1828711"/>
                  </a:lnTo>
                  <a:lnTo>
                    <a:pt x="3897388" y="1828711"/>
                  </a:lnTo>
                  <a:lnTo>
                    <a:pt x="3897388" y="1070267"/>
                  </a:lnTo>
                  <a:close/>
                </a:path>
                <a:path w="5421630" h="1828800">
                  <a:moveTo>
                    <a:pt x="4278388" y="1291196"/>
                  </a:moveTo>
                  <a:lnTo>
                    <a:pt x="4191000" y="1291196"/>
                  </a:lnTo>
                  <a:lnTo>
                    <a:pt x="4191000" y="1828711"/>
                  </a:lnTo>
                  <a:lnTo>
                    <a:pt x="4278388" y="1828711"/>
                  </a:lnTo>
                  <a:lnTo>
                    <a:pt x="4278388" y="1291196"/>
                  </a:lnTo>
                  <a:close/>
                </a:path>
                <a:path w="5421630" h="1828800">
                  <a:moveTo>
                    <a:pt x="4659388" y="1388389"/>
                  </a:moveTo>
                  <a:lnTo>
                    <a:pt x="4572000" y="1388389"/>
                  </a:lnTo>
                  <a:lnTo>
                    <a:pt x="4572000" y="1828711"/>
                  </a:lnTo>
                  <a:lnTo>
                    <a:pt x="4659388" y="1828711"/>
                  </a:lnTo>
                  <a:lnTo>
                    <a:pt x="4659388" y="1388389"/>
                  </a:lnTo>
                  <a:close/>
                </a:path>
                <a:path w="5421630" h="1828800">
                  <a:moveTo>
                    <a:pt x="5040388" y="1452168"/>
                  </a:moveTo>
                  <a:lnTo>
                    <a:pt x="4953000" y="1452168"/>
                  </a:lnTo>
                  <a:lnTo>
                    <a:pt x="4953000" y="1828711"/>
                  </a:lnTo>
                  <a:lnTo>
                    <a:pt x="5040388" y="1828711"/>
                  </a:lnTo>
                  <a:lnTo>
                    <a:pt x="5040388" y="1452168"/>
                  </a:lnTo>
                  <a:close/>
                </a:path>
                <a:path w="5421630" h="1828800">
                  <a:moveTo>
                    <a:pt x="5421388" y="1362265"/>
                  </a:moveTo>
                  <a:lnTo>
                    <a:pt x="5334000" y="1362265"/>
                  </a:lnTo>
                  <a:lnTo>
                    <a:pt x="5334000" y="1828711"/>
                  </a:lnTo>
                  <a:lnTo>
                    <a:pt x="5421388" y="1828711"/>
                  </a:lnTo>
                  <a:lnTo>
                    <a:pt x="5421388" y="1362265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7888355" y="5258224"/>
            <a:ext cx="56661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74955" algn="l"/>
                <a:tab pos="655955" algn="l"/>
                <a:tab pos="5627370" algn="l"/>
              </a:tabLst>
            </a:pPr>
            <a:r>
              <a:rPr sz="950" u="sng" dirty="0">
                <a:solidFill>
                  <a:srgbClr val="616161"/>
                </a:solidFill>
                <a:uFill>
                  <a:solidFill>
                    <a:srgbClr val="F0F0F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950" u="sng" spc="-25" dirty="0">
                <a:solidFill>
                  <a:srgbClr val="616161"/>
                </a:solidFill>
                <a:uFill>
                  <a:solidFill>
                    <a:srgbClr val="F0F0F0"/>
                  </a:solidFill>
                </a:uFill>
                <a:latin typeface="Segoe UI"/>
                <a:cs typeface="Segoe UI"/>
              </a:rPr>
              <a:t>79K</a:t>
            </a:r>
            <a:r>
              <a:rPr sz="950" u="sng" dirty="0">
                <a:solidFill>
                  <a:srgbClr val="616161"/>
                </a:solidFill>
                <a:uFill>
                  <a:solidFill>
                    <a:srgbClr val="F0F0F0"/>
                  </a:solidFill>
                </a:uFill>
                <a:latin typeface="Segoe UI"/>
                <a:cs typeface="Segoe UI"/>
              </a:rPr>
              <a:t>	</a:t>
            </a:r>
            <a:r>
              <a:rPr sz="1425" u="sng" spc="-37" baseline="-8771" dirty="0">
                <a:solidFill>
                  <a:srgbClr val="616161"/>
                </a:solidFill>
                <a:uFill>
                  <a:solidFill>
                    <a:srgbClr val="F0F0F0"/>
                  </a:solidFill>
                </a:uFill>
                <a:latin typeface="Segoe UI"/>
                <a:cs typeface="Segoe UI"/>
              </a:rPr>
              <a:t>78K</a:t>
            </a:r>
            <a:r>
              <a:rPr sz="1425" u="sng" baseline="-8771" dirty="0">
                <a:solidFill>
                  <a:srgbClr val="616161"/>
                </a:solidFill>
                <a:uFill>
                  <a:solidFill>
                    <a:srgbClr val="F0F0F0"/>
                  </a:solidFill>
                </a:uFill>
                <a:latin typeface="Segoe UI"/>
                <a:cs typeface="Segoe UI"/>
              </a:rPr>
              <a:t>	</a:t>
            </a:r>
            <a:endParaRPr sz="1425" baseline="-8771">
              <a:latin typeface="Segoe UI"/>
              <a:cs typeface="Segoe U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8913200" y="5630073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9294200" y="6293124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55K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9675200" y="6317276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55K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10056200" y="6734292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45K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7867291" y="6893431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42K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0437200" y="6873526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42K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8248291" y="7012108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10818200" y="7067586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11199200" y="7091050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11580200" y="7093994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1961200" y="7127092"/>
            <a:ext cx="606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1425" spc="-37" baseline="2923" dirty="0">
                <a:solidFill>
                  <a:srgbClr val="616161"/>
                </a:solidFill>
                <a:latin typeface="Segoe UI"/>
                <a:cs typeface="Segoe UI"/>
              </a:rPr>
              <a:t>36K</a:t>
            </a:r>
            <a:r>
              <a:rPr sz="1425" baseline="2923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8629291" y="7223907"/>
            <a:ext cx="606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34K</a:t>
            </a:r>
            <a:r>
              <a:rPr sz="9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34K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9391291" y="7457703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12723200" y="7428617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13104200" y="7503222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28K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9772291" y="7718078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23K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10534291" y="7876916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10915291" y="7837255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0153291" y="8005695"/>
            <a:ext cx="2254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16K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1296291" y="8272960"/>
            <a:ext cx="9080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11365164" y="8077552"/>
            <a:ext cx="284480" cy="412115"/>
          </a:xfrm>
          <a:prstGeom prst="rect">
            <a:avLst/>
          </a:prstGeom>
          <a:solidFill>
            <a:srgbClr val="FAFAFA">
              <a:alpha val="85998"/>
            </a:srgbClr>
          </a:solidFill>
        </p:spPr>
        <p:txBody>
          <a:bodyPr vert="horz" wrap="square" lIns="0" tIns="692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5"/>
              </a:spcBef>
            </a:pPr>
            <a:endParaRPr sz="950">
              <a:latin typeface="Times New Roman"/>
              <a:cs typeface="Times New Roman"/>
            </a:endParaRPr>
          </a:p>
          <a:p>
            <a:pPr marL="8255">
              <a:lnSpc>
                <a:spcPct val="100000"/>
              </a:lnSpc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11649074" y="7341752"/>
            <a:ext cx="109855" cy="1605915"/>
          </a:xfrm>
          <a:prstGeom prst="rect">
            <a:avLst/>
          </a:prstGeom>
          <a:solidFill>
            <a:srgbClr val="118CFF"/>
          </a:solidFill>
        </p:spPr>
        <p:txBody>
          <a:bodyPr vert="horz" wrap="square" lIns="0" tIns="0" rIns="0" bIns="0" rtlCol="0">
            <a:spAutoFit/>
          </a:bodyPr>
          <a:lstStyle/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  <a:spcBef>
                <a:spcPts val="625"/>
              </a:spcBef>
            </a:pPr>
            <a:endParaRPr sz="9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950" spc="-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11742295" y="7963699"/>
            <a:ext cx="1606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7K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2030074" y="7341752"/>
            <a:ext cx="109855" cy="1605915"/>
          </a:xfrm>
          <a:prstGeom prst="rect">
            <a:avLst/>
          </a:prstGeom>
          <a:solidFill>
            <a:srgbClr val="118CFF"/>
          </a:solidFill>
        </p:spPr>
        <p:txBody>
          <a:bodyPr vert="horz" wrap="square" lIns="0" tIns="0" rIns="0" bIns="0" rtlCol="0">
            <a:spAutoFit/>
          </a:bodyPr>
          <a:lstStyle/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  <a:spcBef>
                <a:spcPts val="180"/>
              </a:spcBef>
            </a:pPr>
            <a:endParaRPr sz="9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950" spc="-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2127164" y="8077552"/>
            <a:ext cx="284480" cy="332105"/>
          </a:xfrm>
          <a:prstGeom prst="rect">
            <a:avLst/>
          </a:prstGeom>
          <a:solidFill>
            <a:srgbClr val="FAFAFA">
              <a:alpha val="85998"/>
            </a:srgbClr>
          </a:solidFill>
        </p:spPr>
        <p:txBody>
          <a:bodyPr vert="horz" wrap="square" lIns="0" tIns="119380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94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2411074" y="7341752"/>
            <a:ext cx="109855" cy="1605915"/>
          </a:xfrm>
          <a:prstGeom prst="rect">
            <a:avLst/>
          </a:prstGeom>
          <a:solidFill>
            <a:srgbClr val="118CFF"/>
          </a:solidFill>
        </p:spPr>
        <p:txBody>
          <a:bodyPr vert="horz" wrap="square" lIns="0" tIns="0" rIns="0" bIns="0" rtlCol="0">
            <a:spAutoFit/>
          </a:bodyPr>
          <a:lstStyle/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  <a:spcBef>
                <a:spcPts val="944"/>
              </a:spcBef>
            </a:pPr>
            <a:endParaRPr sz="9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950" spc="-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2508164" y="8077552"/>
            <a:ext cx="284480" cy="421005"/>
          </a:xfrm>
          <a:prstGeom prst="rect">
            <a:avLst/>
          </a:prstGeom>
          <a:solidFill>
            <a:srgbClr val="FAFAFA">
              <a:alpha val="85998"/>
            </a:srgbClr>
          </a:solidFill>
        </p:spPr>
        <p:txBody>
          <a:bodyPr vert="horz" wrap="square" lIns="0" tIns="781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endParaRPr sz="950">
              <a:latin typeface="Times New Roman"/>
              <a:cs typeface="Times New Roman"/>
            </a:endParaRPr>
          </a:p>
          <a:p>
            <a:pPr marL="8255">
              <a:lnSpc>
                <a:spcPct val="100000"/>
              </a:lnSpc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0K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2852736" y="8345592"/>
            <a:ext cx="1606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9K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3173075" y="7728226"/>
            <a:ext cx="109855" cy="1219200"/>
          </a:xfrm>
          <a:prstGeom prst="rect">
            <a:avLst/>
          </a:prstGeom>
          <a:solidFill>
            <a:srgbClr val="118CFF"/>
          </a:solidFill>
        </p:spPr>
        <p:txBody>
          <a:bodyPr vert="horz" wrap="square" lIns="0" tIns="0" rIns="0" bIns="0" rtlCol="0">
            <a:spAutoFit/>
          </a:bodyPr>
          <a:lstStyle/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 marR="3175">
              <a:lnSpc>
                <a:spcPct val="100000"/>
              </a:lnSpc>
              <a:spcBef>
                <a:spcPts val="975"/>
              </a:spcBef>
            </a:pPr>
            <a:endParaRPr sz="9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950" spc="-50" dirty="0">
                <a:solidFill>
                  <a:srgbClr val="616161"/>
                </a:solidFill>
                <a:latin typeface="Segoe UI"/>
                <a:cs typeface="Segoe UI"/>
              </a:rPr>
              <a:t>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3266295" y="8255691"/>
            <a:ext cx="1606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1K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429450" y="8848576"/>
            <a:ext cx="175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0K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3" name="object 103"/>
          <p:cNvSpPr txBox="1"/>
          <p:nvPr/>
        </p:nvSpPr>
        <p:spPr>
          <a:xfrm rot="19560000">
            <a:off x="7233443" y="9169475"/>
            <a:ext cx="692412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Smart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0" baseline="2645" dirty="0">
                <a:solidFill>
                  <a:srgbClr val="616161"/>
                </a:solidFill>
                <a:latin typeface="Segoe UI"/>
                <a:cs typeface="Segoe UI"/>
              </a:rPr>
              <a:t>Car…</a:t>
            </a:r>
            <a:endParaRPr sz="1575" baseline="2645">
              <a:latin typeface="Segoe UI"/>
              <a:cs typeface="Segoe UI"/>
            </a:endParaRPr>
          </a:p>
        </p:txBody>
      </p:sp>
      <p:sp>
        <p:nvSpPr>
          <p:cNvPr id="104" name="object 104"/>
          <p:cNvSpPr txBox="1"/>
          <p:nvPr/>
        </p:nvSpPr>
        <p:spPr>
          <a:xfrm rot="19560000">
            <a:off x="7180945" y="9309160"/>
            <a:ext cx="1167783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Rocket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15" baseline="2645" dirty="0">
                <a:solidFill>
                  <a:srgbClr val="616161"/>
                </a:solidFill>
                <a:latin typeface="Segoe UI"/>
                <a:cs typeface="Segoe UI"/>
              </a:rPr>
              <a:t>Sticker</a:t>
            </a:r>
            <a:r>
              <a:rPr sz="1575" spc="-37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0" baseline="5291" dirty="0">
                <a:solidFill>
                  <a:srgbClr val="616161"/>
                </a:solidFill>
                <a:latin typeface="Segoe UI"/>
                <a:cs typeface="Segoe UI"/>
              </a:rPr>
              <a:t>Book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05" name="object 105"/>
          <p:cNvSpPr txBox="1"/>
          <p:nvPr/>
        </p:nvSpPr>
        <p:spPr>
          <a:xfrm rot="19560000">
            <a:off x="7701347" y="9264316"/>
            <a:ext cx="1014640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Adventure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15" baseline="5291" dirty="0">
                <a:solidFill>
                  <a:srgbClr val="616161"/>
                </a:solidFill>
                <a:latin typeface="Segoe UI"/>
                <a:cs typeface="Segoe UI"/>
              </a:rPr>
              <a:t>Robot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06" name="object 106"/>
          <p:cNvSpPr txBox="1"/>
          <p:nvPr/>
        </p:nvSpPr>
        <p:spPr>
          <a:xfrm rot="19560000">
            <a:off x="7971581" y="9299919"/>
            <a:ext cx="1136247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Deluxe</a:t>
            </a:r>
            <a:r>
              <a:rPr sz="1050" spc="-6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Science</a:t>
            </a:r>
            <a:r>
              <a:rPr sz="1575" spc="-89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7" baseline="7936" dirty="0">
                <a:solidFill>
                  <a:srgbClr val="616161"/>
                </a:solidFill>
                <a:latin typeface="Segoe UI"/>
                <a:cs typeface="Segoe UI"/>
              </a:rPr>
              <a:t>Lab</a:t>
            </a:r>
            <a:endParaRPr sz="1575" baseline="7936">
              <a:latin typeface="Segoe UI"/>
              <a:cs typeface="Segoe UI"/>
            </a:endParaRPr>
          </a:p>
        </p:txBody>
      </p:sp>
      <p:sp>
        <p:nvSpPr>
          <p:cNvPr id="107" name="object 107"/>
          <p:cNvSpPr txBox="1"/>
          <p:nvPr/>
        </p:nvSpPr>
        <p:spPr>
          <a:xfrm rot="19560000">
            <a:off x="8400727" y="9284478"/>
            <a:ext cx="1083293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Deluxe</a:t>
            </a:r>
            <a:r>
              <a:rPr sz="1050" spc="-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Builder</a:t>
            </a:r>
            <a:r>
              <a:rPr sz="1575" spc="-60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7" baseline="5291" dirty="0">
                <a:solidFill>
                  <a:srgbClr val="616161"/>
                </a:solidFill>
                <a:latin typeface="Segoe UI"/>
                <a:cs typeface="Segoe UI"/>
              </a:rPr>
              <a:t>Set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08" name="object 108"/>
          <p:cNvSpPr txBox="1"/>
          <p:nvPr/>
        </p:nvSpPr>
        <p:spPr>
          <a:xfrm rot="19560000">
            <a:off x="8600391" y="9342724"/>
            <a:ext cx="1282665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Rainbow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Board</a:t>
            </a:r>
            <a:r>
              <a:rPr sz="1575" spc="-37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0" baseline="7936" dirty="0">
                <a:solidFill>
                  <a:srgbClr val="616161"/>
                </a:solidFill>
                <a:latin typeface="Segoe UI"/>
                <a:cs typeface="Segoe UI"/>
              </a:rPr>
              <a:t>Game</a:t>
            </a:r>
            <a:endParaRPr sz="1575" baseline="7936">
              <a:latin typeface="Segoe UI"/>
              <a:cs typeface="Segoe UI"/>
            </a:endParaRPr>
          </a:p>
        </p:txBody>
      </p:sp>
      <p:sp>
        <p:nvSpPr>
          <p:cNvPr id="109" name="object 109"/>
          <p:cNvSpPr txBox="1"/>
          <p:nvPr/>
        </p:nvSpPr>
        <p:spPr>
          <a:xfrm rot="19560000">
            <a:off x="9233949" y="9261564"/>
            <a:ext cx="1005199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Smart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Plush</a:t>
            </a:r>
            <a:r>
              <a:rPr sz="1575" spc="-52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0" baseline="5291" dirty="0">
                <a:solidFill>
                  <a:srgbClr val="616161"/>
                </a:solidFill>
                <a:latin typeface="Segoe UI"/>
                <a:cs typeface="Segoe UI"/>
              </a:rPr>
              <a:t>Bear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10" name="object 110"/>
          <p:cNvSpPr txBox="1"/>
          <p:nvPr/>
        </p:nvSpPr>
        <p:spPr>
          <a:xfrm rot="19560000">
            <a:off x="9251992" y="9378151"/>
            <a:ext cx="1403982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Galaxy</a:t>
            </a:r>
            <a:r>
              <a:rPr sz="1050" spc="-5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Space</a:t>
            </a:r>
            <a:r>
              <a:rPr sz="1575" spc="-75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5291" dirty="0">
                <a:solidFill>
                  <a:srgbClr val="616161"/>
                </a:solidFill>
                <a:latin typeface="Segoe UI"/>
                <a:cs typeface="Segoe UI"/>
              </a:rPr>
              <a:t>Ship</a:t>
            </a:r>
            <a:r>
              <a:rPr sz="1575" spc="-75" baseline="529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0" baseline="7936" dirty="0">
                <a:solidFill>
                  <a:srgbClr val="616161"/>
                </a:solidFill>
                <a:latin typeface="Segoe UI"/>
                <a:cs typeface="Segoe UI"/>
              </a:rPr>
              <a:t>#133</a:t>
            </a:r>
            <a:endParaRPr sz="1575" baseline="7936">
              <a:latin typeface="Segoe UI"/>
              <a:cs typeface="Segoe UI"/>
            </a:endParaRPr>
          </a:p>
        </p:txBody>
      </p:sp>
      <p:sp>
        <p:nvSpPr>
          <p:cNvPr id="111" name="object 111"/>
          <p:cNvSpPr txBox="1"/>
          <p:nvPr/>
        </p:nvSpPr>
        <p:spPr>
          <a:xfrm rot="19560000">
            <a:off x="10003064" y="9259251"/>
            <a:ext cx="997647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Retro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Builder</a:t>
            </a:r>
            <a:r>
              <a:rPr sz="1575" spc="-44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7" baseline="5291" dirty="0">
                <a:solidFill>
                  <a:srgbClr val="616161"/>
                </a:solidFill>
                <a:latin typeface="Segoe UI"/>
                <a:cs typeface="Segoe UI"/>
              </a:rPr>
              <a:t>Set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12" name="object 112"/>
          <p:cNvSpPr txBox="1"/>
          <p:nvPr/>
        </p:nvSpPr>
        <p:spPr>
          <a:xfrm rot="19560000">
            <a:off x="10485688" y="9226546"/>
            <a:ext cx="885760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City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Plush</a:t>
            </a:r>
            <a:r>
              <a:rPr sz="1575" spc="-52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0" baseline="5291" dirty="0">
                <a:solidFill>
                  <a:srgbClr val="616161"/>
                </a:solidFill>
                <a:latin typeface="Segoe UI"/>
                <a:cs typeface="Segoe UI"/>
              </a:rPr>
              <a:t>Bear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13" name="object 113"/>
          <p:cNvSpPr txBox="1"/>
          <p:nvPr/>
        </p:nvSpPr>
        <p:spPr>
          <a:xfrm rot="19560000">
            <a:off x="10784673" y="9252946"/>
            <a:ext cx="975626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Pro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Board</a:t>
            </a:r>
            <a:r>
              <a:rPr sz="1575" spc="-37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0" baseline="5291" dirty="0">
                <a:solidFill>
                  <a:srgbClr val="616161"/>
                </a:solidFill>
                <a:latin typeface="Segoe UI"/>
                <a:cs typeface="Segoe UI"/>
              </a:rPr>
              <a:t>Game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14" name="object 114"/>
          <p:cNvSpPr txBox="1"/>
          <p:nvPr/>
        </p:nvSpPr>
        <p:spPr>
          <a:xfrm rot="19560000">
            <a:off x="11047559" y="9290958"/>
            <a:ext cx="1105353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Pro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Explorer</a:t>
            </a:r>
            <a:r>
              <a:rPr sz="1575" spc="-37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5291" dirty="0">
                <a:solidFill>
                  <a:srgbClr val="616161"/>
                </a:solidFill>
                <a:latin typeface="Segoe UI"/>
                <a:cs typeface="Segoe UI"/>
              </a:rPr>
              <a:t>Kit</a:t>
            </a:r>
            <a:r>
              <a:rPr sz="1575" spc="-37" baseline="5291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7" baseline="7936" dirty="0">
                <a:solidFill>
                  <a:srgbClr val="616161"/>
                </a:solidFill>
                <a:latin typeface="Segoe UI"/>
                <a:cs typeface="Segoe UI"/>
              </a:rPr>
              <a:t>#7</a:t>
            </a:r>
            <a:endParaRPr sz="1575" baseline="7936">
              <a:latin typeface="Segoe UI"/>
              <a:cs typeface="Segoe UI"/>
            </a:endParaRPr>
          </a:p>
        </p:txBody>
      </p:sp>
      <p:sp>
        <p:nvSpPr>
          <p:cNvPr id="115" name="object 115"/>
          <p:cNvSpPr txBox="1"/>
          <p:nvPr/>
        </p:nvSpPr>
        <p:spPr>
          <a:xfrm rot="19560000">
            <a:off x="11525188" y="9259875"/>
            <a:ext cx="999535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Dino</a:t>
            </a:r>
            <a:r>
              <a:rPr sz="1050" spc="-4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Explorer</a:t>
            </a:r>
            <a:r>
              <a:rPr sz="1575" spc="-52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7" baseline="5291" dirty="0">
                <a:solidFill>
                  <a:srgbClr val="616161"/>
                </a:solidFill>
                <a:latin typeface="Segoe UI"/>
                <a:cs typeface="Segoe UI"/>
              </a:rPr>
              <a:t>Kit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16" name="object 116"/>
          <p:cNvSpPr txBox="1"/>
          <p:nvPr/>
        </p:nvSpPr>
        <p:spPr>
          <a:xfrm rot="19560000">
            <a:off x="11873806" y="9270289"/>
            <a:ext cx="1034788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Retro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Explorer</a:t>
            </a:r>
            <a:r>
              <a:rPr sz="1575" spc="-44" baseline="264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spc="-37" baseline="5291" dirty="0">
                <a:solidFill>
                  <a:srgbClr val="616161"/>
                </a:solidFill>
                <a:latin typeface="Segoe UI"/>
                <a:cs typeface="Segoe UI"/>
              </a:rPr>
              <a:t>Kit</a:t>
            </a:r>
            <a:endParaRPr sz="1575" baseline="5291">
              <a:latin typeface="Segoe UI"/>
              <a:cs typeface="Segoe UI"/>
            </a:endParaRPr>
          </a:p>
        </p:txBody>
      </p:sp>
      <p:sp>
        <p:nvSpPr>
          <p:cNvPr id="117" name="object 117"/>
          <p:cNvSpPr txBox="1"/>
          <p:nvPr/>
        </p:nvSpPr>
        <p:spPr>
          <a:xfrm rot="19560000">
            <a:off x="12624305" y="9151087"/>
            <a:ext cx="630219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Eco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575" baseline="2645" dirty="0">
                <a:solidFill>
                  <a:srgbClr val="616161"/>
                </a:solidFill>
                <a:latin typeface="Segoe UI"/>
                <a:cs typeface="Segoe UI"/>
              </a:rPr>
              <a:t>Art</a:t>
            </a:r>
            <a:r>
              <a:rPr sz="1575" spc="-37" baseline="2645" dirty="0">
                <a:solidFill>
                  <a:srgbClr val="616161"/>
                </a:solidFill>
                <a:latin typeface="Segoe UI"/>
                <a:cs typeface="Segoe UI"/>
              </a:rPr>
              <a:t> Kit</a:t>
            </a:r>
            <a:endParaRPr sz="1575" baseline="2645">
              <a:latin typeface="Segoe UI"/>
              <a:cs typeface="Segoe UI"/>
            </a:endParaRPr>
          </a:p>
        </p:txBody>
      </p:sp>
      <p:pic>
        <p:nvPicPr>
          <p:cNvPr id="153" name="object 15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69480" y="10178414"/>
            <a:ext cx="95249" cy="95249"/>
          </a:xfrm>
          <a:prstGeom prst="rect">
            <a:avLst/>
          </a:prstGeom>
        </p:spPr>
      </p:pic>
      <p:sp>
        <p:nvSpPr>
          <p:cNvPr id="154" name="object 154"/>
          <p:cNvSpPr txBox="1"/>
          <p:nvPr/>
        </p:nvSpPr>
        <p:spPr>
          <a:xfrm>
            <a:off x="7372895" y="10121899"/>
            <a:ext cx="5257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55" name="object 1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5755" y="10178414"/>
            <a:ext cx="95249" cy="95249"/>
          </a:xfrm>
          <a:prstGeom prst="rect">
            <a:avLst/>
          </a:prstGeom>
        </p:spPr>
      </p:pic>
      <p:sp>
        <p:nvSpPr>
          <p:cNvPr id="156" name="object 156"/>
          <p:cNvSpPr txBox="1"/>
          <p:nvPr/>
        </p:nvSpPr>
        <p:spPr>
          <a:xfrm>
            <a:off x="8049766" y="10121899"/>
            <a:ext cx="70993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Gross</a:t>
            </a:r>
            <a:r>
              <a:rPr sz="1050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Profit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227" name="object 227"/>
          <p:cNvGrpSpPr/>
          <p:nvPr/>
        </p:nvGrpSpPr>
        <p:grpSpPr>
          <a:xfrm>
            <a:off x="13677898" y="228599"/>
            <a:ext cx="4829175" cy="10292080"/>
            <a:chOff x="13677898" y="228599"/>
            <a:chExt cx="4829175" cy="10292080"/>
          </a:xfrm>
        </p:grpSpPr>
        <p:sp>
          <p:nvSpPr>
            <p:cNvPr id="228" name="object 228"/>
            <p:cNvSpPr/>
            <p:nvPr/>
          </p:nvSpPr>
          <p:spPr>
            <a:xfrm>
              <a:off x="13682660" y="233362"/>
              <a:ext cx="4819650" cy="10282555"/>
            </a:xfrm>
            <a:custGeom>
              <a:avLst/>
              <a:gdLst/>
              <a:ahLst/>
              <a:cxnLst/>
              <a:rect l="l" t="t" r="r" b="b"/>
              <a:pathLst>
                <a:path w="4819650" h="10282555">
                  <a:moveTo>
                    <a:pt x="4773914" y="10282236"/>
                  </a:moveTo>
                  <a:lnTo>
                    <a:pt x="45734" y="10282236"/>
                  </a:lnTo>
                  <a:lnTo>
                    <a:pt x="39765" y="10279764"/>
                  </a:lnTo>
                  <a:lnTo>
                    <a:pt x="9433" y="10251347"/>
                  </a:lnTo>
                  <a:lnTo>
                    <a:pt x="0" y="10220251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752902" y="0"/>
                  </a:lnTo>
                  <a:lnTo>
                    <a:pt x="4791799" y="14645"/>
                  </a:lnTo>
                  <a:lnTo>
                    <a:pt x="4816005" y="48433"/>
                  </a:lnTo>
                  <a:lnTo>
                    <a:pt x="4819649" y="66746"/>
                  </a:lnTo>
                  <a:lnTo>
                    <a:pt x="4819649" y="10220251"/>
                  </a:lnTo>
                  <a:lnTo>
                    <a:pt x="4805003" y="10259149"/>
                  </a:lnTo>
                  <a:lnTo>
                    <a:pt x="4773914" y="102822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13682660" y="233362"/>
              <a:ext cx="4819650" cy="10282555"/>
            </a:xfrm>
            <a:custGeom>
              <a:avLst/>
              <a:gdLst/>
              <a:ahLst/>
              <a:cxnLst/>
              <a:rect l="l" t="t" r="r" b="b"/>
              <a:pathLst>
                <a:path w="4819650" h="10282555">
                  <a:moveTo>
                    <a:pt x="45734" y="10282236"/>
                  </a:moveTo>
                  <a:lnTo>
                    <a:pt x="44099" y="10281559"/>
                  </a:lnTo>
                  <a:lnTo>
                    <a:pt x="39765" y="10279764"/>
                  </a:lnTo>
                  <a:lnTo>
                    <a:pt x="35649" y="10277563"/>
                  </a:lnTo>
                  <a:lnTo>
                    <a:pt x="31748" y="10274957"/>
                  </a:lnTo>
                  <a:lnTo>
                    <a:pt x="27848" y="10272351"/>
                  </a:lnTo>
                  <a:lnTo>
                    <a:pt x="24240" y="10269391"/>
                  </a:lnTo>
                  <a:lnTo>
                    <a:pt x="20923" y="10266074"/>
                  </a:lnTo>
                  <a:lnTo>
                    <a:pt x="17606" y="10262757"/>
                  </a:lnTo>
                  <a:lnTo>
                    <a:pt x="5437" y="10242896"/>
                  </a:lnTo>
                  <a:lnTo>
                    <a:pt x="3642" y="10238563"/>
                  </a:lnTo>
                  <a:lnTo>
                    <a:pt x="2287" y="10234097"/>
                  </a:lnTo>
                  <a:lnTo>
                    <a:pt x="1372" y="10229497"/>
                  </a:lnTo>
                  <a:lnTo>
                    <a:pt x="457" y="10224896"/>
                  </a:lnTo>
                  <a:lnTo>
                    <a:pt x="0" y="10220251"/>
                  </a:lnTo>
                  <a:lnTo>
                    <a:pt x="0" y="10215561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748211" y="0"/>
                  </a:lnTo>
                  <a:lnTo>
                    <a:pt x="4752902" y="0"/>
                  </a:lnTo>
                  <a:lnTo>
                    <a:pt x="4757547" y="457"/>
                  </a:lnTo>
                  <a:lnTo>
                    <a:pt x="4762148" y="1372"/>
                  </a:lnTo>
                  <a:lnTo>
                    <a:pt x="4766748" y="2287"/>
                  </a:lnTo>
                  <a:lnTo>
                    <a:pt x="4787899" y="12039"/>
                  </a:lnTo>
                  <a:lnTo>
                    <a:pt x="4791799" y="14645"/>
                  </a:lnTo>
                  <a:lnTo>
                    <a:pt x="4816005" y="48433"/>
                  </a:lnTo>
                  <a:lnTo>
                    <a:pt x="4818276" y="57500"/>
                  </a:lnTo>
                  <a:lnTo>
                    <a:pt x="4819191" y="62101"/>
                  </a:lnTo>
                  <a:lnTo>
                    <a:pt x="4819649" y="66746"/>
                  </a:lnTo>
                  <a:lnTo>
                    <a:pt x="4819649" y="71437"/>
                  </a:lnTo>
                  <a:lnTo>
                    <a:pt x="4819649" y="10215561"/>
                  </a:lnTo>
                  <a:lnTo>
                    <a:pt x="4807609" y="10255248"/>
                  </a:lnTo>
                  <a:lnTo>
                    <a:pt x="4787899" y="10274957"/>
                  </a:lnTo>
                  <a:lnTo>
                    <a:pt x="4783999" y="10277563"/>
                  </a:lnTo>
                  <a:lnTo>
                    <a:pt x="4779882" y="10279764"/>
                  </a:lnTo>
                  <a:lnTo>
                    <a:pt x="4775549" y="10281559"/>
                  </a:lnTo>
                  <a:lnTo>
                    <a:pt x="4773914" y="10282236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0" name="object 230"/>
          <p:cNvSpPr txBox="1"/>
          <p:nvPr/>
        </p:nvSpPr>
        <p:spPr>
          <a:xfrm>
            <a:off x="14657734" y="314388"/>
            <a:ext cx="28886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Product</a:t>
            </a:r>
            <a:r>
              <a:rPr sz="2000" spc="-10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85" dirty="0">
                <a:solidFill>
                  <a:srgbClr val="242424"/>
                </a:solidFill>
                <a:latin typeface="Tahoma"/>
                <a:cs typeface="Tahoma"/>
              </a:rPr>
              <a:t>Performance</a:t>
            </a:r>
            <a:r>
              <a:rPr sz="2000" spc="-10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42424"/>
                </a:solidFill>
                <a:latin typeface="Tahoma"/>
                <a:cs typeface="Tahoma"/>
              </a:rPr>
              <a:t>Matrix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231" name="object 231"/>
          <p:cNvGraphicFramePr>
            <a:graphicFrameLocks noGrp="1"/>
          </p:cNvGraphicFramePr>
          <p:nvPr/>
        </p:nvGraphicFramePr>
        <p:xfrm>
          <a:off x="13839823" y="786376"/>
          <a:ext cx="4502781" cy="4452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5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265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Product_Name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Total</a:t>
                      </a:r>
                      <a:r>
                        <a:rPr sz="1050" spc="-5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Units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Revenue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Gross</a:t>
                      </a:r>
                      <a:r>
                        <a:rPr sz="1050" spc="-3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Profit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Gross</a:t>
                      </a:r>
                      <a:r>
                        <a:rPr sz="1050" spc="-3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Margin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Adventure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Robot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R w="9525">
                      <a:solidFill>
                        <a:srgbClr val="242424"/>
                      </a:solidFill>
                      <a:prstDash val="solid"/>
                    </a:lnR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2209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9525">
                      <a:solidFill>
                        <a:srgbClr val="242424"/>
                      </a:solidFill>
                      <a:prstDash val="solid"/>
                    </a:lnL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78420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34,084.87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43.46%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City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Plush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Bear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3395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37107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10,218.95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27.54%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Deluxe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Builder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Set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3341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55260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28,766.01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52.06%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Deluxe</a:t>
                      </a:r>
                      <a:r>
                        <a:rPr sz="1050" spc="-3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Science</a:t>
                      </a:r>
                      <a:r>
                        <a:rPr sz="1050" spc="-3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Lab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2515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70345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34,128.55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48.52%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Dino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Explorer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Kit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2955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36287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10,017.45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27.61%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Eco Art 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Kit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4367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27730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10,611.81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38.27%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Galaxy</a:t>
                      </a:r>
                      <a:r>
                        <a:rPr sz="1050" spc="-3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Space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Ship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#133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3869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42056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19,228.93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45.72%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Pro Board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3565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37040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17,254.60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46.58%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Pro Explorer Kit 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#7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3474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36442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12,228.48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33.56%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Rainbow Board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3091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54711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22,842.49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41.75%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Retro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Builder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Set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3495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37641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20,131.20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53.48%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Retro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Explorer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Kit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3966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29428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8,566.56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29.11%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Rocket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Sticker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Book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2696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78804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38,903.28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49.37%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Smart Card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Deck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2698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81884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41,603.16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50.81%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Smart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Plush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Bear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3340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45224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16,299.20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36.04%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9715"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b="1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Total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b="1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48976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b="1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748380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b="1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324,885.54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b="1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43.41%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32" name="object 232"/>
          <p:cNvGrpSpPr/>
          <p:nvPr/>
        </p:nvGrpSpPr>
        <p:grpSpPr>
          <a:xfrm>
            <a:off x="13839825" y="10277474"/>
            <a:ext cx="4505325" cy="85725"/>
            <a:chOff x="13839825" y="10277474"/>
            <a:chExt cx="4505325" cy="85725"/>
          </a:xfrm>
        </p:grpSpPr>
        <p:sp>
          <p:nvSpPr>
            <p:cNvPr id="233" name="object 233"/>
            <p:cNvSpPr/>
            <p:nvPr/>
          </p:nvSpPr>
          <p:spPr>
            <a:xfrm>
              <a:off x="13839825" y="10277474"/>
              <a:ext cx="4505325" cy="85725"/>
            </a:xfrm>
            <a:custGeom>
              <a:avLst/>
              <a:gdLst/>
              <a:ahLst/>
              <a:cxnLst/>
              <a:rect l="l" t="t" r="r" b="b"/>
              <a:pathLst>
                <a:path w="4505325" h="85725">
                  <a:moveTo>
                    <a:pt x="4468145" y="85723"/>
                  </a:moveTo>
                  <a:lnTo>
                    <a:pt x="37178" y="85723"/>
                  </a:lnTo>
                  <a:lnTo>
                    <a:pt x="31710" y="84636"/>
                  </a:lnTo>
                  <a:lnTo>
                    <a:pt x="1087" y="54012"/>
                  </a:lnTo>
                  <a:lnTo>
                    <a:pt x="0" y="48545"/>
                  </a:lnTo>
                  <a:lnTo>
                    <a:pt x="0" y="42862"/>
                  </a:lnTo>
                  <a:lnTo>
                    <a:pt x="0" y="37177"/>
                  </a:lnTo>
                  <a:lnTo>
                    <a:pt x="21208" y="5436"/>
                  </a:lnTo>
                  <a:lnTo>
                    <a:pt x="37178" y="0"/>
                  </a:lnTo>
                  <a:lnTo>
                    <a:pt x="4468145" y="0"/>
                  </a:lnTo>
                  <a:lnTo>
                    <a:pt x="4499886" y="21205"/>
                  </a:lnTo>
                  <a:lnTo>
                    <a:pt x="4505324" y="37177"/>
                  </a:lnTo>
                  <a:lnTo>
                    <a:pt x="4505324" y="48545"/>
                  </a:lnTo>
                  <a:lnTo>
                    <a:pt x="4484115" y="80285"/>
                  </a:lnTo>
                  <a:lnTo>
                    <a:pt x="4473613" y="84635"/>
                  </a:lnTo>
                  <a:lnTo>
                    <a:pt x="4468145" y="85723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13844587" y="10282237"/>
              <a:ext cx="3895725" cy="76200"/>
            </a:xfrm>
            <a:custGeom>
              <a:avLst/>
              <a:gdLst/>
              <a:ahLst/>
              <a:cxnLst/>
              <a:rect l="l" t="t" r="r" b="b"/>
              <a:pathLst>
                <a:path w="3895725" h="76200">
                  <a:moveTo>
                    <a:pt x="3862676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62676" y="0"/>
                  </a:lnTo>
                  <a:lnTo>
                    <a:pt x="3894757" y="28187"/>
                  </a:lnTo>
                  <a:lnTo>
                    <a:pt x="3895724" y="33047"/>
                  </a:lnTo>
                  <a:lnTo>
                    <a:pt x="3895724" y="43152"/>
                  </a:lnTo>
                  <a:lnTo>
                    <a:pt x="3867536" y="75233"/>
                  </a:lnTo>
                  <a:lnTo>
                    <a:pt x="3862676" y="76199"/>
                  </a:lnTo>
                  <a:close/>
                </a:path>
              </a:pathLst>
            </a:custGeom>
            <a:solidFill>
              <a:srgbClr val="605D5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13844587" y="10282237"/>
              <a:ext cx="3895725" cy="76200"/>
            </a:xfrm>
            <a:custGeom>
              <a:avLst/>
              <a:gdLst/>
              <a:ahLst/>
              <a:cxnLst/>
              <a:rect l="l" t="t" r="r" b="b"/>
              <a:pathLst>
                <a:path w="3895725" h="76200">
                  <a:moveTo>
                    <a:pt x="0" y="38099"/>
                  </a:move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3857624" y="0"/>
                  </a:lnTo>
                  <a:lnTo>
                    <a:pt x="3862676" y="0"/>
                  </a:lnTo>
                  <a:lnTo>
                    <a:pt x="3867536" y="966"/>
                  </a:lnTo>
                  <a:lnTo>
                    <a:pt x="3872204" y="2900"/>
                  </a:lnTo>
                  <a:lnTo>
                    <a:pt x="3876871" y="4833"/>
                  </a:lnTo>
                  <a:lnTo>
                    <a:pt x="3892823" y="23519"/>
                  </a:lnTo>
                  <a:lnTo>
                    <a:pt x="3894757" y="28187"/>
                  </a:lnTo>
                  <a:lnTo>
                    <a:pt x="3895724" y="33047"/>
                  </a:lnTo>
                  <a:lnTo>
                    <a:pt x="3895724" y="38099"/>
                  </a:lnTo>
                  <a:lnTo>
                    <a:pt x="3895724" y="43152"/>
                  </a:lnTo>
                  <a:lnTo>
                    <a:pt x="3894757" y="48012"/>
                  </a:lnTo>
                  <a:lnTo>
                    <a:pt x="3892823" y="52680"/>
                  </a:lnTo>
                  <a:lnTo>
                    <a:pt x="3890890" y="57348"/>
                  </a:lnTo>
                  <a:lnTo>
                    <a:pt x="3872204" y="73299"/>
                  </a:lnTo>
                  <a:lnTo>
                    <a:pt x="3867536" y="75233"/>
                  </a:lnTo>
                  <a:lnTo>
                    <a:pt x="3862676" y="76199"/>
                  </a:lnTo>
                  <a:lnTo>
                    <a:pt x="3857624" y="76199"/>
                  </a:lnTo>
                  <a:lnTo>
                    <a:pt x="38099" y="76199"/>
                  </a:lnTo>
                  <a:lnTo>
                    <a:pt x="4833" y="57348"/>
                  </a:lnTo>
                  <a:lnTo>
                    <a:pt x="0" y="43152"/>
                  </a:lnTo>
                  <a:lnTo>
                    <a:pt x="0" y="380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7" name="Title 1">
            <a:extLst>
              <a:ext uri="{FF2B5EF4-FFF2-40B4-BE49-F238E27FC236}">
                <a16:creationId xmlns:a16="http://schemas.microsoft.com/office/drawing/2014/main" id="{F43B946C-2CBD-7562-D927-308C673D7D26}"/>
              </a:ext>
            </a:extLst>
          </p:cNvPr>
          <p:cNvSpPr txBox="1">
            <a:spLocks/>
          </p:cNvSpPr>
          <p:nvPr/>
        </p:nvSpPr>
        <p:spPr>
          <a:xfrm>
            <a:off x="14505939" y="7389200"/>
            <a:ext cx="5155204" cy="854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616161"/>
                </a:solidFill>
                <a:latin typeface="Segoe UI"/>
                <a:ea typeface="+mj-ea"/>
                <a:cs typeface="Segoe UI"/>
              </a:defRPr>
            </a:lvl1pPr>
          </a:lstStyle>
          <a:p>
            <a:r>
              <a:rPr lang="en-US" sz="2800" dirty="0"/>
              <a:t>Product &amp; Category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sz="9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dirty="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sz="9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AFA">
              <a:alpha val="8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23849" y="228600"/>
            <a:ext cx="2667000" cy="2667000"/>
            <a:chOff x="323849" y="228600"/>
            <a:chExt cx="2667000" cy="2667000"/>
          </a:xfrm>
        </p:grpSpPr>
        <p:sp>
          <p:nvSpPr>
            <p:cNvPr id="5" name="object 5"/>
            <p:cNvSpPr/>
            <p:nvPr/>
          </p:nvSpPr>
          <p:spPr>
            <a:xfrm>
              <a:off x="328612" y="233362"/>
              <a:ext cx="2657475" cy="2657475"/>
            </a:xfrm>
            <a:custGeom>
              <a:avLst/>
              <a:gdLst/>
              <a:ahLst/>
              <a:cxnLst/>
              <a:rect l="l" t="t" r="r" b="b"/>
              <a:pathLst>
                <a:path w="2657475" h="2657475">
                  <a:moveTo>
                    <a:pt x="2590727" y="2657474"/>
                  </a:moveTo>
                  <a:lnTo>
                    <a:pt x="66746" y="2657474"/>
                  </a:lnTo>
                  <a:lnTo>
                    <a:pt x="62101" y="2657017"/>
                  </a:lnTo>
                  <a:lnTo>
                    <a:pt x="24240" y="2639867"/>
                  </a:lnTo>
                  <a:lnTo>
                    <a:pt x="2287" y="2604574"/>
                  </a:lnTo>
                  <a:lnTo>
                    <a:pt x="0" y="2590727"/>
                  </a:lnTo>
                  <a:lnTo>
                    <a:pt x="0" y="25860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2590727" y="0"/>
                  </a:lnTo>
                  <a:lnTo>
                    <a:pt x="2629625" y="14645"/>
                  </a:lnTo>
                  <a:lnTo>
                    <a:pt x="2653831" y="48433"/>
                  </a:lnTo>
                  <a:lnTo>
                    <a:pt x="2657474" y="66746"/>
                  </a:lnTo>
                  <a:lnTo>
                    <a:pt x="2657474" y="2590727"/>
                  </a:lnTo>
                  <a:lnTo>
                    <a:pt x="2642828" y="2629625"/>
                  </a:lnTo>
                  <a:lnTo>
                    <a:pt x="2609041" y="2653831"/>
                  </a:lnTo>
                  <a:lnTo>
                    <a:pt x="2595373" y="2657017"/>
                  </a:lnTo>
                  <a:lnTo>
                    <a:pt x="2590727" y="26574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8612" y="233362"/>
              <a:ext cx="2657475" cy="2657475"/>
            </a:xfrm>
            <a:custGeom>
              <a:avLst/>
              <a:gdLst/>
              <a:ahLst/>
              <a:cxnLst/>
              <a:rect l="l" t="t" r="r" b="b"/>
              <a:pathLst>
                <a:path w="2657475" h="2657475">
                  <a:moveTo>
                    <a:pt x="0" y="25860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586037" y="0"/>
                  </a:lnTo>
                  <a:lnTo>
                    <a:pt x="2590727" y="0"/>
                  </a:lnTo>
                  <a:lnTo>
                    <a:pt x="2595373" y="457"/>
                  </a:lnTo>
                  <a:lnTo>
                    <a:pt x="2633234" y="17606"/>
                  </a:lnTo>
                  <a:lnTo>
                    <a:pt x="2645434" y="31748"/>
                  </a:lnTo>
                  <a:lnTo>
                    <a:pt x="2648041" y="35649"/>
                  </a:lnTo>
                  <a:lnTo>
                    <a:pt x="2650241" y="39765"/>
                  </a:lnTo>
                  <a:lnTo>
                    <a:pt x="2652036" y="44099"/>
                  </a:lnTo>
                  <a:lnTo>
                    <a:pt x="2653831" y="48433"/>
                  </a:lnTo>
                  <a:lnTo>
                    <a:pt x="2655187" y="52900"/>
                  </a:lnTo>
                  <a:lnTo>
                    <a:pt x="2656101" y="57500"/>
                  </a:lnTo>
                  <a:lnTo>
                    <a:pt x="2657017" y="62101"/>
                  </a:lnTo>
                  <a:lnTo>
                    <a:pt x="2657474" y="66746"/>
                  </a:lnTo>
                  <a:lnTo>
                    <a:pt x="2657474" y="71437"/>
                  </a:lnTo>
                  <a:lnTo>
                    <a:pt x="2657474" y="2586037"/>
                  </a:lnTo>
                  <a:lnTo>
                    <a:pt x="2657474" y="2590727"/>
                  </a:lnTo>
                  <a:lnTo>
                    <a:pt x="2657017" y="2595373"/>
                  </a:lnTo>
                  <a:lnTo>
                    <a:pt x="2656101" y="2599973"/>
                  </a:lnTo>
                  <a:lnTo>
                    <a:pt x="2655187" y="2604574"/>
                  </a:lnTo>
                  <a:lnTo>
                    <a:pt x="2653831" y="2609041"/>
                  </a:lnTo>
                  <a:lnTo>
                    <a:pt x="2652036" y="2613375"/>
                  </a:lnTo>
                  <a:lnTo>
                    <a:pt x="2650241" y="2617708"/>
                  </a:lnTo>
                  <a:lnTo>
                    <a:pt x="2648041" y="2621825"/>
                  </a:lnTo>
                  <a:lnTo>
                    <a:pt x="2645434" y="2625725"/>
                  </a:lnTo>
                  <a:lnTo>
                    <a:pt x="2642828" y="2629625"/>
                  </a:lnTo>
                  <a:lnTo>
                    <a:pt x="2625725" y="2645434"/>
                  </a:lnTo>
                  <a:lnTo>
                    <a:pt x="2621825" y="2648041"/>
                  </a:lnTo>
                  <a:lnTo>
                    <a:pt x="2617708" y="2650241"/>
                  </a:lnTo>
                  <a:lnTo>
                    <a:pt x="2613375" y="2652036"/>
                  </a:lnTo>
                  <a:lnTo>
                    <a:pt x="2609041" y="2653831"/>
                  </a:lnTo>
                  <a:lnTo>
                    <a:pt x="2604574" y="2655187"/>
                  </a:lnTo>
                  <a:lnTo>
                    <a:pt x="2599973" y="2656101"/>
                  </a:lnTo>
                  <a:lnTo>
                    <a:pt x="2595373" y="2657017"/>
                  </a:lnTo>
                  <a:lnTo>
                    <a:pt x="2590727" y="2657474"/>
                  </a:lnTo>
                  <a:lnTo>
                    <a:pt x="2586037" y="2657474"/>
                  </a:lnTo>
                  <a:lnTo>
                    <a:pt x="71437" y="2657474"/>
                  </a:lnTo>
                  <a:lnTo>
                    <a:pt x="66746" y="2657474"/>
                  </a:lnTo>
                  <a:lnTo>
                    <a:pt x="62101" y="2657017"/>
                  </a:lnTo>
                  <a:lnTo>
                    <a:pt x="57500" y="2656101"/>
                  </a:lnTo>
                  <a:lnTo>
                    <a:pt x="52900" y="2655187"/>
                  </a:lnTo>
                  <a:lnTo>
                    <a:pt x="48433" y="2653831"/>
                  </a:lnTo>
                  <a:lnTo>
                    <a:pt x="44099" y="2652036"/>
                  </a:lnTo>
                  <a:lnTo>
                    <a:pt x="39765" y="2650241"/>
                  </a:lnTo>
                  <a:lnTo>
                    <a:pt x="35649" y="2648041"/>
                  </a:lnTo>
                  <a:lnTo>
                    <a:pt x="31748" y="2645434"/>
                  </a:lnTo>
                  <a:lnTo>
                    <a:pt x="27848" y="2642828"/>
                  </a:lnTo>
                  <a:lnTo>
                    <a:pt x="3642" y="2609041"/>
                  </a:lnTo>
                  <a:lnTo>
                    <a:pt x="0" y="2590727"/>
                  </a:lnTo>
                  <a:lnTo>
                    <a:pt x="0" y="258603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3075" y="330200"/>
            <a:ext cx="11747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0" dirty="0">
                <a:solidFill>
                  <a:srgbClr val="242424"/>
                </a:solidFill>
                <a:latin typeface="Tahoma"/>
                <a:cs typeface="Tahoma"/>
              </a:rPr>
              <a:t>Store_Location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5762" y="714374"/>
            <a:ext cx="2343150" cy="1714500"/>
          </a:xfrm>
          <a:custGeom>
            <a:avLst/>
            <a:gdLst/>
            <a:ahLst/>
            <a:cxnLst/>
            <a:rect l="l" t="t" r="r" b="b"/>
            <a:pathLst>
              <a:path w="2343150" h="1714500">
                <a:moveTo>
                  <a:pt x="234315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0" y="857250"/>
                </a:lnTo>
                <a:lnTo>
                  <a:pt x="0" y="1143000"/>
                </a:lnTo>
                <a:lnTo>
                  <a:pt x="0" y="1428750"/>
                </a:lnTo>
                <a:lnTo>
                  <a:pt x="0" y="1714500"/>
                </a:lnTo>
                <a:lnTo>
                  <a:pt x="2343150" y="1714500"/>
                </a:lnTo>
                <a:lnTo>
                  <a:pt x="2343150" y="285750"/>
                </a:lnTo>
                <a:lnTo>
                  <a:pt x="2343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7200" y="646430"/>
            <a:ext cx="1105535" cy="173990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Airport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Commercial</a:t>
            </a:r>
            <a:endParaRPr sz="1200">
              <a:latin typeface="Segoe UI"/>
              <a:cs typeface="Segoe UI"/>
            </a:endParaRPr>
          </a:p>
          <a:p>
            <a:pPr marL="266700" indent="-228600">
              <a:lnSpc>
                <a:spcPct val="100000"/>
              </a:lnSpc>
              <a:spcBef>
                <a:spcPts val="810"/>
              </a:spcBef>
              <a:buFont typeface="Verdana"/>
              <a:buChar char="◉"/>
              <a:tabLst>
                <a:tab pos="266700" algn="l"/>
              </a:tabLst>
            </a:pP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Downtown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242424"/>
                </a:solidFill>
                <a:latin typeface="Segoe UI"/>
                <a:cs typeface="Segoe UI"/>
              </a:rPr>
              <a:t>Mall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Residential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242424"/>
                </a:solidFill>
                <a:latin typeface="Segoe UI"/>
                <a:cs typeface="Segoe UI"/>
              </a:rPr>
              <a:t>Suburban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19424" y="228600"/>
            <a:ext cx="2686050" cy="2686050"/>
            <a:chOff x="3019424" y="228600"/>
            <a:chExt cx="2686050" cy="2686050"/>
          </a:xfrm>
        </p:grpSpPr>
        <p:sp>
          <p:nvSpPr>
            <p:cNvPr id="11" name="object 11"/>
            <p:cNvSpPr/>
            <p:nvPr/>
          </p:nvSpPr>
          <p:spPr>
            <a:xfrm>
              <a:off x="3024187" y="233362"/>
              <a:ext cx="2676525" cy="2676525"/>
            </a:xfrm>
            <a:custGeom>
              <a:avLst/>
              <a:gdLst/>
              <a:ahLst/>
              <a:cxnLst/>
              <a:rect l="l" t="t" r="r" b="b"/>
              <a:pathLst>
                <a:path w="2676525" h="2676525">
                  <a:moveTo>
                    <a:pt x="2609777" y="2676524"/>
                  </a:moveTo>
                  <a:lnTo>
                    <a:pt x="66746" y="2676524"/>
                  </a:lnTo>
                  <a:lnTo>
                    <a:pt x="62101" y="2676067"/>
                  </a:lnTo>
                  <a:lnTo>
                    <a:pt x="24240" y="2658917"/>
                  </a:lnTo>
                  <a:lnTo>
                    <a:pt x="2287" y="2623624"/>
                  </a:lnTo>
                  <a:lnTo>
                    <a:pt x="0" y="2609777"/>
                  </a:lnTo>
                  <a:lnTo>
                    <a:pt x="0" y="26050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2609777" y="0"/>
                  </a:lnTo>
                  <a:lnTo>
                    <a:pt x="2648675" y="14645"/>
                  </a:lnTo>
                  <a:lnTo>
                    <a:pt x="2672881" y="48433"/>
                  </a:lnTo>
                  <a:lnTo>
                    <a:pt x="2676524" y="66746"/>
                  </a:lnTo>
                  <a:lnTo>
                    <a:pt x="2676524" y="2609777"/>
                  </a:lnTo>
                  <a:lnTo>
                    <a:pt x="2661879" y="2648675"/>
                  </a:lnTo>
                  <a:lnTo>
                    <a:pt x="2628091" y="2672881"/>
                  </a:lnTo>
                  <a:lnTo>
                    <a:pt x="2614423" y="2676067"/>
                  </a:lnTo>
                  <a:lnTo>
                    <a:pt x="2609777" y="26765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24187" y="233362"/>
              <a:ext cx="2676525" cy="2676525"/>
            </a:xfrm>
            <a:custGeom>
              <a:avLst/>
              <a:gdLst/>
              <a:ahLst/>
              <a:cxnLst/>
              <a:rect l="l" t="t" r="r" b="b"/>
              <a:pathLst>
                <a:path w="2676525" h="2676525">
                  <a:moveTo>
                    <a:pt x="0" y="26050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605087" y="0"/>
                  </a:lnTo>
                  <a:lnTo>
                    <a:pt x="2609777" y="0"/>
                  </a:lnTo>
                  <a:lnTo>
                    <a:pt x="2614423" y="457"/>
                  </a:lnTo>
                  <a:lnTo>
                    <a:pt x="2619023" y="1372"/>
                  </a:lnTo>
                  <a:lnTo>
                    <a:pt x="2623624" y="2287"/>
                  </a:lnTo>
                  <a:lnTo>
                    <a:pt x="2658917" y="24240"/>
                  </a:lnTo>
                  <a:lnTo>
                    <a:pt x="2675151" y="57500"/>
                  </a:lnTo>
                  <a:lnTo>
                    <a:pt x="2676067" y="62101"/>
                  </a:lnTo>
                  <a:lnTo>
                    <a:pt x="2676524" y="66746"/>
                  </a:lnTo>
                  <a:lnTo>
                    <a:pt x="2676524" y="71437"/>
                  </a:lnTo>
                  <a:lnTo>
                    <a:pt x="2676524" y="2605087"/>
                  </a:lnTo>
                  <a:lnTo>
                    <a:pt x="2676524" y="2609777"/>
                  </a:lnTo>
                  <a:lnTo>
                    <a:pt x="2676067" y="2614423"/>
                  </a:lnTo>
                  <a:lnTo>
                    <a:pt x="2675151" y="2619023"/>
                  </a:lnTo>
                  <a:lnTo>
                    <a:pt x="2674236" y="2623624"/>
                  </a:lnTo>
                  <a:lnTo>
                    <a:pt x="2652284" y="2658917"/>
                  </a:lnTo>
                  <a:lnTo>
                    <a:pt x="2619023" y="2675151"/>
                  </a:lnTo>
                  <a:lnTo>
                    <a:pt x="2614423" y="2676067"/>
                  </a:lnTo>
                  <a:lnTo>
                    <a:pt x="2609777" y="2676524"/>
                  </a:lnTo>
                  <a:lnTo>
                    <a:pt x="2605087" y="2676524"/>
                  </a:lnTo>
                  <a:lnTo>
                    <a:pt x="71437" y="2676524"/>
                  </a:lnTo>
                  <a:lnTo>
                    <a:pt x="66746" y="2676524"/>
                  </a:lnTo>
                  <a:lnTo>
                    <a:pt x="62101" y="2676067"/>
                  </a:lnTo>
                  <a:lnTo>
                    <a:pt x="57500" y="2675151"/>
                  </a:lnTo>
                  <a:lnTo>
                    <a:pt x="52900" y="2674236"/>
                  </a:lnTo>
                  <a:lnTo>
                    <a:pt x="31748" y="2664485"/>
                  </a:lnTo>
                  <a:lnTo>
                    <a:pt x="27848" y="2661879"/>
                  </a:lnTo>
                  <a:lnTo>
                    <a:pt x="3642" y="2628091"/>
                  </a:lnTo>
                  <a:lnTo>
                    <a:pt x="1372" y="2619023"/>
                  </a:lnTo>
                  <a:lnTo>
                    <a:pt x="457" y="2614423"/>
                  </a:lnTo>
                  <a:lnTo>
                    <a:pt x="0" y="2609777"/>
                  </a:lnTo>
                  <a:lnTo>
                    <a:pt x="0" y="2605087"/>
                  </a:lnTo>
                  <a:close/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168649" y="330200"/>
            <a:ext cx="8159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0" dirty="0">
                <a:solidFill>
                  <a:srgbClr val="242424"/>
                </a:solidFill>
                <a:latin typeface="Tahoma"/>
                <a:cs typeface="Tahoma"/>
              </a:rPr>
              <a:t>Store_City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81337" y="714374"/>
            <a:ext cx="2228850" cy="2000250"/>
          </a:xfrm>
          <a:custGeom>
            <a:avLst/>
            <a:gdLst/>
            <a:ahLst/>
            <a:cxnLst/>
            <a:rect l="l" t="t" r="r" b="b"/>
            <a:pathLst>
              <a:path w="2228850" h="2000250">
                <a:moveTo>
                  <a:pt x="2228850" y="0"/>
                </a:moveTo>
                <a:lnTo>
                  <a:pt x="0" y="0"/>
                </a:lnTo>
                <a:lnTo>
                  <a:pt x="0" y="285750"/>
                </a:lnTo>
                <a:lnTo>
                  <a:pt x="0" y="571500"/>
                </a:lnTo>
                <a:lnTo>
                  <a:pt x="0" y="2000250"/>
                </a:lnTo>
                <a:lnTo>
                  <a:pt x="2228850" y="2000250"/>
                </a:lnTo>
                <a:lnTo>
                  <a:pt x="2228850" y="285750"/>
                </a:lnTo>
                <a:lnTo>
                  <a:pt x="22288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52774" y="646430"/>
            <a:ext cx="1366520" cy="202565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Akron,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OH</a:t>
            </a:r>
            <a:endParaRPr sz="1200">
              <a:latin typeface="Segoe UI"/>
              <a:cs typeface="Segoe UI"/>
            </a:endParaRPr>
          </a:p>
          <a:p>
            <a:pPr marL="38100" marR="143510">
              <a:lnSpc>
                <a:spcPct val="156300"/>
              </a:lnSpc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Ann Arbor,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MI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Arlington,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TX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Asheville,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NC </a:t>
            </a: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Aurora,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CO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Baltimore,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MD</a:t>
            </a:r>
            <a:endParaRPr sz="1200">
              <a:latin typeface="Segoe UI"/>
              <a:cs typeface="Segoe UI"/>
            </a:endParaRPr>
          </a:p>
          <a:p>
            <a:pPr marL="38100">
              <a:lnSpc>
                <a:spcPct val="100000"/>
              </a:lnSpc>
              <a:spcBef>
                <a:spcPts val="810"/>
              </a:spcBef>
            </a:pPr>
            <a:r>
              <a:rPr sz="1800" spc="367" baseline="-6944" dirty="0">
                <a:solidFill>
                  <a:srgbClr val="242424"/>
                </a:solidFill>
                <a:latin typeface="Verdana"/>
                <a:cs typeface="Verdana"/>
              </a:rPr>
              <a:t>O</a:t>
            </a:r>
            <a:r>
              <a:rPr sz="1800" spc="262" baseline="-694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242424"/>
                </a:solidFill>
                <a:latin typeface="Segoe UI"/>
                <a:cs typeface="Segoe UI"/>
              </a:rPr>
              <a:t>Birmingham, </a:t>
            </a:r>
            <a:r>
              <a:rPr sz="1200" spc="-25" dirty="0">
                <a:solidFill>
                  <a:srgbClr val="242424"/>
                </a:solidFill>
                <a:latin typeface="Segoe UI"/>
                <a:cs typeface="Segoe UI"/>
              </a:rPr>
              <a:t>AL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81350" y="714374"/>
            <a:ext cx="2362200" cy="2028825"/>
            <a:chOff x="3181350" y="714374"/>
            <a:chExt cx="2362200" cy="2028825"/>
          </a:xfrm>
        </p:grpSpPr>
        <p:sp>
          <p:nvSpPr>
            <p:cNvPr id="17" name="object 17"/>
            <p:cNvSpPr/>
            <p:nvPr/>
          </p:nvSpPr>
          <p:spPr>
            <a:xfrm>
              <a:off x="3181350" y="2714624"/>
              <a:ext cx="2228850" cy="28575"/>
            </a:xfrm>
            <a:custGeom>
              <a:avLst/>
              <a:gdLst/>
              <a:ahLst/>
              <a:cxnLst/>
              <a:rect l="l" t="t" r="r" b="b"/>
              <a:pathLst>
                <a:path w="2228850" h="28575">
                  <a:moveTo>
                    <a:pt x="222884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2228849" y="0"/>
                  </a:lnTo>
                  <a:lnTo>
                    <a:pt x="2228849" y="28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67349" y="714374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76199" y="304799"/>
                  </a:moveTo>
                  <a:lnTo>
                    <a:pt x="0" y="30479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304799"/>
                  </a:lnTo>
                  <a:close/>
                </a:path>
              </a:pathLst>
            </a:custGeom>
            <a:solidFill>
              <a:srgbClr val="8A87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673252" y="-39022"/>
            <a:ext cx="2695575" cy="2771775"/>
            <a:chOff x="5800725" y="219074"/>
            <a:chExt cx="2695575" cy="2771775"/>
          </a:xfrm>
        </p:grpSpPr>
        <p:sp>
          <p:nvSpPr>
            <p:cNvPr id="20" name="object 20"/>
            <p:cNvSpPr/>
            <p:nvPr/>
          </p:nvSpPr>
          <p:spPr>
            <a:xfrm>
              <a:off x="5810250" y="228599"/>
              <a:ext cx="2676525" cy="2752725"/>
            </a:xfrm>
            <a:custGeom>
              <a:avLst/>
              <a:gdLst/>
              <a:ahLst/>
              <a:cxnLst/>
              <a:rect l="l" t="t" r="r" b="b"/>
              <a:pathLst>
                <a:path w="2676525" h="2752725">
                  <a:moveTo>
                    <a:pt x="2600324" y="2752724"/>
                  </a:moveTo>
                  <a:lnTo>
                    <a:pt x="76199" y="2752724"/>
                  </a:lnTo>
                  <a:lnTo>
                    <a:pt x="23812" y="2728912"/>
                  </a:lnTo>
                  <a:lnTo>
                    <a:pt x="0" y="267652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2600324" y="0"/>
                  </a:lnTo>
                  <a:lnTo>
                    <a:pt x="2628304" y="6548"/>
                  </a:lnTo>
                  <a:lnTo>
                    <a:pt x="2652712" y="23812"/>
                  </a:lnTo>
                  <a:lnTo>
                    <a:pt x="2669976" y="48220"/>
                  </a:lnTo>
                  <a:lnTo>
                    <a:pt x="2676524" y="76199"/>
                  </a:lnTo>
                  <a:lnTo>
                    <a:pt x="2676524" y="2676524"/>
                  </a:lnTo>
                  <a:lnTo>
                    <a:pt x="2669976" y="2704504"/>
                  </a:lnTo>
                  <a:lnTo>
                    <a:pt x="2652712" y="2728912"/>
                  </a:lnTo>
                  <a:lnTo>
                    <a:pt x="2628304" y="2746176"/>
                  </a:lnTo>
                  <a:lnTo>
                    <a:pt x="2600324" y="2752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10250" y="228599"/>
              <a:ext cx="2676525" cy="2752725"/>
            </a:xfrm>
            <a:custGeom>
              <a:avLst/>
              <a:gdLst/>
              <a:ahLst/>
              <a:cxnLst/>
              <a:rect l="l" t="t" r="r" b="b"/>
              <a:pathLst>
                <a:path w="2676525" h="275272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2600324" y="0"/>
                  </a:lnTo>
                  <a:lnTo>
                    <a:pt x="2652712" y="23812"/>
                  </a:lnTo>
                  <a:lnTo>
                    <a:pt x="2676524" y="76199"/>
                  </a:lnTo>
                  <a:lnTo>
                    <a:pt x="2676524" y="2676524"/>
                  </a:lnTo>
                  <a:lnTo>
                    <a:pt x="2669976" y="2704504"/>
                  </a:lnTo>
                  <a:lnTo>
                    <a:pt x="2652712" y="2728912"/>
                  </a:lnTo>
                  <a:lnTo>
                    <a:pt x="2628304" y="2746176"/>
                  </a:lnTo>
                  <a:lnTo>
                    <a:pt x="2600324" y="2752724"/>
                  </a:lnTo>
                  <a:lnTo>
                    <a:pt x="76199" y="2752724"/>
                  </a:lnTo>
                  <a:lnTo>
                    <a:pt x="23812" y="2728912"/>
                  </a:lnTo>
                  <a:lnTo>
                    <a:pt x="0" y="267652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19775" y="238124"/>
              <a:ext cx="2657475" cy="2733675"/>
            </a:xfrm>
            <a:custGeom>
              <a:avLst/>
              <a:gdLst/>
              <a:ahLst/>
              <a:cxnLst/>
              <a:rect l="l" t="t" r="r" b="b"/>
              <a:pathLst>
                <a:path w="2657475" h="2733675">
                  <a:moveTo>
                    <a:pt x="2590799" y="2733674"/>
                  </a:moveTo>
                  <a:lnTo>
                    <a:pt x="66674" y="2733674"/>
                  </a:lnTo>
                  <a:lnTo>
                    <a:pt x="42192" y="2727944"/>
                  </a:lnTo>
                  <a:lnTo>
                    <a:pt x="20835" y="2712838"/>
                  </a:lnTo>
                  <a:lnTo>
                    <a:pt x="5729" y="2691482"/>
                  </a:lnTo>
                  <a:lnTo>
                    <a:pt x="0" y="266699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2590799" y="0"/>
                  </a:lnTo>
                  <a:lnTo>
                    <a:pt x="2615282" y="5729"/>
                  </a:lnTo>
                  <a:lnTo>
                    <a:pt x="2636638" y="20835"/>
                  </a:lnTo>
                  <a:lnTo>
                    <a:pt x="2651744" y="42192"/>
                  </a:lnTo>
                  <a:lnTo>
                    <a:pt x="2657474" y="66674"/>
                  </a:lnTo>
                  <a:lnTo>
                    <a:pt x="2657474" y="2666999"/>
                  </a:lnTo>
                  <a:lnTo>
                    <a:pt x="2651744" y="2691482"/>
                  </a:lnTo>
                  <a:lnTo>
                    <a:pt x="2636638" y="2712838"/>
                  </a:lnTo>
                  <a:lnTo>
                    <a:pt x="2615282" y="2727944"/>
                  </a:lnTo>
                  <a:lnTo>
                    <a:pt x="2590799" y="2733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03106" y="1138832"/>
            <a:ext cx="1910080" cy="8934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2000" b="1" dirty="0">
                <a:solidFill>
                  <a:srgbClr val="616161"/>
                </a:solidFill>
                <a:latin typeface="Segoe UI"/>
                <a:cs typeface="Segoe UI"/>
              </a:rPr>
              <a:t>Inventory</a:t>
            </a:r>
            <a:r>
              <a:rPr sz="2000" b="1" spc="-3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616161"/>
                </a:solidFill>
                <a:latin typeface="Segoe UI"/>
                <a:cs typeface="Segoe UI"/>
              </a:rPr>
              <a:t>Stock</a:t>
            </a:r>
            <a:endParaRPr sz="2000" dirty="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3000" spc="-20" dirty="0">
                <a:solidFill>
                  <a:srgbClr val="E66B37"/>
                </a:solidFill>
                <a:latin typeface="Segoe UI Semibold"/>
                <a:cs typeface="Segoe UI Semibold"/>
              </a:rPr>
              <a:t>128K</a:t>
            </a:r>
            <a:endParaRPr sz="3000" dirty="0">
              <a:latin typeface="Segoe UI Semibold"/>
              <a:cs typeface="Segoe UI Semibold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477249" y="219074"/>
            <a:ext cx="2838450" cy="2771775"/>
            <a:chOff x="8477249" y="219074"/>
            <a:chExt cx="2838450" cy="2771775"/>
          </a:xfrm>
        </p:grpSpPr>
        <p:sp>
          <p:nvSpPr>
            <p:cNvPr id="25" name="object 25"/>
            <p:cNvSpPr/>
            <p:nvPr/>
          </p:nvSpPr>
          <p:spPr>
            <a:xfrm>
              <a:off x="8486774" y="228599"/>
              <a:ext cx="2819400" cy="2752725"/>
            </a:xfrm>
            <a:custGeom>
              <a:avLst/>
              <a:gdLst/>
              <a:ahLst/>
              <a:cxnLst/>
              <a:rect l="l" t="t" r="r" b="b"/>
              <a:pathLst>
                <a:path w="2819400" h="2752725">
                  <a:moveTo>
                    <a:pt x="2743199" y="2752724"/>
                  </a:moveTo>
                  <a:lnTo>
                    <a:pt x="76199" y="2752724"/>
                  </a:lnTo>
                  <a:lnTo>
                    <a:pt x="23812" y="2728912"/>
                  </a:lnTo>
                  <a:lnTo>
                    <a:pt x="0" y="267652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2743199" y="0"/>
                  </a:lnTo>
                  <a:lnTo>
                    <a:pt x="2771179" y="6548"/>
                  </a:lnTo>
                  <a:lnTo>
                    <a:pt x="2795587" y="23812"/>
                  </a:lnTo>
                  <a:lnTo>
                    <a:pt x="2812851" y="48220"/>
                  </a:lnTo>
                  <a:lnTo>
                    <a:pt x="2819399" y="76199"/>
                  </a:lnTo>
                  <a:lnTo>
                    <a:pt x="2819399" y="2676524"/>
                  </a:lnTo>
                  <a:lnTo>
                    <a:pt x="2812851" y="2704504"/>
                  </a:lnTo>
                  <a:lnTo>
                    <a:pt x="2795587" y="2728912"/>
                  </a:lnTo>
                  <a:lnTo>
                    <a:pt x="2771179" y="2746176"/>
                  </a:lnTo>
                  <a:lnTo>
                    <a:pt x="2743199" y="2752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86774" y="228599"/>
              <a:ext cx="2819400" cy="2752725"/>
            </a:xfrm>
            <a:custGeom>
              <a:avLst/>
              <a:gdLst/>
              <a:ahLst/>
              <a:cxnLst/>
              <a:rect l="l" t="t" r="r" b="b"/>
              <a:pathLst>
                <a:path w="2819400" h="275272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2743199" y="0"/>
                  </a:lnTo>
                  <a:lnTo>
                    <a:pt x="2795587" y="23812"/>
                  </a:lnTo>
                  <a:lnTo>
                    <a:pt x="2819399" y="76199"/>
                  </a:lnTo>
                  <a:lnTo>
                    <a:pt x="2819399" y="2676524"/>
                  </a:lnTo>
                  <a:lnTo>
                    <a:pt x="2812851" y="2704504"/>
                  </a:lnTo>
                  <a:lnTo>
                    <a:pt x="2795587" y="2728912"/>
                  </a:lnTo>
                  <a:lnTo>
                    <a:pt x="2771179" y="2746176"/>
                  </a:lnTo>
                  <a:lnTo>
                    <a:pt x="2743199" y="2752724"/>
                  </a:lnTo>
                  <a:lnTo>
                    <a:pt x="76199" y="2752724"/>
                  </a:lnTo>
                  <a:lnTo>
                    <a:pt x="23812" y="2728912"/>
                  </a:lnTo>
                  <a:lnTo>
                    <a:pt x="0" y="267652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96299" y="238124"/>
              <a:ext cx="2800350" cy="2733675"/>
            </a:xfrm>
            <a:custGeom>
              <a:avLst/>
              <a:gdLst/>
              <a:ahLst/>
              <a:cxnLst/>
              <a:rect l="l" t="t" r="r" b="b"/>
              <a:pathLst>
                <a:path w="2800350" h="2733675">
                  <a:moveTo>
                    <a:pt x="2733674" y="2733674"/>
                  </a:moveTo>
                  <a:lnTo>
                    <a:pt x="66674" y="2733674"/>
                  </a:lnTo>
                  <a:lnTo>
                    <a:pt x="42192" y="2727944"/>
                  </a:lnTo>
                  <a:lnTo>
                    <a:pt x="20835" y="2712838"/>
                  </a:lnTo>
                  <a:lnTo>
                    <a:pt x="5729" y="2691482"/>
                  </a:lnTo>
                  <a:lnTo>
                    <a:pt x="0" y="2666999"/>
                  </a:lnTo>
                  <a:lnTo>
                    <a:pt x="0" y="66674"/>
                  </a:lnTo>
                  <a:lnTo>
                    <a:pt x="5729" y="42192"/>
                  </a:lnTo>
                  <a:lnTo>
                    <a:pt x="20835" y="20835"/>
                  </a:lnTo>
                  <a:lnTo>
                    <a:pt x="42192" y="5729"/>
                  </a:lnTo>
                  <a:lnTo>
                    <a:pt x="66674" y="0"/>
                  </a:lnTo>
                  <a:lnTo>
                    <a:pt x="2733674" y="0"/>
                  </a:lnTo>
                  <a:lnTo>
                    <a:pt x="2758157" y="5729"/>
                  </a:lnTo>
                  <a:lnTo>
                    <a:pt x="2779513" y="20835"/>
                  </a:lnTo>
                  <a:lnTo>
                    <a:pt x="2794619" y="42192"/>
                  </a:lnTo>
                  <a:lnTo>
                    <a:pt x="2800349" y="66674"/>
                  </a:lnTo>
                  <a:lnTo>
                    <a:pt x="2800349" y="2666999"/>
                  </a:lnTo>
                  <a:lnTo>
                    <a:pt x="2794619" y="2691482"/>
                  </a:lnTo>
                  <a:lnTo>
                    <a:pt x="2779513" y="2712838"/>
                  </a:lnTo>
                  <a:lnTo>
                    <a:pt x="2758157" y="2727944"/>
                  </a:lnTo>
                  <a:lnTo>
                    <a:pt x="2733674" y="2733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124602" y="1138832"/>
            <a:ext cx="1563370" cy="89344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sz="2000" b="1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2000" b="1" spc="-5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2000" b="1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2000" b="1" spc="-5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2000" b="1" spc="-20" dirty="0">
                <a:solidFill>
                  <a:srgbClr val="616161"/>
                </a:solidFill>
                <a:latin typeface="Segoe UI"/>
                <a:cs typeface="Segoe UI"/>
              </a:rPr>
              <a:t>Units</a:t>
            </a:r>
            <a:endParaRPr sz="20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3000" spc="-20" dirty="0">
                <a:solidFill>
                  <a:srgbClr val="E66B37"/>
                </a:solidFill>
                <a:latin typeface="Segoe UI Semibold"/>
                <a:cs typeface="Segoe UI Semibold"/>
              </a:rPr>
              <a:t>223K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33375" y="2981324"/>
            <a:ext cx="6334125" cy="7539355"/>
            <a:chOff x="333375" y="2981324"/>
            <a:chExt cx="6334125" cy="7539355"/>
          </a:xfrm>
        </p:grpSpPr>
        <p:sp>
          <p:nvSpPr>
            <p:cNvPr id="30" name="object 30"/>
            <p:cNvSpPr/>
            <p:nvPr/>
          </p:nvSpPr>
          <p:spPr>
            <a:xfrm>
              <a:off x="338137" y="2986087"/>
              <a:ext cx="6324600" cy="7529830"/>
            </a:xfrm>
            <a:custGeom>
              <a:avLst/>
              <a:gdLst/>
              <a:ahLst/>
              <a:cxnLst/>
              <a:rect l="l" t="t" r="r" b="b"/>
              <a:pathLst>
                <a:path w="6324600" h="7529830">
                  <a:moveTo>
                    <a:pt x="6278866" y="7529512"/>
                  </a:moveTo>
                  <a:lnTo>
                    <a:pt x="45731" y="7529512"/>
                  </a:lnTo>
                  <a:lnTo>
                    <a:pt x="39765" y="7527041"/>
                  </a:lnTo>
                  <a:lnTo>
                    <a:pt x="9433" y="7498623"/>
                  </a:lnTo>
                  <a:lnTo>
                    <a:pt x="0" y="7467526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257852" y="0"/>
                  </a:lnTo>
                  <a:lnTo>
                    <a:pt x="6296749" y="14645"/>
                  </a:lnTo>
                  <a:lnTo>
                    <a:pt x="6320955" y="48433"/>
                  </a:lnTo>
                  <a:lnTo>
                    <a:pt x="6324598" y="66746"/>
                  </a:lnTo>
                  <a:lnTo>
                    <a:pt x="6324598" y="7467526"/>
                  </a:lnTo>
                  <a:lnTo>
                    <a:pt x="6309952" y="7506424"/>
                  </a:lnTo>
                  <a:lnTo>
                    <a:pt x="6278866" y="75295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38137" y="2986087"/>
              <a:ext cx="6324600" cy="7529830"/>
            </a:xfrm>
            <a:custGeom>
              <a:avLst/>
              <a:gdLst/>
              <a:ahLst/>
              <a:cxnLst/>
              <a:rect l="l" t="t" r="r" b="b"/>
              <a:pathLst>
                <a:path w="6324600" h="7529830">
                  <a:moveTo>
                    <a:pt x="45731" y="7529512"/>
                  </a:moveTo>
                  <a:lnTo>
                    <a:pt x="44099" y="7528836"/>
                  </a:lnTo>
                  <a:lnTo>
                    <a:pt x="39765" y="7527041"/>
                  </a:lnTo>
                  <a:lnTo>
                    <a:pt x="35649" y="7524840"/>
                  </a:lnTo>
                  <a:lnTo>
                    <a:pt x="31748" y="7522234"/>
                  </a:lnTo>
                  <a:lnTo>
                    <a:pt x="27848" y="7519628"/>
                  </a:lnTo>
                  <a:lnTo>
                    <a:pt x="24240" y="7516666"/>
                  </a:lnTo>
                  <a:lnTo>
                    <a:pt x="5437" y="7490173"/>
                  </a:lnTo>
                  <a:lnTo>
                    <a:pt x="3642" y="7485839"/>
                  </a:lnTo>
                  <a:lnTo>
                    <a:pt x="2287" y="7481372"/>
                  </a:lnTo>
                  <a:lnTo>
                    <a:pt x="1372" y="7476772"/>
                  </a:lnTo>
                  <a:lnTo>
                    <a:pt x="457" y="7472171"/>
                  </a:lnTo>
                  <a:lnTo>
                    <a:pt x="0" y="7467526"/>
                  </a:lnTo>
                  <a:lnTo>
                    <a:pt x="0" y="7462836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6253161" y="0"/>
                  </a:lnTo>
                  <a:lnTo>
                    <a:pt x="6257852" y="0"/>
                  </a:lnTo>
                  <a:lnTo>
                    <a:pt x="6262497" y="457"/>
                  </a:lnTo>
                  <a:lnTo>
                    <a:pt x="6267097" y="1372"/>
                  </a:lnTo>
                  <a:lnTo>
                    <a:pt x="6271697" y="2287"/>
                  </a:lnTo>
                  <a:lnTo>
                    <a:pt x="6303674" y="20923"/>
                  </a:lnTo>
                  <a:lnTo>
                    <a:pt x="6306991" y="24240"/>
                  </a:lnTo>
                  <a:lnTo>
                    <a:pt x="6324141" y="62101"/>
                  </a:lnTo>
                  <a:lnTo>
                    <a:pt x="6324599" y="71437"/>
                  </a:lnTo>
                  <a:lnTo>
                    <a:pt x="6324599" y="7462836"/>
                  </a:lnTo>
                  <a:lnTo>
                    <a:pt x="6312559" y="7502524"/>
                  </a:lnTo>
                  <a:lnTo>
                    <a:pt x="6292848" y="7522234"/>
                  </a:lnTo>
                  <a:lnTo>
                    <a:pt x="6288948" y="7524840"/>
                  </a:lnTo>
                  <a:lnTo>
                    <a:pt x="6284831" y="7527041"/>
                  </a:lnTo>
                  <a:lnTo>
                    <a:pt x="6280498" y="7528836"/>
                  </a:lnTo>
                  <a:lnTo>
                    <a:pt x="6278866" y="7529512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2600" y="3024769"/>
            <a:ext cx="450596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828164">
              <a:lnSpc>
                <a:spcPct val="100000"/>
              </a:lnSpc>
              <a:spcBef>
                <a:spcPts val="430"/>
              </a:spcBef>
            </a:pPr>
            <a:r>
              <a:rPr sz="2000" spc="-80" dirty="0">
                <a:solidFill>
                  <a:srgbClr val="242424"/>
                </a:solidFill>
                <a:latin typeface="Tahoma"/>
                <a:cs typeface="Tahoma"/>
              </a:rPr>
              <a:t>Stock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5" dirty="0">
                <a:solidFill>
                  <a:srgbClr val="242424"/>
                </a:solidFill>
                <a:latin typeface="Tahoma"/>
                <a:cs typeface="Tahoma"/>
              </a:rPr>
              <a:t>vs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45" dirty="0">
                <a:solidFill>
                  <a:srgbClr val="242424"/>
                </a:solidFill>
                <a:latin typeface="Tahoma"/>
                <a:cs typeface="Tahoma"/>
              </a:rPr>
              <a:t>Sales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by</a:t>
            </a:r>
            <a:r>
              <a:rPr sz="2000" spc="-14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42424"/>
                </a:solidFill>
                <a:latin typeface="Tahoma"/>
                <a:cs typeface="Tahoma"/>
              </a:rPr>
              <a:t>Store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Units,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Stock_On_Hand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Revenue</a:t>
            </a:r>
            <a:r>
              <a:rPr sz="120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by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Store_Name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7664" y="5124579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3000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3564" y="6292115"/>
            <a:ext cx="158750" cy="1252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50" spc="-70" dirty="0">
                <a:solidFill>
                  <a:srgbClr val="242424"/>
                </a:solidFill>
                <a:latin typeface="Tahoma"/>
                <a:cs typeface="Tahoma"/>
              </a:rPr>
              <a:t>Sum </a:t>
            </a:r>
            <a:r>
              <a:rPr sz="1050" spc="-65" dirty="0">
                <a:solidFill>
                  <a:srgbClr val="242424"/>
                </a:solidFill>
                <a:latin typeface="Tahoma"/>
                <a:cs typeface="Tahoma"/>
              </a:rPr>
              <a:t>of </a:t>
            </a:r>
            <a:r>
              <a:rPr sz="1050" spc="-75" dirty="0">
                <a:solidFill>
                  <a:srgbClr val="242424"/>
                </a:solidFill>
                <a:latin typeface="Tahoma"/>
                <a:cs typeface="Tahoma"/>
              </a:rPr>
              <a:t>Stock_On_Hand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7664" y="6826507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2500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664" y="8528434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2000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68387" y="3833812"/>
            <a:ext cx="5289550" cy="6169025"/>
            <a:chOff x="1068387" y="3833812"/>
            <a:chExt cx="5289550" cy="6169025"/>
          </a:xfrm>
        </p:grpSpPr>
        <p:sp>
          <p:nvSpPr>
            <p:cNvPr id="34" name="object 34"/>
            <p:cNvSpPr/>
            <p:nvPr/>
          </p:nvSpPr>
          <p:spPr>
            <a:xfrm>
              <a:off x="1073150" y="8631770"/>
              <a:ext cx="5280025" cy="0"/>
            </a:xfrm>
            <a:custGeom>
              <a:avLst/>
              <a:gdLst/>
              <a:ahLst/>
              <a:cxnLst/>
              <a:rect l="l" t="t" r="r" b="b"/>
              <a:pathLst>
                <a:path w="5280025">
                  <a:moveTo>
                    <a:pt x="0" y="0"/>
                  </a:moveTo>
                  <a:lnTo>
                    <a:pt x="52800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73150" y="6929843"/>
              <a:ext cx="5280025" cy="0"/>
            </a:xfrm>
            <a:custGeom>
              <a:avLst/>
              <a:gdLst/>
              <a:ahLst/>
              <a:cxnLst/>
              <a:rect l="l" t="t" r="r" b="b"/>
              <a:pathLst>
                <a:path w="5280025">
                  <a:moveTo>
                    <a:pt x="0" y="0"/>
                  </a:moveTo>
                  <a:lnTo>
                    <a:pt x="52800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73150" y="5227915"/>
              <a:ext cx="5280025" cy="0"/>
            </a:xfrm>
            <a:custGeom>
              <a:avLst/>
              <a:gdLst/>
              <a:ahLst/>
              <a:cxnLst/>
              <a:rect l="l" t="t" r="r" b="b"/>
              <a:pathLst>
                <a:path w="5280025">
                  <a:moveTo>
                    <a:pt x="0" y="0"/>
                  </a:moveTo>
                  <a:lnTo>
                    <a:pt x="5280024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77912" y="3838575"/>
              <a:ext cx="0" cy="6159500"/>
            </a:xfrm>
            <a:custGeom>
              <a:avLst/>
              <a:gdLst/>
              <a:ahLst/>
              <a:cxnLst/>
              <a:rect l="l" t="t" r="r" b="b"/>
              <a:pathLst>
                <a:path h="6159500">
                  <a:moveTo>
                    <a:pt x="0" y="61594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1832201" y="3838575"/>
            <a:ext cx="0" cy="6159500"/>
          </a:xfrm>
          <a:custGeom>
            <a:avLst/>
            <a:gdLst/>
            <a:ahLst/>
            <a:cxnLst/>
            <a:rect l="l" t="t" r="r" b="b"/>
            <a:pathLst>
              <a:path h="6159500">
                <a:moveTo>
                  <a:pt x="0" y="615949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586490" y="3838575"/>
            <a:ext cx="0" cy="6159500"/>
          </a:xfrm>
          <a:custGeom>
            <a:avLst/>
            <a:gdLst/>
            <a:ahLst/>
            <a:cxnLst/>
            <a:rect l="l" t="t" r="r" b="b"/>
            <a:pathLst>
              <a:path h="6159500">
                <a:moveTo>
                  <a:pt x="0" y="615949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3336018" y="3833812"/>
            <a:ext cx="763905" cy="6169025"/>
            <a:chOff x="3336018" y="3833812"/>
            <a:chExt cx="763905" cy="6169025"/>
          </a:xfrm>
        </p:grpSpPr>
        <p:sp>
          <p:nvSpPr>
            <p:cNvPr id="48" name="object 48"/>
            <p:cNvSpPr/>
            <p:nvPr/>
          </p:nvSpPr>
          <p:spPr>
            <a:xfrm>
              <a:off x="3340780" y="3838575"/>
              <a:ext cx="0" cy="6159500"/>
            </a:xfrm>
            <a:custGeom>
              <a:avLst/>
              <a:gdLst/>
              <a:ahLst/>
              <a:cxnLst/>
              <a:rect l="l" t="t" r="r" b="b"/>
              <a:pathLst>
                <a:path h="6159500">
                  <a:moveTo>
                    <a:pt x="0" y="61594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095069" y="3838575"/>
              <a:ext cx="0" cy="6159500"/>
            </a:xfrm>
            <a:custGeom>
              <a:avLst/>
              <a:gdLst/>
              <a:ahLst/>
              <a:cxnLst/>
              <a:rect l="l" t="t" r="r" b="b"/>
              <a:pathLst>
                <a:path h="6159500">
                  <a:moveTo>
                    <a:pt x="0" y="61594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/>
          <p:nvPr/>
        </p:nvSpPr>
        <p:spPr>
          <a:xfrm>
            <a:off x="4849359" y="3838575"/>
            <a:ext cx="0" cy="6159500"/>
          </a:xfrm>
          <a:custGeom>
            <a:avLst/>
            <a:gdLst/>
            <a:ahLst/>
            <a:cxnLst/>
            <a:rect l="l" t="t" r="r" b="b"/>
            <a:pathLst>
              <a:path h="6159500">
                <a:moveTo>
                  <a:pt x="0" y="615949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603647" y="3838575"/>
            <a:ext cx="0" cy="6159500"/>
          </a:xfrm>
          <a:custGeom>
            <a:avLst/>
            <a:gdLst/>
            <a:ahLst/>
            <a:cxnLst/>
            <a:rect l="l" t="t" r="r" b="b"/>
            <a:pathLst>
              <a:path h="6159500">
                <a:moveTo>
                  <a:pt x="0" y="615949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357937" y="3838575"/>
            <a:ext cx="0" cy="6159500"/>
          </a:xfrm>
          <a:custGeom>
            <a:avLst/>
            <a:gdLst/>
            <a:ahLst/>
            <a:cxnLst/>
            <a:rect l="l" t="t" r="r" b="b"/>
            <a:pathLst>
              <a:path h="6159500">
                <a:moveTo>
                  <a:pt x="0" y="6159499"/>
                </a:moveTo>
                <a:lnTo>
                  <a:pt x="0" y="0"/>
                </a:lnTo>
              </a:path>
            </a:pathLst>
          </a:custGeom>
          <a:ln w="9524">
            <a:solidFill>
              <a:srgbClr val="F0F0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921444" y="10013950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3000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75733" y="10013950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3500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30022" y="10013950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4000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84312" y="9993094"/>
            <a:ext cx="1067435" cy="38735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  <a:tabLst>
                <a:tab pos="753745" algn="l"/>
              </a:tabLst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4500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5000</a:t>
            </a:r>
            <a:endParaRPr sz="1050">
              <a:latin typeface="Segoe UI"/>
              <a:cs typeface="Segoe UI"/>
            </a:endParaRPr>
          </a:p>
          <a:p>
            <a:pPr marR="1905" algn="ctr">
              <a:lnSpc>
                <a:spcPct val="100000"/>
              </a:lnSpc>
              <a:spcBef>
                <a:spcPts val="160"/>
              </a:spcBef>
            </a:pPr>
            <a:r>
              <a:rPr sz="1050" spc="-70" dirty="0">
                <a:solidFill>
                  <a:srgbClr val="242424"/>
                </a:solidFill>
                <a:latin typeface="Tahoma"/>
                <a:cs typeface="Tahoma"/>
              </a:rPr>
              <a:t>Sum </a:t>
            </a:r>
            <a:r>
              <a:rPr sz="1050" spc="-65" dirty="0">
                <a:solidFill>
                  <a:srgbClr val="242424"/>
                </a:solidFill>
                <a:latin typeface="Tahoma"/>
                <a:cs typeface="Tahoma"/>
              </a:rPr>
              <a:t>of </a:t>
            </a:r>
            <a:r>
              <a:rPr sz="1050" spc="-10" dirty="0">
                <a:solidFill>
                  <a:srgbClr val="242424"/>
                </a:solidFill>
                <a:latin typeface="Tahoma"/>
                <a:cs typeface="Tahoma"/>
              </a:rPr>
              <a:t>Units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92891" y="10013950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5500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47179" y="10013950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6000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201469" y="10013950"/>
            <a:ext cx="3130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6500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254920" y="228599"/>
            <a:ext cx="17252315" cy="10292080"/>
            <a:chOff x="1254920" y="228599"/>
            <a:chExt cx="17252315" cy="10292080"/>
          </a:xfrm>
        </p:grpSpPr>
        <p:sp>
          <p:nvSpPr>
            <p:cNvPr id="58" name="object 58"/>
            <p:cNvSpPr/>
            <p:nvPr/>
          </p:nvSpPr>
          <p:spPr>
            <a:xfrm>
              <a:off x="5234300" y="3865029"/>
              <a:ext cx="735330" cy="735330"/>
            </a:xfrm>
            <a:custGeom>
              <a:avLst/>
              <a:gdLst/>
              <a:ahLst/>
              <a:cxnLst/>
              <a:rect l="l" t="t" r="r" b="b"/>
              <a:pathLst>
                <a:path w="735329" h="735329">
                  <a:moveTo>
                    <a:pt x="367602" y="735204"/>
                  </a:moveTo>
                  <a:lnTo>
                    <a:pt x="322600" y="732439"/>
                  </a:lnTo>
                  <a:lnTo>
                    <a:pt x="278282" y="724187"/>
                  </a:lnTo>
                  <a:lnTo>
                    <a:pt x="235306" y="710573"/>
                  </a:lnTo>
                  <a:lnTo>
                    <a:pt x="194315" y="691798"/>
                  </a:lnTo>
                  <a:lnTo>
                    <a:pt x="155931" y="668146"/>
                  </a:lnTo>
                  <a:lnTo>
                    <a:pt x="120735" y="639977"/>
                  </a:lnTo>
                  <a:lnTo>
                    <a:pt x="89252" y="607712"/>
                  </a:lnTo>
                  <a:lnTo>
                    <a:pt x="61952" y="571830"/>
                  </a:lnTo>
                  <a:lnTo>
                    <a:pt x="39249" y="532877"/>
                  </a:lnTo>
                  <a:lnTo>
                    <a:pt x="21488" y="491443"/>
                  </a:lnTo>
                  <a:lnTo>
                    <a:pt x="8932" y="448146"/>
                  </a:lnTo>
                  <a:lnTo>
                    <a:pt x="1770" y="403633"/>
                  </a:lnTo>
                  <a:lnTo>
                    <a:pt x="0" y="367602"/>
                  </a:lnTo>
                  <a:lnTo>
                    <a:pt x="110" y="358578"/>
                  </a:lnTo>
                  <a:lnTo>
                    <a:pt x="3978" y="313663"/>
                  </a:lnTo>
                  <a:lnTo>
                    <a:pt x="13315" y="269560"/>
                  </a:lnTo>
                  <a:lnTo>
                    <a:pt x="27982" y="226926"/>
                  </a:lnTo>
                  <a:lnTo>
                    <a:pt x="47757" y="186409"/>
                  </a:lnTo>
                  <a:lnTo>
                    <a:pt x="72341" y="148621"/>
                  </a:lnTo>
                  <a:lnTo>
                    <a:pt x="101365" y="114127"/>
                  </a:lnTo>
                  <a:lnTo>
                    <a:pt x="134397" y="83441"/>
                  </a:lnTo>
                  <a:lnTo>
                    <a:pt x="170938" y="57030"/>
                  </a:lnTo>
                  <a:lnTo>
                    <a:pt x="210431" y="35293"/>
                  </a:lnTo>
                  <a:lnTo>
                    <a:pt x="252289" y="18554"/>
                  </a:lnTo>
                  <a:lnTo>
                    <a:pt x="295886" y="7063"/>
                  </a:lnTo>
                  <a:lnTo>
                    <a:pt x="340562" y="995"/>
                  </a:lnTo>
                  <a:lnTo>
                    <a:pt x="367602" y="0"/>
                  </a:lnTo>
                  <a:lnTo>
                    <a:pt x="376626" y="110"/>
                  </a:lnTo>
                  <a:lnTo>
                    <a:pt x="421540" y="3978"/>
                  </a:lnTo>
                  <a:lnTo>
                    <a:pt x="465643" y="13315"/>
                  </a:lnTo>
                  <a:lnTo>
                    <a:pt x="508277" y="27982"/>
                  </a:lnTo>
                  <a:lnTo>
                    <a:pt x="548794" y="47757"/>
                  </a:lnTo>
                  <a:lnTo>
                    <a:pt x="586582" y="72341"/>
                  </a:lnTo>
                  <a:lnTo>
                    <a:pt x="621076" y="101365"/>
                  </a:lnTo>
                  <a:lnTo>
                    <a:pt x="651762" y="134397"/>
                  </a:lnTo>
                  <a:lnTo>
                    <a:pt x="678173" y="170938"/>
                  </a:lnTo>
                  <a:lnTo>
                    <a:pt x="699910" y="210431"/>
                  </a:lnTo>
                  <a:lnTo>
                    <a:pt x="716650" y="252289"/>
                  </a:lnTo>
                  <a:lnTo>
                    <a:pt x="728140" y="295886"/>
                  </a:lnTo>
                  <a:lnTo>
                    <a:pt x="734208" y="340562"/>
                  </a:lnTo>
                  <a:lnTo>
                    <a:pt x="735204" y="367602"/>
                  </a:lnTo>
                  <a:lnTo>
                    <a:pt x="735093" y="376626"/>
                  </a:lnTo>
                  <a:lnTo>
                    <a:pt x="731225" y="421540"/>
                  </a:lnTo>
                  <a:lnTo>
                    <a:pt x="721889" y="465643"/>
                  </a:lnTo>
                  <a:lnTo>
                    <a:pt x="707222" y="508277"/>
                  </a:lnTo>
                  <a:lnTo>
                    <a:pt x="687446" y="548794"/>
                  </a:lnTo>
                  <a:lnTo>
                    <a:pt x="662863" y="586582"/>
                  </a:lnTo>
                  <a:lnTo>
                    <a:pt x="633838" y="621076"/>
                  </a:lnTo>
                  <a:lnTo>
                    <a:pt x="600806" y="651762"/>
                  </a:lnTo>
                  <a:lnTo>
                    <a:pt x="564266" y="678173"/>
                  </a:lnTo>
                  <a:lnTo>
                    <a:pt x="524772" y="699910"/>
                  </a:lnTo>
                  <a:lnTo>
                    <a:pt x="482914" y="716650"/>
                  </a:lnTo>
                  <a:lnTo>
                    <a:pt x="439317" y="728140"/>
                  </a:lnTo>
                  <a:lnTo>
                    <a:pt x="394641" y="734208"/>
                  </a:lnTo>
                  <a:lnTo>
                    <a:pt x="367602" y="735204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34300" y="3865029"/>
              <a:ext cx="735330" cy="735330"/>
            </a:xfrm>
            <a:custGeom>
              <a:avLst/>
              <a:gdLst/>
              <a:ahLst/>
              <a:cxnLst/>
              <a:rect l="l" t="t" r="r" b="b"/>
              <a:pathLst>
                <a:path w="735329" h="735329">
                  <a:moveTo>
                    <a:pt x="0" y="367602"/>
                  </a:moveTo>
                  <a:lnTo>
                    <a:pt x="2764" y="412603"/>
                  </a:lnTo>
                  <a:lnTo>
                    <a:pt x="11016" y="456922"/>
                  </a:lnTo>
                  <a:lnTo>
                    <a:pt x="24630" y="499897"/>
                  </a:lnTo>
                  <a:lnTo>
                    <a:pt x="43405" y="540888"/>
                  </a:lnTo>
                  <a:lnTo>
                    <a:pt x="67057" y="579272"/>
                  </a:lnTo>
                  <a:lnTo>
                    <a:pt x="95226" y="614468"/>
                  </a:lnTo>
                  <a:lnTo>
                    <a:pt x="127492" y="645952"/>
                  </a:lnTo>
                  <a:lnTo>
                    <a:pt x="163373" y="673252"/>
                  </a:lnTo>
                  <a:lnTo>
                    <a:pt x="202326" y="695954"/>
                  </a:lnTo>
                  <a:lnTo>
                    <a:pt x="243760" y="713715"/>
                  </a:lnTo>
                  <a:lnTo>
                    <a:pt x="287057" y="726271"/>
                  </a:lnTo>
                  <a:lnTo>
                    <a:pt x="331570" y="733434"/>
                  </a:lnTo>
                  <a:lnTo>
                    <a:pt x="367602" y="735204"/>
                  </a:lnTo>
                  <a:lnTo>
                    <a:pt x="376626" y="735093"/>
                  </a:lnTo>
                  <a:lnTo>
                    <a:pt x="421540" y="731225"/>
                  </a:lnTo>
                  <a:lnTo>
                    <a:pt x="465643" y="721889"/>
                  </a:lnTo>
                  <a:lnTo>
                    <a:pt x="508277" y="707222"/>
                  </a:lnTo>
                  <a:lnTo>
                    <a:pt x="548794" y="687446"/>
                  </a:lnTo>
                  <a:lnTo>
                    <a:pt x="586582" y="662863"/>
                  </a:lnTo>
                  <a:lnTo>
                    <a:pt x="621076" y="633838"/>
                  </a:lnTo>
                  <a:lnTo>
                    <a:pt x="651762" y="600806"/>
                  </a:lnTo>
                  <a:lnTo>
                    <a:pt x="678173" y="564266"/>
                  </a:lnTo>
                  <a:lnTo>
                    <a:pt x="699910" y="524772"/>
                  </a:lnTo>
                  <a:lnTo>
                    <a:pt x="716649" y="482914"/>
                  </a:lnTo>
                  <a:lnTo>
                    <a:pt x="728140" y="439317"/>
                  </a:lnTo>
                  <a:lnTo>
                    <a:pt x="734208" y="394641"/>
                  </a:lnTo>
                  <a:lnTo>
                    <a:pt x="735204" y="367602"/>
                  </a:lnTo>
                  <a:lnTo>
                    <a:pt x="735093" y="358578"/>
                  </a:lnTo>
                  <a:lnTo>
                    <a:pt x="731225" y="313663"/>
                  </a:lnTo>
                  <a:lnTo>
                    <a:pt x="721889" y="269560"/>
                  </a:lnTo>
                  <a:lnTo>
                    <a:pt x="707222" y="226926"/>
                  </a:lnTo>
                  <a:lnTo>
                    <a:pt x="687446" y="186409"/>
                  </a:lnTo>
                  <a:lnTo>
                    <a:pt x="662863" y="148621"/>
                  </a:lnTo>
                  <a:lnTo>
                    <a:pt x="633838" y="114127"/>
                  </a:lnTo>
                  <a:lnTo>
                    <a:pt x="600806" y="83441"/>
                  </a:lnTo>
                  <a:lnTo>
                    <a:pt x="564266" y="57030"/>
                  </a:lnTo>
                  <a:lnTo>
                    <a:pt x="524772" y="35293"/>
                  </a:lnTo>
                  <a:lnTo>
                    <a:pt x="482914" y="18554"/>
                  </a:lnTo>
                  <a:lnTo>
                    <a:pt x="439317" y="7063"/>
                  </a:lnTo>
                  <a:lnTo>
                    <a:pt x="394641" y="995"/>
                  </a:lnTo>
                  <a:lnTo>
                    <a:pt x="367602" y="0"/>
                  </a:lnTo>
                  <a:lnTo>
                    <a:pt x="358578" y="110"/>
                  </a:lnTo>
                  <a:lnTo>
                    <a:pt x="313663" y="3978"/>
                  </a:lnTo>
                  <a:lnTo>
                    <a:pt x="269560" y="13315"/>
                  </a:lnTo>
                  <a:lnTo>
                    <a:pt x="226926" y="27982"/>
                  </a:lnTo>
                  <a:lnTo>
                    <a:pt x="186409" y="47757"/>
                  </a:lnTo>
                  <a:lnTo>
                    <a:pt x="148621" y="72341"/>
                  </a:lnTo>
                  <a:lnTo>
                    <a:pt x="114127" y="101365"/>
                  </a:lnTo>
                  <a:lnTo>
                    <a:pt x="83441" y="134397"/>
                  </a:lnTo>
                  <a:lnTo>
                    <a:pt x="57030" y="170938"/>
                  </a:lnTo>
                  <a:lnTo>
                    <a:pt x="35293" y="210431"/>
                  </a:lnTo>
                  <a:lnTo>
                    <a:pt x="18554" y="252289"/>
                  </a:lnTo>
                  <a:lnTo>
                    <a:pt x="7063" y="295886"/>
                  </a:lnTo>
                  <a:lnTo>
                    <a:pt x="995" y="340562"/>
                  </a:lnTo>
                  <a:lnTo>
                    <a:pt x="0" y="367602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29132" y="9178313"/>
              <a:ext cx="721995" cy="721995"/>
            </a:xfrm>
            <a:custGeom>
              <a:avLst/>
              <a:gdLst/>
              <a:ahLst/>
              <a:cxnLst/>
              <a:rect l="l" t="t" r="r" b="b"/>
              <a:pathLst>
                <a:path w="721995" h="721995">
                  <a:moveTo>
                    <a:pt x="360927" y="721855"/>
                  </a:moveTo>
                  <a:lnTo>
                    <a:pt x="316743" y="719141"/>
                  </a:lnTo>
                  <a:lnTo>
                    <a:pt x="273229" y="711039"/>
                  </a:lnTo>
                  <a:lnTo>
                    <a:pt x="231034" y="697672"/>
                  </a:lnTo>
                  <a:lnTo>
                    <a:pt x="190787" y="679237"/>
                  </a:lnTo>
                  <a:lnTo>
                    <a:pt x="153100" y="656015"/>
                  </a:lnTo>
                  <a:lnTo>
                    <a:pt x="118543" y="628358"/>
                  </a:lnTo>
                  <a:lnTo>
                    <a:pt x="87631" y="596678"/>
                  </a:lnTo>
                  <a:lnTo>
                    <a:pt x="60827" y="561448"/>
                  </a:lnTo>
                  <a:lnTo>
                    <a:pt x="38537" y="523202"/>
                  </a:lnTo>
                  <a:lnTo>
                    <a:pt x="21098" y="482520"/>
                  </a:lnTo>
                  <a:lnTo>
                    <a:pt x="8770" y="440010"/>
                  </a:lnTo>
                  <a:lnTo>
                    <a:pt x="1737" y="396305"/>
                  </a:lnTo>
                  <a:lnTo>
                    <a:pt x="0" y="360927"/>
                  </a:lnTo>
                  <a:lnTo>
                    <a:pt x="108" y="352067"/>
                  </a:lnTo>
                  <a:lnTo>
                    <a:pt x="3906" y="307968"/>
                  </a:lnTo>
                  <a:lnTo>
                    <a:pt x="13073" y="264666"/>
                  </a:lnTo>
                  <a:lnTo>
                    <a:pt x="27474" y="222806"/>
                  </a:lnTo>
                  <a:lnTo>
                    <a:pt x="46890" y="183024"/>
                  </a:lnTo>
                  <a:lnTo>
                    <a:pt x="71027" y="145923"/>
                  </a:lnTo>
                  <a:lnTo>
                    <a:pt x="99524" y="112055"/>
                  </a:lnTo>
                  <a:lnTo>
                    <a:pt x="131957" y="81926"/>
                  </a:lnTo>
                  <a:lnTo>
                    <a:pt x="167834" y="55995"/>
                  </a:lnTo>
                  <a:lnTo>
                    <a:pt x="206611" y="34652"/>
                  </a:lnTo>
                  <a:lnTo>
                    <a:pt x="247708" y="18217"/>
                  </a:lnTo>
                  <a:lnTo>
                    <a:pt x="290514" y="6935"/>
                  </a:lnTo>
                  <a:lnTo>
                    <a:pt x="334379" y="977"/>
                  </a:lnTo>
                  <a:lnTo>
                    <a:pt x="360927" y="0"/>
                  </a:lnTo>
                  <a:lnTo>
                    <a:pt x="369788" y="108"/>
                  </a:lnTo>
                  <a:lnTo>
                    <a:pt x="413887" y="3906"/>
                  </a:lnTo>
                  <a:lnTo>
                    <a:pt x="457189" y="13073"/>
                  </a:lnTo>
                  <a:lnTo>
                    <a:pt x="499049" y="27474"/>
                  </a:lnTo>
                  <a:lnTo>
                    <a:pt x="538830" y="46890"/>
                  </a:lnTo>
                  <a:lnTo>
                    <a:pt x="575932" y="71027"/>
                  </a:lnTo>
                  <a:lnTo>
                    <a:pt x="609800" y="99524"/>
                  </a:lnTo>
                  <a:lnTo>
                    <a:pt x="639928" y="131957"/>
                  </a:lnTo>
                  <a:lnTo>
                    <a:pt x="665860" y="167834"/>
                  </a:lnTo>
                  <a:lnTo>
                    <a:pt x="687203" y="206611"/>
                  </a:lnTo>
                  <a:lnTo>
                    <a:pt x="703638" y="247708"/>
                  </a:lnTo>
                  <a:lnTo>
                    <a:pt x="714920" y="290514"/>
                  </a:lnTo>
                  <a:lnTo>
                    <a:pt x="720878" y="334379"/>
                  </a:lnTo>
                  <a:lnTo>
                    <a:pt x="721855" y="360927"/>
                  </a:lnTo>
                  <a:lnTo>
                    <a:pt x="721747" y="369788"/>
                  </a:lnTo>
                  <a:lnTo>
                    <a:pt x="717949" y="413887"/>
                  </a:lnTo>
                  <a:lnTo>
                    <a:pt x="708782" y="457189"/>
                  </a:lnTo>
                  <a:lnTo>
                    <a:pt x="694381" y="499049"/>
                  </a:lnTo>
                  <a:lnTo>
                    <a:pt x="674965" y="538830"/>
                  </a:lnTo>
                  <a:lnTo>
                    <a:pt x="650828" y="575932"/>
                  </a:lnTo>
                  <a:lnTo>
                    <a:pt x="622330" y="609800"/>
                  </a:lnTo>
                  <a:lnTo>
                    <a:pt x="589898" y="639928"/>
                  </a:lnTo>
                  <a:lnTo>
                    <a:pt x="554021" y="665860"/>
                  </a:lnTo>
                  <a:lnTo>
                    <a:pt x="515244" y="687203"/>
                  </a:lnTo>
                  <a:lnTo>
                    <a:pt x="474146" y="703638"/>
                  </a:lnTo>
                  <a:lnTo>
                    <a:pt x="431341" y="714920"/>
                  </a:lnTo>
                  <a:lnTo>
                    <a:pt x="387476" y="720878"/>
                  </a:lnTo>
                  <a:lnTo>
                    <a:pt x="360927" y="721855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829132" y="9178313"/>
              <a:ext cx="721995" cy="721995"/>
            </a:xfrm>
            <a:custGeom>
              <a:avLst/>
              <a:gdLst/>
              <a:ahLst/>
              <a:cxnLst/>
              <a:rect l="l" t="t" r="r" b="b"/>
              <a:pathLst>
                <a:path w="721995" h="721995">
                  <a:moveTo>
                    <a:pt x="0" y="360927"/>
                  </a:moveTo>
                  <a:lnTo>
                    <a:pt x="2714" y="405111"/>
                  </a:lnTo>
                  <a:lnTo>
                    <a:pt x="10816" y="448626"/>
                  </a:lnTo>
                  <a:lnTo>
                    <a:pt x="24183" y="490821"/>
                  </a:lnTo>
                  <a:lnTo>
                    <a:pt x="42617" y="531068"/>
                  </a:lnTo>
                  <a:lnTo>
                    <a:pt x="65840" y="568755"/>
                  </a:lnTo>
                  <a:lnTo>
                    <a:pt x="93497" y="603312"/>
                  </a:lnTo>
                  <a:lnTo>
                    <a:pt x="125177" y="634224"/>
                  </a:lnTo>
                  <a:lnTo>
                    <a:pt x="160407" y="661028"/>
                  </a:lnTo>
                  <a:lnTo>
                    <a:pt x="198652" y="683318"/>
                  </a:lnTo>
                  <a:lnTo>
                    <a:pt x="239334" y="700757"/>
                  </a:lnTo>
                  <a:lnTo>
                    <a:pt x="281845" y="713085"/>
                  </a:lnTo>
                  <a:lnTo>
                    <a:pt x="325550" y="720117"/>
                  </a:lnTo>
                  <a:lnTo>
                    <a:pt x="360927" y="721855"/>
                  </a:lnTo>
                  <a:lnTo>
                    <a:pt x="369788" y="721747"/>
                  </a:lnTo>
                  <a:lnTo>
                    <a:pt x="413887" y="717949"/>
                  </a:lnTo>
                  <a:lnTo>
                    <a:pt x="457189" y="708782"/>
                  </a:lnTo>
                  <a:lnTo>
                    <a:pt x="499049" y="694381"/>
                  </a:lnTo>
                  <a:lnTo>
                    <a:pt x="538830" y="674965"/>
                  </a:lnTo>
                  <a:lnTo>
                    <a:pt x="575932" y="650828"/>
                  </a:lnTo>
                  <a:lnTo>
                    <a:pt x="609800" y="622330"/>
                  </a:lnTo>
                  <a:lnTo>
                    <a:pt x="639928" y="589898"/>
                  </a:lnTo>
                  <a:lnTo>
                    <a:pt x="665860" y="554021"/>
                  </a:lnTo>
                  <a:lnTo>
                    <a:pt x="687203" y="515244"/>
                  </a:lnTo>
                  <a:lnTo>
                    <a:pt x="703638" y="474146"/>
                  </a:lnTo>
                  <a:lnTo>
                    <a:pt x="714920" y="431341"/>
                  </a:lnTo>
                  <a:lnTo>
                    <a:pt x="720878" y="387476"/>
                  </a:lnTo>
                  <a:lnTo>
                    <a:pt x="721855" y="360927"/>
                  </a:lnTo>
                  <a:lnTo>
                    <a:pt x="721747" y="352067"/>
                  </a:lnTo>
                  <a:lnTo>
                    <a:pt x="717949" y="307968"/>
                  </a:lnTo>
                  <a:lnTo>
                    <a:pt x="708782" y="264666"/>
                  </a:lnTo>
                  <a:lnTo>
                    <a:pt x="694381" y="222806"/>
                  </a:lnTo>
                  <a:lnTo>
                    <a:pt x="674965" y="183024"/>
                  </a:lnTo>
                  <a:lnTo>
                    <a:pt x="650828" y="145923"/>
                  </a:lnTo>
                  <a:lnTo>
                    <a:pt x="622330" y="112055"/>
                  </a:lnTo>
                  <a:lnTo>
                    <a:pt x="589898" y="81926"/>
                  </a:lnTo>
                  <a:lnTo>
                    <a:pt x="554021" y="55995"/>
                  </a:lnTo>
                  <a:lnTo>
                    <a:pt x="515244" y="34652"/>
                  </a:lnTo>
                  <a:lnTo>
                    <a:pt x="474146" y="18217"/>
                  </a:lnTo>
                  <a:lnTo>
                    <a:pt x="431341" y="6935"/>
                  </a:lnTo>
                  <a:lnTo>
                    <a:pt x="387476" y="977"/>
                  </a:lnTo>
                  <a:lnTo>
                    <a:pt x="360927" y="0"/>
                  </a:lnTo>
                  <a:lnTo>
                    <a:pt x="352067" y="108"/>
                  </a:lnTo>
                  <a:lnTo>
                    <a:pt x="307968" y="3906"/>
                  </a:lnTo>
                  <a:lnTo>
                    <a:pt x="264666" y="13073"/>
                  </a:lnTo>
                  <a:lnTo>
                    <a:pt x="222806" y="27474"/>
                  </a:lnTo>
                  <a:lnTo>
                    <a:pt x="183024" y="46890"/>
                  </a:lnTo>
                  <a:lnTo>
                    <a:pt x="145923" y="71027"/>
                  </a:lnTo>
                  <a:lnTo>
                    <a:pt x="112055" y="99524"/>
                  </a:lnTo>
                  <a:lnTo>
                    <a:pt x="81926" y="131957"/>
                  </a:lnTo>
                  <a:lnTo>
                    <a:pt x="55995" y="167834"/>
                  </a:lnTo>
                  <a:lnTo>
                    <a:pt x="34652" y="206611"/>
                  </a:lnTo>
                  <a:lnTo>
                    <a:pt x="18217" y="247708"/>
                  </a:lnTo>
                  <a:lnTo>
                    <a:pt x="6935" y="290514"/>
                  </a:lnTo>
                  <a:lnTo>
                    <a:pt x="977" y="334379"/>
                  </a:lnTo>
                  <a:lnTo>
                    <a:pt x="0" y="360927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602314" y="8430591"/>
              <a:ext cx="692785" cy="692785"/>
            </a:xfrm>
            <a:custGeom>
              <a:avLst/>
              <a:gdLst/>
              <a:ahLst/>
              <a:cxnLst/>
              <a:rect l="l" t="t" r="r" b="b"/>
              <a:pathLst>
                <a:path w="692785" h="692784">
                  <a:moveTo>
                    <a:pt x="346186" y="692372"/>
                  </a:moveTo>
                  <a:lnTo>
                    <a:pt x="303806" y="689768"/>
                  </a:lnTo>
                  <a:lnTo>
                    <a:pt x="262069" y="681998"/>
                  </a:lnTo>
                  <a:lnTo>
                    <a:pt x="221597" y="669176"/>
                  </a:lnTo>
                  <a:lnTo>
                    <a:pt x="182995" y="651495"/>
                  </a:lnTo>
                  <a:lnTo>
                    <a:pt x="146847" y="629221"/>
                  </a:lnTo>
                  <a:lnTo>
                    <a:pt x="113701" y="602693"/>
                  </a:lnTo>
                  <a:lnTo>
                    <a:pt x="84052" y="572307"/>
                  </a:lnTo>
                  <a:lnTo>
                    <a:pt x="58342" y="538517"/>
                  </a:lnTo>
                  <a:lnTo>
                    <a:pt x="36963" y="501833"/>
                  </a:lnTo>
                  <a:lnTo>
                    <a:pt x="20236" y="462813"/>
                  </a:lnTo>
                  <a:lnTo>
                    <a:pt x="8412" y="422038"/>
                  </a:lnTo>
                  <a:lnTo>
                    <a:pt x="1667" y="380118"/>
                  </a:lnTo>
                  <a:lnTo>
                    <a:pt x="0" y="346186"/>
                  </a:lnTo>
                  <a:lnTo>
                    <a:pt x="104" y="337687"/>
                  </a:lnTo>
                  <a:lnTo>
                    <a:pt x="3746" y="295390"/>
                  </a:lnTo>
                  <a:lnTo>
                    <a:pt x="12539" y="253856"/>
                  </a:lnTo>
                  <a:lnTo>
                    <a:pt x="26351" y="213706"/>
                  </a:lnTo>
                  <a:lnTo>
                    <a:pt x="44975" y="175549"/>
                  </a:lnTo>
                  <a:lnTo>
                    <a:pt x="68126" y="139963"/>
                  </a:lnTo>
                  <a:lnTo>
                    <a:pt x="95460" y="107478"/>
                  </a:lnTo>
                  <a:lnTo>
                    <a:pt x="126568" y="78580"/>
                  </a:lnTo>
                  <a:lnTo>
                    <a:pt x="160979" y="53708"/>
                  </a:lnTo>
                  <a:lnTo>
                    <a:pt x="198172" y="33237"/>
                  </a:lnTo>
                  <a:lnTo>
                    <a:pt x="237591" y="17473"/>
                  </a:lnTo>
                  <a:lnTo>
                    <a:pt x="278648" y="6651"/>
                  </a:lnTo>
                  <a:lnTo>
                    <a:pt x="320721" y="937"/>
                  </a:lnTo>
                  <a:lnTo>
                    <a:pt x="346186" y="0"/>
                  </a:lnTo>
                  <a:lnTo>
                    <a:pt x="354684" y="104"/>
                  </a:lnTo>
                  <a:lnTo>
                    <a:pt x="396982" y="3746"/>
                  </a:lnTo>
                  <a:lnTo>
                    <a:pt x="438516" y="12539"/>
                  </a:lnTo>
                  <a:lnTo>
                    <a:pt x="478666" y="26351"/>
                  </a:lnTo>
                  <a:lnTo>
                    <a:pt x="516823" y="44975"/>
                  </a:lnTo>
                  <a:lnTo>
                    <a:pt x="552409" y="68126"/>
                  </a:lnTo>
                  <a:lnTo>
                    <a:pt x="584894" y="95460"/>
                  </a:lnTo>
                  <a:lnTo>
                    <a:pt x="613791" y="126568"/>
                  </a:lnTo>
                  <a:lnTo>
                    <a:pt x="638664" y="160979"/>
                  </a:lnTo>
                  <a:lnTo>
                    <a:pt x="659135" y="198172"/>
                  </a:lnTo>
                  <a:lnTo>
                    <a:pt x="674899" y="237591"/>
                  </a:lnTo>
                  <a:lnTo>
                    <a:pt x="685720" y="278648"/>
                  </a:lnTo>
                  <a:lnTo>
                    <a:pt x="691434" y="320721"/>
                  </a:lnTo>
                  <a:lnTo>
                    <a:pt x="692372" y="346186"/>
                  </a:lnTo>
                  <a:lnTo>
                    <a:pt x="692268" y="354684"/>
                  </a:lnTo>
                  <a:lnTo>
                    <a:pt x="688625" y="396982"/>
                  </a:lnTo>
                  <a:lnTo>
                    <a:pt x="679833" y="438516"/>
                  </a:lnTo>
                  <a:lnTo>
                    <a:pt x="666020" y="478666"/>
                  </a:lnTo>
                  <a:lnTo>
                    <a:pt x="647397" y="516823"/>
                  </a:lnTo>
                  <a:lnTo>
                    <a:pt x="624245" y="552409"/>
                  </a:lnTo>
                  <a:lnTo>
                    <a:pt x="596912" y="584894"/>
                  </a:lnTo>
                  <a:lnTo>
                    <a:pt x="565804" y="613791"/>
                  </a:lnTo>
                  <a:lnTo>
                    <a:pt x="531393" y="638664"/>
                  </a:lnTo>
                  <a:lnTo>
                    <a:pt x="494200" y="659135"/>
                  </a:lnTo>
                  <a:lnTo>
                    <a:pt x="454781" y="674899"/>
                  </a:lnTo>
                  <a:lnTo>
                    <a:pt x="413723" y="685720"/>
                  </a:lnTo>
                  <a:lnTo>
                    <a:pt x="371650" y="691434"/>
                  </a:lnTo>
                  <a:lnTo>
                    <a:pt x="346186" y="692372"/>
                  </a:lnTo>
                  <a:close/>
                </a:path>
              </a:pathLst>
            </a:custGeom>
            <a:solidFill>
              <a:srgbClr val="118CFF">
                <a:alpha val="8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02314" y="8430591"/>
              <a:ext cx="692785" cy="692785"/>
            </a:xfrm>
            <a:custGeom>
              <a:avLst/>
              <a:gdLst/>
              <a:ahLst/>
              <a:cxnLst/>
              <a:rect l="l" t="t" r="r" b="b"/>
              <a:pathLst>
                <a:path w="692785" h="692784">
                  <a:moveTo>
                    <a:pt x="0" y="346186"/>
                  </a:moveTo>
                  <a:lnTo>
                    <a:pt x="2603" y="388565"/>
                  </a:lnTo>
                  <a:lnTo>
                    <a:pt x="10374" y="430302"/>
                  </a:lnTo>
                  <a:lnTo>
                    <a:pt x="23195" y="470774"/>
                  </a:lnTo>
                  <a:lnTo>
                    <a:pt x="40877" y="509377"/>
                  </a:lnTo>
                  <a:lnTo>
                    <a:pt x="63151" y="545525"/>
                  </a:lnTo>
                  <a:lnTo>
                    <a:pt x="89679" y="578671"/>
                  </a:lnTo>
                  <a:lnTo>
                    <a:pt x="120064" y="608320"/>
                  </a:lnTo>
                  <a:lnTo>
                    <a:pt x="153855" y="634029"/>
                  </a:lnTo>
                  <a:lnTo>
                    <a:pt x="190539" y="655409"/>
                  </a:lnTo>
                  <a:lnTo>
                    <a:pt x="229559" y="672136"/>
                  </a:lnTo>
                  <a:lnTo>
                    <a:pt x="270333" y="683960"/>
                  </a:lnTo>
                  <a:lnTo>
                    <a:pt x="312254" y="690705"/>
                  </a:lnTo>
                  <a:lnTo>
                    <a:pt x="346186" y="692372"/>
                  </a:lnTo>
                  <a:lnTo>
                    <a:pt x="354684" y="692268"/>
                  </a:lnTo>
                  <a:lnTo>
                    <a:pt x="396982" y="688625"/>
                  </a:lnTo>
                  <a:lnTo>
                    <a:pt x="438516" y="679833"/>
                  </a:lnTo>
                  <a:lnTo>
                    <a:pt x="478666" y="666020"/>
                  </a:lnTo>
                  <a:lnTo>
                    <a:pt x="516823" y="647397"/>
                  </a:lnTo>
                  <a:lnTo>
                    <a:pt x="552409" y="624245"/>
                  </a:lnTo>
                  <a:lnTo>
                    <a:pt x="584894" y="596912"/>
                  </a:lnTo>
                  <a:lnTo>
                    <a:pt x="613791" y="565804"/>
                  </a:lnTo>
                  <a:lnTo>
                    <a:pt x="638664" y="531393"/>
                  </a:lnTo>
                  <a:lnTo>
                    <a:pt x="659135" y="494200"/>
                  </a:lnTo>
                  <a:lnTo>
                    <a:pt x="674899" y="454781"/>
                  </a:lnTo>
                  <a:lnTo>
                    <a:pt x="685720" y="413723"/>
                  </a:lnTo>
                  <a:lnTo>
                    <a:pt x="691434" y="371650"/>
                  </a:lnTo>
                  <a:lnTo>
                    <a:pt x="692372" y="346186"/>
                  </a:lnTo>
                  <a:lnTo>
                    <a:pt x="692268" y="337687"/>
                  </a:lnTo>
                  <a:lnTo>
                    <a:pt x="688625" y="295390"/>
                  </a:lnTo>
                  <a:lnTo>
                    <a:pt x="679833" y="253856"/>
                  </a:lnTo>
                  <a:lnTo>
                    <a:pt x="666020" y="213706"/>
                  </a:lnTo>
                  <a:lnTo>
                    <a:pt x="647397" y="175549"/>
                  </a:lnTo>
                  <a:lnTo>
                    <a:pt x="624245" y="139963"/>
                  </a:lnTo>
                  <a:lnTo>
                    <a:pt x="596912" y="107478"/>
                  </a:lnTo>
                  <a:lnTo>
                    <a:pt x="565804" y="78580"/>
                  </a:lnTo>
                  <a:lnTo>
                    <a:pt x="531393" y="53708"/>
                  </a:lnTo>
                  <a:lnTo>
                    <a:pt x="494200" y="33237"/>
                  </a:lnTo>
                  <a:lnTo>
                    <a:pt x="454781" y="17473"/>
                  </a:lnTo>
                  <a:lnTo>
                    <a:pt x="413723" y="6651"/>
                  </a:lnTo>
                  <a:lnTo>
                    <a:pt x="371650" y="937"/>
                  </a:lnTo>
                  <a:lnTo>
                    <a:pt x="346186" y="0"/>
                  </a:lnTo>
                  <a:lnTo>
                    <a:pt x="337687" y="104"/>
                  </a:lnTo>
                  <a:lnTo>
                    <a:pt x="295390" y="3746"/>
                  </a:lnTo>
                  <a:lnTo>
                    <a:pt x="253856" y="12539"/>
                  </a:lnTo>
                  <a:lnTo>
                    <a:pt x="213706" y="26351"/>
                  </a:lnTo>
                  <a:lnTo>
                    <a:pt x="175549" y="44975"/>
                  </a:lnTo>
                  <a:lnTo>
                    <a:pt x="139963" y="68126"/>
                  </a:lnTo>
                  <a:lnTo>
                    <a:pt x="107478" y="95460"/>
                  </a:lnTo>
                  <a:lnTo>
                    <a:pt x="78580" y="126568"/>
                  </a:lnTo>
                  <a:lnTo>
                    <a:pt x="53708" y="160979"/>
                  </a:lnTo>
                  <a:lnTo>
                    <a:pt x="33237" y="198172"/>
                  </a:lnTo>
                  <a:lnTo>
                    <a:pt x="17473" y="237591"/>
                  </a:lnTo>
                  <a:lnTo>
                    <a:pt x="6651" y="278648"/>
                  </a:lnTo>
                  <a:lnTo>
                    <a:pt x="937" y="320721"/>
                  </a:lnTo>
                  <a:lnTo>
                    <a:pt x="0" y="346186"/>
                  </a:lnTo>
                </a:path>
              </a:pathLst>
            </a:custGeom>
            <a:ln w="9524">
              <a:solidFill>
                <a:srgbClr val="118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4920" y="3865432"/>
              <a:ext cx="4764430" cy="4675227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1320462" y="233362"/>
              <a:ext cx="7181850" cy="10282555"/>
            </a:xfrm>
            <a:custGeom>
              <a:avLst/>
              <a:gdLst/>
              <a:ahLst/>
              <a:cxnLst/>
              <a:rect l="l" t="t" r="r" b="b"/>
              <a:pathLst>
                <a:path w="7181850" h="10282555">
                  <a:moveTo>
                    <a:pt x="7136113" y="10282236"/>
                  </a:moveTo>
                  <a:lnTo>
                    <a:pt x="45734" y="10282236"/>
                  </a:lnTo>
                  <a:lnTo>
                    <a:pt x="39765" y="10279764"/>
                  </a:lnTo>
                  <a:lnTo>
                    <a:pt x="9433" y="10251347"/>
                  </a:lnTo>
                  <a:lnTo>
                    <a:pt x="0" y="10220251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7115101" y="0"/>
                  </a:lnTo>
                  <a:lnTo>
                    <a:pt x="7153999" y="14645"/>
                  </a:lnTo>
                  <a:lnTo>
                    <a:pt x="7178205" y="48433"/>
                  </a:lnTo>
                  <a:lnTo>
                    <a:pt x="7181848" y="66746"/>
                  </a:lnTo>
                  <a:lnTo>
                    <a:pt x="7181848" y="10220251"/>
                  </a:lnTo>
                  <a:lnTo>
                    <a:pt x="7167202" y="10259149"/>
                  </a:lnTo>
                  <a:lnTo>
                    <a:pt x="7136113" y="102822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1320462" y="233362"/>
              <a:ext cx="7181850" cy="10282555"/>
            </a:xfrm>
            <a:custGeom>
              <a:avLst/>
              <a:gdLst/>
              <a:ahLst/>
              <a:cxnLst/>
              <a:rect l="l" t="t" r="r" b="b"/>
              <a:pathLst>
                <a:path w="7181850" h="10282555">
                  <a:moveTo>
                    <a:pt x="45734" y="10282236"/>
                  </a:moveTo>
                  <a:lnTo>
                    <a:pt x="44099" y="10281559"/>
                  </a:lnTo>
                  <a:lnTo>
                    <a:pt x="39765" y="10279764"/>
                  </a:lnTo>
                  <a:lnTo>
                    <a:pt x="35649" y="10277563"/>
                  </a:lnTo>
                  <a:lnTo>
                    <a:pt x="31748" y="10274957"/>
                  </a:lnTo>
                  <a:lnTo>
                    <a:pt x="27848" y="10272351"/>
                  </a:lnTo>
                  <a:lnTo>
                    <a:pt x="24240" y="10269391"/>
                  </a:lnTo>
                  <a:lnTo>
                    <a:pt x="20923" y="10266074"/>
                  </a:lnTo>
                  <a:lnTo>
                    <a:pt x="17606" y="10262757"/>
                  </a:lnTo>
                  <a:lnTo>
                    <a:pt x="5437" y="10242896"/>
                  </a:lnTo>
                  <a:lnTo>
                    <a:pt x="3642" y="10238563"/>
                  </a:lnTo>
                  <a:lnTo>
                    <a:pt x="2287" y="10234097"/>
                  </a:lnTo>
                  <a:lnTo>
                    <a:pt x="1372" y="10229497"/>
                  </a:lnTo>
                  <a:lnTo>
                    <a:pt x="457" y="10224896"/>
                  </a:lnTo>
                  <a:lnTo>
                    <a:pt x="0" y="10220251"/>
                  </a:lnTo>
                  <a:lnTo>
                    <a:pt x="0" y="10215561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7110411" y="0"/>
                  </a:lnTo>
                  <a:lnTo>
                    <a:pt x="7115101" y="0"/>
                  </a:lnTo>
                  <a:lnTo>
                    <a:pt x="7119747" y="457"/>
                  </a:lnTo>
                  <a:lnTo>
                    <a:pt x="7124347" y="1372"/>
                  </a:lnTo>
                  <a:lnTo>
                    <a:pt x="7128947" y="2287"/>
                  </a:lnTo>
                  <a:lnTo>
                    <a:pt x="7133414" y="3642"/>
                  </a:lnTo>
                  <a:lnTo>
                    <a:pt x="7137748" y="5437"/>
                  </a:lnTo>
                  <a:lnTo>
                    <a:pt x="7142082" y="7232"/>
                  </a:lnTo>
                  <a:lnTo>
                    <a:pt x="7160925" y="20923"/>
                  </a:lnTo>
                  <a:lnTo>
                    <a:pt x="7164242" y="24240"/>
                  </a:lnTo>
                  <a:lnTo>
                    <a:pt x="7167202" y="27848"/>
                  </a:lnTo>
                  <a:lnTo>
                    <a:pt x="7169808" y="31748"/>
                  </a:lnTo>
                  <a:lnTo>
                    <a:pt x="7172414" y="35649"/>
                  </a:lnTo>
                  <a:lnTo>
                    <a:pt x="7181849" y="71437"/>
                  </a:lnTo>
                  <a:lnTo>
                    <a:pt x="7181849" y="10215561"/>
                  </a:lnTo>
                  <a:lnTo>
                    <a:pt x="7169808" y="10255248"/>
                  </a:lnTo>
                  <a:lnTo>
                    <a:pt x="7167202" y="10259149"/>
                  </a:lnTo>
                  <a:lnTo>
                    <a:pt x="7164242" y="10262757"/>
                  </a:lnTo>
                  <a:lnTo>
                    <a:pt x="7160925" y="10266074"/>
                  </a:lnTo>
                  <a:lnTo>
                    <a:pt x="7157608" y="10269391"/>
                  </a:lnTo>
                  <a:lnTo>
                    <a:pt x="7137748" y="10281559"/>
                  </a:lnTo>
                  <a:lnTo>
                    <a:pt x="7136113" y="10282236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13866415" y="314388"/>
            <a:ext cx="2109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 dirty="0">
                <a:solidFill>
                  <a:srgbClr val="242424"/>
                </a:solidFill>
                <a:latin typeface="Tahoma"/>
                <a:cs typeface="Tahoma"/>
              </a:rPr>
              <a:t>Store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Inventory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42424"/>
                </a:solidFill>
                <a:latin typeface="Tahoma"/>
                <a:cs typeface="Tahoma"/>
              </a:rPr>
              <a:t>Risk</a:t>
            </a:r>
            <a:endParaRPr sz="2000">
              <a:latin typeface="Tahoma"/>
              <a:cs typeface="Tahoma"/>
            </a:endParaRPr>
          </a:p>
        </p:txBody>
      </p:sp>
      <p:graphicFrame>
        <p:nvGraphicFramePr>
          <p:cNvPr id="68" name="object 68"/>
          <p:cNvGraphicFramePr>
            <a:graphicFrameLocks noGrp="1"/>
          </p:cNvGraphicFramePr>
          <p:nvPr/>
        </p:nvGraphicFramePr>
        <p:xfrm>
          <a:off x="11477625" y="786376"/>
          <a:ext cx="6781165" cy="9469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6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26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Store_Name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Sum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Replenishment_Risk_SKUs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Sum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of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Overstock_Risk_SKUs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Sum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of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41910" marB="0">
                    <a:lnB w="9525">
                      <a:solidFill>
                        <a:srgbClr val="242424"/>
                      </a:solidFill>
                      <a:prstDash val="solid"/>
                    </a:lnB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Adventure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Virginia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Beach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R w="9525">
                      <a:solidFill>
                        <a:srgbClr val="242424"/>
                      </a:solidFill>
                      <a:prstDash val="solid"/>
                    </a:lnR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L w="9525">
                      <a:solidFill>
                        <a:srgbClr val="242424"/>
                      </a:solidFill>
                      <a:prstDash val="solid"/>
                    </a:lnL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2069" marB="0"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242424"/>
                      </a:solidFill>
                      <a:prstDash val="solid"/>
                    </a:lnT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Bluebird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Toys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Lexington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Board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Game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Barn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Minneapolis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Board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Game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Barn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St.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Petersburg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Board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Game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Barn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Toledo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Bright</a:t>
                      </a:r>
                      <a:r>
                        <a:rPr sz="1050" spc="-3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Star</a:t>
                      </a:r>
                      <a:r>
                        <a:rPr sz="1050" spc="-3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</a:t>
                      </a:r>
                      <a:r>
                        <a:rPr sz="1050" spc="-3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Shop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Birmingham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Cedar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Corner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Montgomery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City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Lights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Raleigh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City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Lights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Stockton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Classic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</a:t>
                      </a:r>
                      <a:r>
                        <a:rPr sz="1050" spc="-3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Chest</a:t>
                      </a:r>
                      <a:r>
                        <a:rPr sz="1050" spc="-3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Modesto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Creative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Play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Toys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Huntsville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Dinosaur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Dreams</a:t>
                      </a:r>
                      <a:r>
                        <a:rPr sz="1050" spc="-3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Aurora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Dinosaur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Dreams</a:t>
                      </a:r>
                      <a:r>
                        <a:rPr sz="1050" spc="-3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Glendale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Giggles &amp; Gadgets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Lubbock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Happy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Hippo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Toys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Durham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Kids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Quest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Toys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Plano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Kids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Quest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Winston-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Salem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Little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Sprouts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Peoria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Maple</a:t>
                      </a:r>
                      <a:r>
                        <a:rPr sz="1050" spc="-3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Street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Louisville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Mini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Makers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Asheville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Mountain</a:t>
                      </a:r>
                      <a:r>
                        <a:rPr sz="1050" spc="-4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Trail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Pittsburgh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9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Neighborhood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Co.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Garland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Neighborhood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Co.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Rochester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Neighborhood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Co.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San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Bernardino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Ocean</a:t>
                      </a:r>
                      <a:r>
                        <a:rPr sz="1050" spc="-4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Wave</a:t>
                      </a:r>
                      <a:r>
                        <a:rPr sz="1050" spc="-4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4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Wichita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Playtime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Emporium</a:t>
                      </a:r>
                      <a:r>
                        <a:rPr sz="1050" spc="-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Los</a:t>
                      </a:r>
                      <a:r>
                        <a:rPr sz="1050" spc="-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Angeles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Puzzle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Planet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Ann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Arbor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7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Puzzle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Planet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Fresno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Puzzle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Planet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Las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Vegas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Rainbow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Market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Baltimore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Rainbow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</a:t>
                      </a:r>
                      <a:r>
                        <a:rPr sz="1050" spc="-1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Market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Tampa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Space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Ranger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Toys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Nashville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Space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Ranger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Toys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Oceanside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5654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Spark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&amp;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Play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St.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Paul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46990">
                        <a:lnSpc>
                          <a:spcPts val="1080"/>
                        </a:lnSpc>
                        <a:spcBef>
                          <a:spcPts val="395"/>
                        </a:spcBef>
                      </a:pP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Storybook</a:t>
                      </a:r>
                      <a:r>
                        <a:rPr sz="1050" spc="-3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2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Toys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Fort</a:t>
                      </a: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050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Collins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ts val="1080"/>
                        </a:lnSpc>
                        <a:spcBef>
                          <a:spcPts val="395"/>
                        </a:spcBef>
                      </a:pPr>
                      <a:r>
                        <a:rPr sz="1050" spc="-5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ts val="1080"/>
                        </a:lnSpc>
                        <a:spcBef>
                          <a:spcPts val="395"/>
                        </a:spcBef>
                      </a:pPr>
                      <a:r>
                        <a:rPr sz="1050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30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50165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marL="46990">
                        <a:lnSpc>
                          <a:spcPts val="1205"/>
                        </a:lnSpc>
                      </a:pPr>
                      <a:r>
                        <a:rPr sz="1050" b="1" spc="-10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Total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R w="9525">
                      <a:solidFill>
                        <a:srgbClr val="242424"/>
                      </a:solidFill>
                      <a:prstDash val="solid"/>
                    </a:lnR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ts val="1205"/>
                        </a:lnSpc>
                      </a:pPr>
                      <a:r>
                        <a:rPr sz="1050" b="1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153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9525">
                      <a:solidFill>
                        <a:srgbClr val="242424"/>
                      </a:solidFill>
                      <a:prstDash val="solid"/>
                    </a:lnL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ts val="1205"/>
                        </a:lnSpc>
                      </a:pPr>
                      <a:r>
                        <a:rPr sz="1050" b="1" spc="-25" dirty="0">
                          <a:solidFill>
                            <a:srgbClr val="242424"/>
                          </a:solidFill>
                          <a:latin typeface="Segoe UI"/>
                          <a:cs typeface="Segoe UI"/>
                        </a:rPr>
                        <a:t>216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FAFA">
                        <a:alpha val="859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</a:tbl>
          </a:graphicData>
        </a:graphic>
      </p:graphicFrame>
      <p:grpSp>
        <p:nvGrpSpPr>
          <p:cNvPr id="69" name="object 69"/>
          <p:cNvGrpSpPr/>
          <p:nvPr/>
        </p:nvGrpSpPr>
        <p:grpSpPr>
          <a:xfrm>
            <a:off x="6667499" y="781049"/>
            <a:ext cx="11677650" cy="9739630"/>
            <a:chOff x="6667499" y="781049"/>
            <a:chExt cx="11677650" cy="9739630"/>
          </a:xfrm>
        </p:grpSpPr>
        <p:sp>
          <p:nvSpPr>
            <p:cNvPr id="70" name="object 70"/>
            <p:cNvSpPr/>
            <p:nvPr/>
          </p:nvSpPr>
          <p:spPr>
            <a:xfrm>
              <a:off x="11477624" y="10277474"/>
              <a:ext cx="6781800" cy="85725"/>
            </a:xfrm>
            <a:custGeom>
              <a:avLst/>
              <a:gdLst/>
              <a:ahLst/>
              <a:cxnLst/>
              <a:rect l="l" t="t" r="r" b="b"/>
              <a:pathLst>
                <a:path w="6781800" h="85725">
                  <a:moveTo>
                    <a:pt x="6744620" y="85723"/>
                  </a:moveTo>
                  <a:lnTo>
                    <a:pt x="37178" y="85723"/>
                  </a:lnTo>
                  <a:lnTo>
                    <a:pt x="31710" y="84636"/>
                  </a:lnTo>
                  <a:lnTo>
                    <a:pt x="1087" y="54012"/>
                  </a:lnTo>
                  <a:lnTo>
                    <a:pt x="0" y="48545"/>
                  </a:lnTo>
                  <a:lnTo>
                    <a:pt x="0" y="42862"/>
                  </a:lnTo>
                  <a:lnTo>
                    <a:pt x="0" y="37177"/>
                  </a:lnTo>
                  <a:lnTo>
                    <a:pt x="21208" y="5436"/>
                  </a:lnTo>
                  <a:lnTo>
                    <a:pt x="37178" y="0"/>
                  </a:lnTo>
                  <a:lnTo>
                    <a:pt x="6744620" y="0"/>
                  </a:lnTo>
                  <a:lnTo>
                    <a:pt x="6776360" y="21205"/>
                  </a:lnTo>
                  <a:lnTo>
                    <a:pt x="6781798" y="37177"/>
                  </a:lnTo>
                  <a:lnTo>
                    <a:pt x="6781798" y="48545"/>
                  </a:lnTo>
                  <a:lnTo>
                    <a:pt x="6760589" y="80285"/>
                  </a:lnTo>
                  <a:lnTo>
                    <a:pt x="6750087" y="84635"/>
                  </a:lnTo>
                  <a:lnTo>
                    <a:pt x="6744620" y="85723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1482386" y="10282237"/>
              <a:ext cx="5886450" cy="76200"/>
            </a:xfrm>
            <a:custGeom>
              <a:avLst/>
              <a:gdLst/>
              <a:ahLst/>
              <a:cxnLst/>
              <a:rect l="l" t="t" r="r" b="b"/>
              <a:pathLst>
                <a:path w="5886450" h="76200">
                  <a:moveTo>
                    <a:pt x="5853402" y="76199"/>
                  </a:moveTo>
                  <a:lnTo>
                    <a:pt x="33047" y="76199"/>
                  </a:lnTo>
                  <a:lnTo>
                    <a:pt x="28187" y="75233"/>
                  </a:lnTo>
                  <a:lnTo>
                    <a:pt x="966" y="48012"/>
                  </a:lnTo>
                  <a:lnTo>
                    <a:pt x="0" y="43152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5853402" y="0"/>
                  </a:lnTo>
                  <a:lnTo>
                    <a:pt x="5885482" y="28187"/>
                  </a:lnTo>
                  <a:lnTo>
                    <a:pt x="5886448" y="33047"/>
                  </a:lnTo>
                  <a:lnTo>
                    <a:pt x="5886448" y="43152"/>
                  </a:lnTo>
                  <a:lnTo>
                    <a:pt x="5858261" y="75233"/>
                  </a:lnTo>
                  <a:lnTo>
                    <a:pt x="5853402" y="76199"/>
                  </a:lnTo>
                  <a:close/>
                </a:path>
              </a:pathLst>
            </a:custGeom>
            <a:solidFill>
              <a:srgbClr val="605D5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1482386" y="10282237"/>
              <a:ext cx="5886450" cy="76200"/>
            </a:xfrm>
            <a:custGeom>
              <a:avLst/>
              <a:gdLst/>
              <a:ahLst/>
              <a:cxnLst/>
              <a:rect l="l" t="t" r="r" b="b"/>
              <a:pathLst>
                <a:path w="5886450" h="76200">
                  <a:moveTo>
                    <a:pt x="0" y="38099"/>
                  </a:move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5848349" y="0"/>
                  </a:lnTo>
                  <a:lnTo>
                    <a:pt x="5853402" y="0"/>
                  </a:lnTo>
                  <a:lnTo>
                    <a:pt x="5858261" y="966"/>
                  </a:lnTo>
                  <a:lnTo>
                    <a:pt x="5862929" y="2900"/>
                  </a:lnTo>
                  <a:lnTo>
                    <a:pt x="5867597" y="4833"/>
                  </a:lnTo>
                  <a:lnTo>
                    <a:pt x="5871717" y="7586"/>
                  </a:lnTo>
                  <a:lnTo>
                    <a:pt x="5875290" y="11159"/>
                  </a:lnTo>
                  <a:lnTo>
                    <a:pt x="5878862" y="14731"/>
                  </a:lnTo>
                  <a:lnTo>
                    <a:pt x="5886449" y="38099"/>
                  </a:lnTo>
                  <a:lnTo>
                    <a:pt x="5886448" y="43152"/>
                  </a:lnTo>
                  <a:lnTo>
                    <a:pt x="5862929" y="73299"/>
                  </a:lnTo>
                  <a:lnTo>
                    <a:pt x="5848349" y="76199"/>
                  </a:lnTo>
                  <a:lnTo>
                    <a:pt x="38099" y="76199"/>
                  </a:lnTo>
                  <a:lnTo>
                    <a:pt x="4833" y="57348"/>
                  </a:lnTo>
                  <a:lnTo>
                    <a:pt x="0" y="43152"/>
                  </a:lnTo>
                  <a:lnTo>
                    <a:pt x="0" y="380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8259423" y="781049"/>
              <a:ext cx="85725" cy="9496425"/>
            </a:xfrm>
            <a:custGeom>
              <a:avLst/>
              <a:gdLst/>
              <a:ahLst/>
              <a:cxnLst/>
              <a:rect l="l" t="t" r="r" b="b"/>
              <a:pathLst>
                <a:path w="85725" h="9496425">
                  <a:moveTo>
                    <a:pt x="48546" y="9496423"/>
                  </a:moveTo>
                  <a:lnTo>
                    <a:pt x="37179" y="9496423"/>
                  </a:lnTo>
                  <a:lnTo>
                    <a:pt x="31710" y="9495335"/>
                  </a:lnTo>
                  <a:lnTo>
                    <a:pt x="1087" y="9464712"/>
                  </a:lnTo>
                  <a:lnTo>
                    <a:pt x="0" y="9459245"/>
                  </a:lnTo>
                  <a:lnTo>
                    <a:pt x="0" y="9453561"/>
                  </a:lnTo>
                  <a:lnTo>
                    <a:pt x="0" y="37178"/>
                  </a:lnTo>
                  <a:lnTo>
                    <a:pt x="21207" y="5437"/>
                  </a:lnTo>
                  <a:lnTo>
                    <a:pt x="37179" y="0"/>
                  </a:lnTo>
                  <a:lnTo>
                    <a:pt x="48546" y="0"/>
                  </a:lnTo>
                  <a:lnTo>
                    <a:pt x="80286" y="21208"/>
                  </a:lnTo>
                  <a:lnTo>
                    <a:pt x="85724" y="37178"/>
                  </a:lnTo>
                  <a:lnTo>
                    <a:pt x="85724" y="9459245"/>
                  </a:lnTo>
                  <a:lnTo>
                    <a:pt x="64516" y="9490983"/>
                  </a:lnTo>
                  <a:lnTo>
                    <a:pt x="54013" y="9495334"/>
                  </a:lnTo>
                  <a:lnTo>
                    <a:pt x="48546" y="9496423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8264186" y="785812"/>
              <a:ext cx="76200" cy="6972300"/>
            </a:xfrm>
            <a:custGeom>
              <a:avLst/>
              <a:gdLst/>
              <a:ahLst/>
              <a:cxnLst/>
              <a:rect l="l" t="t" r="r" b="b"/>
              <a:pathLst>
                <a:path w="76200" h="6972300">
                  <a:moveTo>
                    <a:pt x="43152" y="6972298"/>
                  </a:moveTo>
                  <a:lnTo>
                    <a:pt x="33047" y="6972298"/>
                  </a:lnTo>
                  <a:lnTo>
                    <a:pt x="28187" y="6971331"/>
                  </a:lnTo>
                  <a:lnTo>
                    <a:pt x="966" y="6944111"/>
                  </a:lnTo>
                  <a:lnTo>
                    <a:pt x="0" y="6939250"/>
                  </a:lnTo>
                  <a:lnTo>
                    <a:pt x="0" y="69341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43152" y="0"/>
                  </a:lnTo>
                  <a:lnTo>
                    <a:pt x="75233" y="28187"/>
                  </a:lnTo>
                  <a:lnTo>
                    <a:pt x="76199" y="33047"/>
                  </a:lnTo>
                  <a:lnTo>
                    <a:pt x="76199" y="6939250"/>
                  </a:lnTo>
                  <a:lnTo>
                    <a:pt x="48012" y="6971331"/>
                  </a:lnTo>
                  <a:lnTo>
                    <a:pt x="43152" y="6972298"/>
                  </a:lnTo>
                  <a:close/>
                </a:path>
              </a:pathLst>
            </a:custGeom>
            <a:solidFill>
              <a:srgbClr val="605D5C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8264186" y="785812"/>
              <a:ext cx="76200" cy="6972300"/>
            </a:xfrm>
            <a:custGeom>
              <a:avLst/>
              <a:gdLst/>
              <a:ahLst/>
              <a:cxnLst/>
              <a:rect l="l" t="t" r="r" b="b"/>
              <a:pathLst>
                <a:path w="76200" h="6972300">
                  <a:moveTo>
                    <a:pt x="0" y="6934199"/>
                  </a:move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1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099" y="0"/>
                  </a:lnTo>
                  <a:lnTo>
                    <a:pt x="43152" y="0"/>
                  </a:lnTo>
                  <a:lnTo>
                    <a:pt x="73299" y="23519"/>
                  </a:lnTo>
                  <a:lnTo>
                    <a:pt x="76199" y="38099"/>
                  </a:lnTo>
                  <a:lnTo>
                    <a:pt x="76199" y="6934199"/>
                  </a:lnTo>
                  <a:lnTo>
                    <a:pt x="57348" y="6967464"/>
                  </a:lnTo>
                  <a:lnTo>
                    <a:pt x="38099" y="6972299"/>
                  </a:lnTo>
                  <a:lnTo>
                    <a:pt x="33047" y="6972298"/>
                  </a:lnTo>
                  <a:lnTo>
                    <a:pt x="2900" y="6948779"/>
                  </a:lnTo>
                  <a:lnTo>
                    <a:pt x="0" y="6939250"/>
                  </a:lnTo>
                  <a:lnTo>
                    <a:pt x="0" y="693419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672261" y="2986087"/>
              <a:ext cx="4638675" cy="7529830"/>
            </a:xfrm>
            <a:custGeom>
              <a:avLst/>
              <a:gdLst/>
              <a:ahLst/>
              <a:cxnLst/>
              <a:rect l="l" t="t" r="r" b="b"/>
              <a:pathLst>
                <a:path w="4638675" h="7529830">
                  <a:moveTo>
                    <a:pt x="4592942" y="7529512"/>
                  </a:moveTo>
                  <a:lnTo>
                    <a:pt x="45731" y="7529512"/>
                  </a:lnTo>
                  <a:lnTo>
                    <a:pt x="39765" y="7527041"/>
                  </a:lnTo>
                  <a:lnTo>
                    <a:pt x="9433" y="7498623"/>
                  </a:lnTo>
                  <a:lnTo>
                    <a:pt x="0" y="7467526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571927" y="0"/>
                  </a:lnTo>
                  <a:lnTo>
                    <a:pt x="4610824" y="14645"/>
                  </a:lnTo>
                  <a:lnTo>
                    <a:pt x="4635030" y="48433"/>
                  </a:lnTo>
                  <a:lnTo>
                    <a:pt x="4638674" y="66746"/>
                  </a:lnTo>
                  <a:lnTo>
                    <a:pt x="4638674" y="7467526"/>
                  </a:lnTo>
                  <a:lnTo>
                    <a:pt x="4624028" y="7506424"/>
                  </a:lnTo>
                  <a:lnTo>
                    <a:pt x="4592942" y="75295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672261" y="2986087"/>
              <a:ext cx="4638675" cy="7529830"/>
            </a:xfrm>
            <a:custGeom>
              <a:avLst/>
              <a:gdLst/>
              <a:ahLst/>
              <a:cxnLst/>
              <a:rect l="l" t="t" r="r" b="b"/>
              <a:pathLst>
                <a:path w="4638675" h="7529830">
                  <a:moveTo>
                    <a:pt x="45731" y="7529512"/>
                  </a:moveTo>
                  <a:lnTo>
                    <a:pt x="44099" y="7528836"/>
                  </a:lnTo>
                  <a:lnTo>
                    <a:pt x="39765" y="7527041"/>
                  </a:lnTo>
                  <a:lnTo>
                    <a:pt x="35649" y="7524840"/>
                  </a:lnTo>
                  <a:lnTo>
                    <a:pt x="31748" y="7522234"/>
                  </a:lnTo>
                  <a:lnTo>
                    <a:pt x="27848" y="7519628"/>
                  </a:lnTo>
                  <a:lnTo>
                    <a:pt x="24240" y="7516666"/>
                  </a:lnTo>
                  <a:lnTo>
                    <a:pt x="5437" y="7490173"/>
                  </a:lnTo>
                  <a:lnTo>
                    <a:pt x="3642" y="7485839"/>
                  </a:lnTo>
                  <a:lnTo>
                    <a:pt x="2287" y="7481372"/>
                  </a:lnTo>
                  <a:lnTo>
                    <a:pt x="1372" y="7476772"/>
                  </a:lnTo>
                  <a:lnTo>
                    <a:pt x="457" y="7472171"/>
                  </a:lnTo>
                  <a:lnTo>
                    <a:pt x="0" y="7467526"/>
                  </a:lnTo>
                  <a:lnTo>
                    <a:pt x="0" y="7462836"/>
                  </a:lnTo>
                  <a:lnTo>
                    <a:pt x="0" y="71437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567236" y="0"/>
                  </a:lnTo>
                  <a:lnTo>
                    <a:pt x="4571927" y="0"/>
                  </a:lnTo>
                  <a:lnTo>
                    <a:pt x="4576572" y="457"/>
                  </a:lnTo>
                  <a:lnTo>
                    <a:pt x="4614433" y="17606"/>
                  </a:lnTo>
                  <a:lnTo>
                    <a:pt x="4636386" y="52900"/>
                  </a:lnTo>
                  <a:lnTo>
                    <a:pt x="4637301" y="57500"/>
                  </a:lnTo>
                  <a:lnTo>
                    <a:pt x="4638216" y="62101"/>
                  </a:lnTo>
                  <a:lnTo>
                    <a:pt x="4638674" y="66746"/>
                  </a:lnTo>
                  <a:lnTo>
                    <a:pt x="4638674" y="71437"/>
                  </a:lnTo>
                  <a:lnTo>
                    <a:pt x="4638674" y="7462836"/>
                  </a:lnTo>
                  <a:lnTo>
                    <a:pt x="4638674" y="7467526"/>
                  </a:lnTo>
                  <a:lnTo>
                    <a:pt x="4638216" y="7472171"/>
                  </a:lnTo>
                  <a:lnTo>
                    <a:pt x="4637301" y="7476772"/>
                  </a:lnTo>
                  <a:lnTo>
                    <a:pt x="4636385" y="7481372"/>
                  </a:lnTo>
                  <a:lnTo>
                    <a:pt x="4635030" y="7485839"/>
                  </a:lnTo>
                  <a:lnTo>
                    <a:pt x="4633235" y="7490173"/>
                  </a:lnTo>
                  <a:lnTo>
                    <a:pt x="4631440" y="7494507"/>
                  </a:lnTo>
                  <a:lnTo>
                    <a:pt x="4606924" y="7522234"/>
                  </a:lnTo>
                  <a:lnTo>
                    <a:pt x="4603024" y="7524840"/>
                  </a:lnTo>
                  <a:lnTo>
                    <a:pt x="4598907" y="7527041"/>
                  </a:lnTo>
                  <a:lnTo>
                    <a:pt x="4594574" y="7528836"/>
                  </a:lnTo>
                  <a:lnTo>
                    <a:pt x="4592942" y="7529512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6816725" y="3024769"/>
            <a:ext cx="4309110" cy="5810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59690" algn="ctr">
              <a:lnSpc>
                <a:spcPct val="100000"/>
              </a:lnSpc>
              <a:spcBef>
                <a:spcPts val="430"/>
              </a:spcBef>
            </a:pPr>
            <a:r>
              <a:rPr sz="2000" spc="-90" dirty="0">
                <a:solidFill>
                  <a:srgbClr val="242424"/>
                </a:solidFill>
                <a:latin typeface="Tahoma"/>
                <a:cs typeface="Tahoma"/>
              </a:rPr>
              <a:t>Category</a:t>
            </a:r>
            <a:r>
              <a:rPr sz="2000" spc="-110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114" dirty="0">
                <a:solidFill>
                  <a:srgbClr val="242424"/>
                </a:solidFill>
                <a:latin typeface="Tahoma"/>
                <a:cs typeface="Tahoma"/>
              </a:rPr>
              <a:t>Inventory</a:t>
            </a:r>
            <a:r>
              <a:rPr sz="2000" spc="-105" dirty="0">
                <a:solidFill>
                  <a:srgbClr val="242424"/>
                </a:solidFill>
                <a:latin typeface="Tahoma"/>
                <a:cs typeface="Tahoma"/>
              </a:rPr>
              <a:t> </a:t>
            </a:r>
            <a:r>
              <a:rPr sz="2000" spc="-20" dirty="0">
                <a:solidFill>
                  <a:srgbClr val="242424"/>
                </a:solidFill>
                <a:latin typeface="Tahoma"/>
                <a:cs typeface="Tahoma"/>
              </a:rPr>
              <a:t>Risk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2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Replenishment_Risk_SKUs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and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200" spc="-10" dirty="0">
                <a:solidFill>
                  <a:srgbClr val="616161"/>
                </a:solidFill>
                <a:latin typeface="Segoe UI"/>
                <a:cs typeface="Segoe UI"/>
              </a:rPr>
              <a:t> Overstock_Risk_…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6967934" y="3973899"/>
            <a:ext cx="86486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Action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Figures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7053064" y="4341069"/>
            <a:ext cx="7797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Arts &amp;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Crafts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6899919" y="4708239"/>
            <a:ext cx="9328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Baby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&amp;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Toddler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7022851" y="5075409"/>
            <a:ext cx="810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Board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Games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6918076" y="5442580"/>
            <a:ext cx="91503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Building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Blocks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7094884" y="5809750"/>
            <a:ext cx="7378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Card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Games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7136110" y="6176920"/>
            <a:ext cx="6965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Collectibles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7514431" y="6544091"/>
            <a:ext cx="3187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Dolls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7125096" y="6911260"/>
            <a:ext cx="7080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Educational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7180907" y="7278430"/>
            <a:ext cx="6521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Model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Kits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7029102" y="7645601"/>
            <a:ext cx="8039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Outdoor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Play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7492702" y="8012771"/>
            <a:ext cx="3403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Plush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7071667" y="8379941"/>
            <a:ext cx="7613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Pretend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Play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7377955" y="8747111"/>
            <a:ext cx="45529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Puzzles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7231360" y="9114282"/>
            <a:ext cx="6013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STEM </a:t>
            </a: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Kits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7099200" y="9481453"/>
            <a:ext cx="7340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616161"/>
                </a:solidFill>
                <a:latin typeface="Segoe UI"/>
                <a:cs typeface="Segoe UI"/>
              </a:rPr>
              <a:t>Toy</a:t>
            </a:r>
            <a:r>
              <a:rPr sz="1050" spc="-5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Vehicles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7900987" y="3833812"/>
            <a:ext cx="2712720" cy="5994400"/>
            <a:chOff x="7900987" y="3833812"/>
            <a:chExt cx="2712720" cy="5994400"/>
          </a:xfrm>
        </p:grpSpPr>
        <p:sp>
          <p:nvSpPr>
            <p:cNvPr id="80" name="object 80"/>
            <p:cNvSpPr/>
            <p:nvPr/>
          </p:nvSpPr>
          <p:spPr>
            <a:xfrm>
              <a:off x="7910512" y="9671117"/>
              <a:ext cx="0" cy="152400"/>
            </a:xfrm>
            <a:custGeom>
              <a:avLst/>
              <a:gdLst/>
              <a:ahLst/>
              <a:cxnLst/>
              <a:rect l="l" t="t" r="r" b="b"/>
              <a:pathLst>
                <a:path h="152400">
                  <a:moveTo>
                    <a:pt x="0" y="0"/>
                  </a:moveTo>
                  <a:lnTo>
                    <a:pt x="0" y="152331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905750" y="958205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7910512" y="9303947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7905750" y="921488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7910512" y="893677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905750" y="88477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910512" y="856960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905750" y="848054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910512" y="820243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7905750" y="811337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910512" y="783526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905750" y="774620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910512" y="746809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905750" y="737903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910512" y="7100925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905750" y="701186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910512" y="6733755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905750" y="664469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910512" y="6366585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905750" y="627752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910512" y="5999415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9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905750" y="591035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910512" y="563224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9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905750" y="554318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910512" y="526507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905750" y="517601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910512" y="489790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905750" y="480884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910512" y="453073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905750" y="444167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910512" y="416356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905750" y="407450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7910512" y="3838574"/>
              <a:ext cx="1253490" cy="5984875"/>
            </a:xfrm>
            <a:custGeom>
              <a:avLst/>
              <a:gdLst/>
              <a:ahLst/>
              <a:cxnLst/>
              <a:rect l="l" t="t" r="r" b="b"/>
              <a:pathLst>
                <a:path w="1253490" h="5984875">
                  <a:moveTo>
                    <a:pt x="0" y="0"/>
                  </a:moveTo>
                  <a:lnTo>
                    <a:pt x="0" y="146868"/>
                  </a:lnTo>
                </a:path>
                <a:path w="1253490" h="5984875">
                  <a:moveTo>
                    <a:pt x="1253489" y="5832542"/>
                  </a:moveTo>
                  <a:lnTo>
                    <a:pt x="1253489" y="5984874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159239" y="958205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164002" y="9303947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9159239" y="921488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9164002" y="893677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9159239" y="884771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9164002" y="856960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9159239" y="848054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9164002" y="820243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9159239" y="811337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9164002" y="783526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9159239" y="774620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9164002" y="7468096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9159239" y="737903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9164002" y="7100925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9159239" y="701186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9164002" y="6733755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9159239" y="664469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9164002" y="6366585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9159239" y="627752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164002" y="5999415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9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59239" y="591035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164002" y="563224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9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9159239" y="554318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164002" y="526507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9159239" y="517601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9164002" y="489790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159239" y="480884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9164002" y="453073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9159239" y="444167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9164002" y="416356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29">
                  <a:moveTo>
                    <a:pt x="0" y="0"/>
                  </a:moveTo>
                  <a:lnTo>
                    <a:pt x="0" y="189048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9159239" y="407450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524" y="0"/>
                  </a:lnTo>
                </a:path>
              </a:pathLst>
            </a:custGeom>
            <a:ln w="937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164002" y="3838574"/>
              <a:ext cx="1253490" cy="5984875"/>
            </a:xfrm>
            <a:custGeom>
              <a:avLst/>
              <a:gdLst/>
              <a:ahLst/>
              <a:cxnLst/>
              <a:rect l="l" t="t" r="r" b="b"/>
              <a:pathLst>
                <a:path w="1253490" h="5984875">
                  <a:moveTo>
                    <a:pt x="0" y="0"/>
                  </a:moveTo>
                  <a:lnTo>
                    <a:pt x="0" y="146868"/>
                  </a:lnTo>
                </a:path>
                <a:path w="1253490" h="5984875">
                  <a:moveTo>
                    <a:pt x="1253489" y="5832542"/>
                  </a:moveTo>
                  <a:lnTo>
                    <a:pt x="1253489" y="5984874"/>
                  </a:lnTo>
                </a:path>
                <a:path w="1253490" h="5984875">
                  <a:moveTo>
                    <a:pt x="1253489" y="5465372"/>
                  </a:moveTo>
                  <a:lnTo>
                    <a:pt x="1253489" y="5748169"/>
                  </a:lnTo>
                </a:path>
                <a:path w="1253490" h="5984875">
                  <a:moveTo>
                    <a:pt x="1253489" y="5098202"/>
                  </a:moveTo>
                  <a:lnTo>
                    <a:pt x="1253489" y="5380999"/>
                  </a:lnTo>
                </a:path>
                <a:path w="1253490" h="5984875">
                  <a:moveTo>
                    <a:pt x="1253489" y="4731032"/>
                  </a:moveTo>
                  <a:lnTo>
                    <a:pt x="1253489" y="5013829"/>
                  </a:lnTo>
                </a:path>
                <a:path w="1253490" h="5984875">
                  <a:moveTo>
                    <a:pt x="1253489" y="4363861"/>
                  </a:moveTo>
                  <a:lnTo>
                    <a:pt x="1253489" y="4646658"/>
                  </a:lnTo>
                </a:path>
                <a:path w="1253490" h="5984875">
                  <a:moveTo>
                    <a:pt x="1253489" y="3996691"/>
                  </a:moveTo>
                  <a:lnTo>
                    <a:pt x="1253489" y="4279488"/>
                  </a:lnTo>
                </a:path>
                <a:path w="1253490" h="5984875">
                  <a:moveTo>
                    <a:pt x="1253489" y="3629521"/>
                  </a:moveTo>
                  <a:lnTo>
                    <a:pt x="1253489" y="3912318"/>
                  </a:lnTo>
                </a:path>
                <a:path w="1253490" h="5984875">
                  <a:moveTo>
                    <a:pt x="1253489" y="3262351"/>
                  </a:moveTo>
                  <a:lnTo>
                    <a:pt x="1253489" y="3545148"/>
                  </a:lnTo>
                </a:path>
                <a:path w="1253490" h="5984875">
                  <a:moveTo>
                    <a:pt x="1253489" y="2895180"/>
                  </a:moveTo>
                  <a:lnTo>
                    <a:pt x="1253489" y="3177977"/>
                  </a:lnTo>
                </a:path>
                <a:path w="1253490" h="5984875">
                  <a:moveTo>
                    <a:pt x="1253489" y="2528010"/>
                  </a:moveTo>
                  <a:lnTo>
                    <a:pt x="1253489" y="2810807"/>
                  </a:lnTo>
                </a:path>
                <a:path w="1253490" h="5984875">
                  <a:moveTo>
                    <a:pt x="1253489" y="2160840"/>
                  </a:moveTo>
                  <a:lnTo>
                    <a:pt x="1253489" y="2443637"/>
                  </a:lnTo>
                </a:path>
                <a:path w="1253490" h="5984875">
                  <a:moveTo>
                    <a:pt x="1253489" y="1793670"/>
                  </a:moveTo>
                  <a:lnTo>
                    <a:pt x="1253489" y="2076467"/>
                  </a:lnTo>
                </a:path>
                <a:path w="1253490" h="5984875">
                  <a:moveTo>
                    <a:pt x="1253489" y="1426500"/>
                  </a:moveTo>
                  <a:lnTo>
                    <a:pt x="1253489" y="1709297"/>
                  </a:lnTo>
                </a:path>
                <a:path w="1253490" h="5984875">
                  <a:moveTo>
                    <a:pt x="1253489" y="1059329"/>
                  </a:moveTo>
                  <a:lnTo>
                    <a:pt x="1253489" y="1342126"/>
                  </a:lnTo>
                </a:path>
                <a:path w="1253490" h="5984875">
                  <a:moveTo>
                    <a:pt x="1253489" y="692159"/>
                  </a:moveTo>
                  <a:lnTo>
                    <a:pt x="1253489" y="974956"/>
                  </a:lnTo>
                </a:path>
                <a:path w="1253490" h="5984875">
                  <a:moveTo>
                    <a:pt x="1253489" y="324989"/>
                  </a:moveTo>
                  <a:lnTo>
                    <a:pt x="1253489" y="607786"/>
                  </a:lnTo>
                </a:path>
                <a:path w="1253490" h="5984875">
                  <a:moveTo>
                    <a:pt x="1253489" y="0"/>
                  </a:moveTo>
                  <a:lnTo>
                    <a:pt x="1253489" y="240616"/>
                  </a:lnTo>
                </a:path>
              </a:pathLst>
            </a:custGeom>
            <a:ln w="9524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905738" y="3985450"/>
              <a:ext cx="1918335" cy="5592445"/>
            </a:xfrm>
            <a:custGeom>
              <a:avLst/>
              <a:gdLst/>
              <a:ahLst/>
              <a:cxnLst/>
              <a:rect l="l" t="t" r="r" b="b"/>
              <a:pathLst>
                <a:path w="1918334" h="5592445">
                  <a:moveTo>
                    <a:pt x="1917839" y="5507558"/>
                  </a:moveTo>
                  <a:lnTo>
                    <a:pt x="0" y="5507558"/>
                  </a:lnTo>
                  <a:lnTo>
                    <a:pt x="0" y="5591924"/>
                  </a:lnTo>
                  <a:lnTo>
                    <a:pt x="1917839" y="5591924"/>
                  </a:lnTo>
                  <a:lnTo>
                    <a:pt x="1917839" y="5507558"/>
                  </a:lnTo>
                  <a:close/>
                </a:path>
                <a:path w="1918334" h="5592445">
                  <a:moveTo>
                    <a:pt x="1917839" y="5140376"/>
                  </a:moveTo>
                  <a:lnTo>
                    <a:pt x="0" y="5140376"/>
                  </a:lnTo>
                  <a:lnTo>
                    <a:pt x="0" y="5224754"/>
                  </a:lnTo>
                  <a:lnTo>
                    <a:pt x="1917839" y="5224754"/>
                  </a:lnTo>
                  <a:lnTo>
                    <a:pt x="1917839" y="5140376"/>
                  </a:lnTo>
                  <a:close/>
                </a:path>
                <a:path w="1918334" h="5592445">
                  <a:moveTo>
                    <a:pt x="1917839" y="4773206"/>
                  </a:moveTo>
                  <a:lnTo>
                    <a:pt x="0" y="4773206"/>
                  </a:lnTo>
                  <a:lnTo>
                    <a:pt x="0" y="4857585"/>
                  </a:lnTo>
                  <a:lnTo>
                    <a:pt x="1917839" y="4857585"/>
                  </a:lnTo>
                  <a:lnTo>
                    <a:pt x="1917839" y="4773206"/>
                  </a:lnTo>
                  <a:close/>
                </a:path>
                <a:path w="1918334" h="5592445">
                  <a:moveTo>
                    <a:pt x="1917839" y="4406036"/>
                  </a:moveTo>
                  <a:lnTo>
                    <a:pt x="0" y="4406036"/>
                  </a:lnTo>
                  <a:lnTo>
                    <a:pt x="0" y="4490415"/>
                  </a:lnTo>
                  <a:lnTo>
                    <a:pt x="1917839" y="4490415"/>
                  </a:lnTo>
                  <a:lnTo>
                    <a:pt x="1917839" y="4406036"/>
                  </a:lnTo>
                  <a:close/>
                </a:path>
                <a:path w="1918334" h="5592445">
                  <a:moveTo>
                    <a:pt x="1917839" y="4038866"/>
                  </a:moveTo>
                  <a:lnTo>
                    <a:pt x="0" y="4038866"/>
                  </a:lnTo>
                  <a:lnTo>
                    <a:pt x="0" y="4123245"/>
                  </a:lnTo>
                  <a:lnTo>
                    <a:pt x="1917839" y="4123245"/>
                  </a:lnTo>
                  <a:lnTo>
                    <a:pt x="1917839" y="4038866"/>
                  </a:lnTo>
                  <a:close/>
                </a:path>
                <a:path w="1918334" h="5592445">
                  <a:moveTo>
                    <a:pt x="1917839" y="3671697"/>
                  </a:moveTo>
                  <a:lnTo>
                    <a:pt x="0" y="3671697"/>
                  </a:lnTo>
                  <a:lnTo>
                    <a:pt x="0" y="3756075"/>
                  </a:lnTo>
                  <a:lnTo>
                    <a:pt x="1917839" y="3756075"/>
                  </a:lnTo>
                  <a:lnTo>
                    <a:pt x="1917839" y="3671697"/>
                  </a:lnTo>
                  <a:close/>
                </a:path>
                <a:path w="1918334" h="5592445">
                  <a:moveTo>
                    <a:pt x="1917839" y="3304527"/>
                  </a:moveTo>
                  <a:lnTo>
                    <a:pt x="0" y="3304527"/>
                  </a:lnTo>
                  <a:lnTo>
                    <a:pt x="0" y="3388906"/>
                  </a:lnTo>
                  <a:lnTo>
                    <a:pt x="1917839" y="3388906"/>
                  </a:lnTo>
                  <a:lnTo>
                    <a:pt x="1917839" y="3304527"/>
                  </a:lnTo>
                  <a:close/>
                </a:path>
                <a:path w="1918334" h="5592445">
                  <a:moveTo>
                    <a:pt x="1917839" y="2937357"/>
                  </a:moveTo>
                  <a:lnTo>
                    <a:pt x="0" y="2937357"/>
                  </a:lnTo>
                  <a:lnTo>
                    <a:pt x="0" y="3021736"/>
                  </a:lnTo>
                  <a:lnTo>
                    <a:pt x="1917839" y="3021736"/>
                  </a:lnTo>
                  <a:lnTo>
                    <a:pt x="1917839" y="2937357"/>
                  </a:lnTo>
                  <a:close/>
                </a:path>
                <a:path w="1918334" h="5592445">
                  <a:moveTo>
                    <a:pt x="1917839" y="2570188"/>
                  </a:moveTo>
                  <a:lnTo>
                    <a:pt x="0" y="2570188"/>
                  </a:lnTo>
                  <a:lnTo>
                    <a:pt x="0" y="2654566"/>
                  </a:lnTo>
                  <a:lnTo>
                    <a:pt x="1917839" y="2654566"/>
                  </a:lnTo>
                  <a:lnTo>
                    <a:pt x="1917839" y="2570188"/>
                  </a:lnTo>
                  <a:close/>
                </a:path>
                <a:path w="1918334" h="5592445">
                  <a:moveTo>
                    <a:pt x="1917839" y="2203018"/>
                  </a:moveTo>
                  <a:lnTo>
                    <a:pt x="0" y="2203018"/>
                  </a:lnTo>
                  <a:lnTo>
                    <a:pt x="0" y="2287397"/>
                  </a:lnTo>
                  <a:lnTo>
                    <a:pt x="1917839" y="2287397"/>
                  </a:lnTo>
                  <a:lnTo>
                    <a:pt x="1917839" y="2203018"/>
                  </a:lnTo>
                  <a:close/>
                </a:path>
                <a:path w="1918334" h="5592445">
                  <a:moveTo>
                    <a:pt x="1917839" y="1835848"/>
                  </a:moveTo>
                  <a:lnTo>
                    <a:pt x="0" y="1835848"/>
                  </a:lnTo>
                  <a:lnTo>
                    <a:pt x="0" y="1920227"/>
                  </a:lnTo>
                  <a:lnTo>
                    <a:pt x="1917839" y="1920227"/>
                  </a:lnTo>
                  <a:lnTo>
                    <a:pt x="1917839" y="1835848"/>
                  </a:lnTo>
                  <a:close/>
                </a:path>
                <a:path w="1918334" h="5592445">
                  <a:moveTo>
                    <a:pt x="1917839" y="1468678"/>
                  </a:moveTo>
                  <a:lnTo>
                    <a:pt x="0" y="1468678"/>
                  </a:lnTo>
                  <a:lnTo>
                    <a:pt x="0" y="1553057"/>
                  </a:lnTo>
                  <a:lnTo>
                    <a:pt x="1917839" y="1553057"/>
                  </a:lnTo>
                  <a:lnTo>
                    <a:pt x="1917839" y="1468678"/>
                  </a:lnTo>
                  <a:close/>
                </a:path>
                <a:path w="1918334" h="5592445">
                  <a:moveTo>
                    <a:pt x="1917839" y="1101509"/>
                  </a:moveTo>
                  <a:lnTo>
                    <a:pt x="0" y="1101509"/>
                  </a:lnTo>
                  <a:lnTo>
                    <a:pt x="0" y="1185887"/>
                  </a:lnTo>
                  <a:lnTo>
                    <a:pt x="1917839" y="1185887"/>
                  </a:lnTo>
                  <a:lnTo>
                    <a:pt x="1917839" y="1101509"/>
                  </a:lnTo>
                  <a:close/>
                </a:path>
                <a:path w="1918334" h="5592445">
                  <a:moveTo>
                    <a:pt x="1917839" y="734339"/>
                  </a:moveTo>
                  <a:lnTo>
                    <a:pt x="0" y="734339"/>
                  </a:lnTo>
                  <a:lnTo>
                    <a:pt x="0" y="818718"/>
                  </a:lnTo>
                  <a:lnTo>
                    <a:pt x="1917839" y="818718"/>
                  </a:lnTo>
                  <a:lnTo>
                    <a:pt x="1917839" y="734339"/>
                  </a:lnTo>
                  <a:close/>
                </a:path>
                <a:path w="1918334" h="5592445">
                  <a:moveTo>
                    <a:pt x="1917839" y="367169"/>
                  </a:moveTo>
                  <a:lnTo>
                    <a:pt x="0" y="367169"/>
                  </a:lnTo>
                  <a:lnTo>
                    <a:pt x="0" y="451548"/>
                  </a:lnTo>
                  <a:lnTo>
                    <a:pt x="1917839" y="451548"/>
                  </a:lnTo>
                  <a:lnTo>
                    <a:pt x="1917839" y="367169"/>
                  </a:lnTo>
                  <a:close/>
                </a:path>
                <a:path w="1918334" h="5592445">
                  <a:moveTo>
                    <a:pt x="1917839" y="0"/>
                  </a:moveTo>
                  <a:lnTo>
                    <a:pt x="0" y="0"/>
                  </a:lnTo>
                  <a:lnTo>
                    <a:pt x="0" y="84366"/>
                  </a:lnTo>
                  <a:lnTo>
                    <a:pt x="1917839" y="84366"/>
                  </a:lnTo>
                  <a:lnTo>
                    <a:pt x="1917839" y="0"/>
                  </a:lnTo>
                  <a:close/>
                </a:path>
              </a:pathLst>
            </a:custGeom>
            <a:solidFill>
              <a:srgbClr val="118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905738" y="4079201"/>
              <a:ext cx="2707640" cy="5592445"/>
            </a:xfrm>
            <a:custGeom>
              <a:avLst/>
              <a:gdLst/>
              <a:ahLst/>
              <a:cxnLst/>
              <a:rect l="l" t="t" r="r" b="b"/>
              <a:pathLst>
                <a:path w="2707640" h="5592445">
                  <a:moveTo>
                    <a:pt x="2707538" y="5507545"/>
                  </a:moveTo>
                  <a:lnTo>
                    <a:pt x="0" y="5507545"/>
                  </a:lnTo>
                  <a:lnTo>
                    <a:pt x="0" y="5591924"/>
                  </a:lnTo>
                  <a:lnTo>
                    <a:pt x="2707538" y="5591924"/>
                  </a:lnTo>
                  <a:lnTo>
                    <a:pt x="2707538" y="5507545"/>
                  </a:lnTo>
                  <a:close/>
                </a:path>
                <a:path w="2707640" h="5592445">
                  <a:moveTo>
                    <a:pt x="2707538" y="5140376"/>
                  </a:moveTo>
                  <a:lnTo>
                    <a:pt x="0" y="5140376"/>
                  </a:lnTo>
                  <a:lnTo>
                    <a:pt x="0" y="5224754"/>
                  </a:lnTo>
                  <a:lnTo>
                    <a:pt x="2707538" y="5224754"/>
                  </a:lnTo>
                  <a:lnTo>
                    <a:pt x="2707538" y="5140376"/>
                  </a:lnTo>
                  <a:close/>
                </a:path>
                <a:path w="2707640" h="5592445">
                  <a:moveTo>
                    <a:pt x="2707538" y="4773206"/>
                  </a:moveTo>
                  <a:lnTo>
                    <a:pt x="0" y="4773206"/>
                  </a:lnTo>
                  <a:lnTo>
                    <a:pt x="0" y="4857585"/>
                  </a:lnTo>
                  <a:lnTo>
                    <a:pt x="2707538" y="4857585"/>
                  </a:lnTo>
                  <a:lnTo>
                    <a:pt x="2707538" y="4773206"/>
                  </a:lnTo>
                  <a:close/>
                </a:path>
                <a:path w="2707640" h="5592445">
                  <a:moveTo>
                    <a:pt x="2707538" y="4406036"/>
                  </a:moveTo>
                  <a:lnTo>
                    <a:pt x="0" y="4406036"/>
                  </a:lnTo>
                  <a:lnTo>
                    <a:pt x="0" y="4490415"/>
                  </a:lnTo>
                  <a:lnTo>
                    <a:pt x="2707538" y="4490415"/>
                  </a:lnTo>
                  <a:lnTo>
                    <a:pt x="2707538" y="4406036"/>
                  </a:lnTo>
                  <a:close/>
                </a:path>
                <a:path w="2707640" h="5592445">
                  <a:moveTo>
                    <a:pt x="2707538" y="4038866"/>
                  </a:moveTo>
                  <a:lnTo>
                    <a:pt x="0" y="4038866"/>
                  </a:lnTo>
                  <a:lnTo>
                    <a:pt x="0" y="4123245"/>
                  </a:lnTo>
                  <a:lnTo>
                    <a:pt x="2707538" y="4123245"/>
                  </a:lnTo>
                  <a:lnTo>
                    <a:pt x="2707538" y="4038866"/>
                  </a:lnTo>
                  <a:close/>
                </a:path>
                <a:path w="2707640" h="5592445">
                  <a:moveTo>
                    <a:pt x="2707538" y="3671697"/>
                  </a:moveTo>
                  <a:lnTo>
                    <a:pt x="0" y="3671697"/>
                  </a:lnTo>
                  <a:lnTo>
                    <a:pt x="0" y="3756075"/>
                  </a:lnTo>
                  <a:lnTo>
                    <a:pt x="2707538" y="3756075"/>
                  </a:lnTo>
                  <a:lnTo>
                    <a:pt x="2707538" y="3671697"/>
                  </a:lnTo>
                  <a:close/>
                </a:path>
                <a:path w="2707640" h="5592445">
                  <a:moveTo>
                    <a:pt x="2707538" y="3304527"/>
                  </a:moveTo>
                  <a:lnTo>
                    <a:pt x="0" y="3304527"/>
                  </a:lnTo>
                  <a:lnTo>
                    <a:pt x="0" y="3388906"/>
                  </a:lnTo>
                  <a:lnTo>
                    <a:pt x="2707538" y="3388906"/>
                  </a:lnTo>
                  <a:lnTo>
                    <a:pt x="2707538" y="3304527"/>
                  </a:lnTo>
                  <a:close/>
                </a:path>
                <a:path w="2707640" h="5592445">
                  <a:moveTo>
                    <a:pt x="2707538" y="2937357"/>
                  </a:moveTo>
                  <a:lnTo>
                    <a:pt x="0" y="2937357"/>
                  </a:lnTo>
                  <a:lnTo>
                    <a:pt x="0" y="3021736"/>
                  </a:lnTo>
                  <a:lnTo>
                    <a:pt x="2707538" y="3021736"/>
                  </a:lnTo>
                  <a:lnTo>
                    <a:pt x="2707538" y="2937357"/>
                  </a:lnTo>
                  <a:close/>
                </a:path>
                <a:path w="2707640" h="5592445">
                  <a:moveTo>
                    <a:pt x="2707538" y="2570188"/>
                  </a:moveTo>
                  <a:lnTo>
                    <a:pt x="0" y="2570188"/>
                  </a:lnTo>
                  <a:lnTo>
                    <a:pt x="0" y="2654554"/>
                  </a:lnTo>
                  <a:lnTo>
                    <a:pt x="2707538" y="2654554"/>
                  </a:lnTo>
                  <a:lnTo>
                    <a:pt x="2707538" y="2570188"/>
                  </a:lnTo>
                  <a:close/>
                </a:path>
                <a:path w="2707640" h="5592445">
                  <a:moveTo>
                    <a:pt x="2707538" y="2203018"/>
                  </a:moveTo>
                  <a:lnTo>
                    <a:pt x="0" y="2203018"/>
                  </a:lnTo>
                  <a:lnTo>
                    <a:pt x="0" y="2287384"/>
                  </a:lnTo>
                  <a:lnTo>
                    <a:pt x="2707538" y="2287384"/>
                  </a:lnTo>
                  <a:lnTo>
                    <a:pt x="2707538" y="2203018"/>
                  </a:lnTo>
                  <a:close/>
                </a:path>
                <a:path w="2707640" h="5592445">
                  <a:moveTo>
                    <a:pt x="2707538" y="1835848"/>
                  </a:moveTo>
                  <a:lnTo>
                    <a:pt x="0" y="1835848"/>
                  </a:lnTo>
                  <a:lnTo>
                    <a:pt x="0" y="1920214"/>
                  </a:lnTo>
                  <a:lnTo>
                    <a:pt x="2707538" y="1920214"/>
                  </a:lnTo>
                  <a:lnTo>
                    <a:pt x="2707538" y="1835848"/>
                  </a:lnTo>
                  <a:close/>
                </a:path>
                <a:path w="2707640" h="5592445">
                  <a:moveTo>
                    <a:pt x="2707538" y="1468678"/>
                  </a:moveTo>
                  <a:lnTo>
                    <a:pt x="0" y="1468678"/>
                  </a:lnTo>
                  <a:lnTo>
                    <a:pt x="0" y="1553044"/>
                  </a:lnTo>
                  <a:lnTo>
                    <a:pt x="2707538" y="1553044"/>
                  </a:lnTo>
                  <a:lnTo>
                    <a:pt x="2707538" y="1468678"/>
                  </a:lnTo>
                  <a:close/>
                </a:path>
                <a:path w="2707640" h="5592445">
                  <a:moveTo>
                    <a:pt x="2707538" y="1101509"/>
                  </a:moveTo>
                  <a:lnTo>
                    <a:pt x="0" y="1101509"/>
                  </a:lnTo>
                  <a:lnTo>
                    <a:pt x="0" y="1185875"/>
                  </a:lnTo>
                  <a:lnTo>
                    <a:pt x="2707538" y="1185875"/>
                  </a:lnTo>
                  <a:lnTo>
                    <a:pt x="2707538" y="1101509"/>
                  </a:lnTo>
                  <a:close/>
                </a:path>
                <a:path w="2707640" h="5592445">
                  <a:moveTo>
                    <a:pt x="2707538" y="734339"/>
                  </a:moveTo>
                  <a:lnTo>
                    <a:pt x="0" y="734339"/>
                  </a:lnTo>
                  <a:lnTo>
                    <a:pt x="0" y="818705"/>
                  </a:lnTo>
                  <a:lnTo>
                    <a:pt x="2707538" y="818705"/>
                  </a:lnTo>
                  <a:lnTo>
                    <a:pt x="2707538" y="734339"/>
                  </a:lnTo>
                  <a:close/>
                </a:path>
                <a:path w="2707640" h="5592445">
                  <a:moveTo>
                    <a:pt x="2707538" y="367169"/>
                  </a:moveTo>
                  <a:lnTo>
                    <a:pt x="0" y="367169"/>
                  </a:lnTo>
                  <a:lnTo>
                    <a:pt x="0" y="451535"/>
                  </a:lnTo>
                  <a:lnTo>
                    <a:pt x="2707538" y="451535"/>
                  </a:lnTo>
                  <a:lnTo>
                    <a:pt x="2707538" y="367169"/>
                  </a:lnTo>
                  <a:close/>
                </a:path>
                <a:path w="2707640" h="5592445">
                  <a:moveTo>
                    <a:pt x="2707538" y="0"/>
                  </a:moveTo>
                  <a:lnTo>
                    <a:pt x="0" y="0"/>
                  </a:lnTo>
                  <a:lnTo>
                    <a:pt x="0" y="84366"/>
                  </a:lnTo>
                  <a:lnTo>
                    <a:pt x="2707538" y="84366"/>
                  </a:lnTo>
                  <a:lnTo>
                    <a:pt x="2707538" y="0"/>
                  </a:lnTo>
                  <a:close/>
                </a:path>
              </a:pathLst>
            </a:custGeom>
            <a:solidFill>
              <a:srgbClr val="1223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3" name="object 163"/>
          <p:cNvSpPr txBox="1"/>
          <p:nvPr/>
        </p:nvSpPr>
        <p:spPr>
          <a:xfrm>
            <a:off x="9887112" y="3936610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10676811" y="4030358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9887112" y="4303780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10676811" y="4397528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9887112" y="4670950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10676811" y="4764698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9887112" y="5038120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10676811" y="5131868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9887112" y="540529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10676811" y="5499039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9887112" y="577246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10676811" y="5866209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9887112" y="613963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10676811" y="6233379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9887112" y="6506802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6" name="object 186"/>
          <p:cNvSpPr txBox="1"/>
          <p:nvPr/>
        </p:nvSpPr>
        <p:spPr>
          <a:xfrm>
            <a:off x="10676811" y="6600549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9887112" y="687397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7" name="object 187"/>
          <p:cNvSpPr txBox="1"/>
          <p:nvPr/>
        </p:nvSpPr>
        <p:spPr>
          <a:xfrm>
            <a:off x="10676811" y="6967720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9887112" y="724114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8" name="object 188"/>
          <p:cNvSpPr txBox="1"/>
          <p:nvPr/>
        </p:nvSpPr>
        <p:spPr>
          <a:xfrm>
            <a:off x="10676811" y="7334890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9887112" y="7608313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89" name="object 189"/>
          <p:cNvSpPr txBox="1"/>
          <p:nvPr/>
        </p:nvSpPr>
        <p:spPr>
          <a:xfrm>
            <a:off x="10676811" y="7702060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9887112" y="7975482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10676811" y="8069230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9887112" y="8342652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10676811" y="843640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9887112" y="8709822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10676811" y="880357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9887112" y="9076994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3" name="object 193"/>
          <p:cNvSpPr txBox="1"/>
          <p:nvPr/>
        </p:nvSpPr>
        <p:spPr>
          <a:xfrm>
            <a:off x="10676811" y="917074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9887112" y="9444163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153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94" name="object 194"/>
          <p:cNvSpPr txBox="1"/>
          <p:nvPr/>
        </p:nvSpPr>
        <p:spPr>
          <a:xfrm>
            <a:off x="10676811" y="9537911"/>
            <a:ext cx="22097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616161"/>
                </a:solidFill>
                <a:latin typeface="Segoe UI"/>
                <a:cs typeface="Segoe UI"/>
              </a:rPr>
              <a:t>216</a:t>
            </a:r>
            <a:endParaRPr sz="950">
              <a:latin typeface="Segoe UI"/>
              <a:cs typeface="Segoe UI"/>
            </a:endParaRPr>
          </a:p>
        </p:txBody>
      </p:sp>
      <p:pic>
        <p:nvPicPr>
          <p:cNvPr id="195" name="object 19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40855" y="10178414"/>
            <a:ext cx="95249" cy="95249"/>
          </a:xfrm>
          <a:prstGeom prst="rect">
            <a:avLst/>
          </a:prstGeom>
        </p:spPr>
      </p:pic>
      <p:sp>
        <p:nvSpPr>
          <p:cNvPr id="196" name="object 196"/>
          <p:cNvSpPr txBox="1"/>
          <p:nvPr/>
        </p:nvSpPr>
        <p:spPr>
          <a:xfrm>
            <a:off x="6944270" y="9839324"/>
            <a:ext cx="199263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2069" algn="ctr">
              <a:lnSpc>
                <a:spcPct val="100000"/>
              </a:lnSpc>
              <a:spcBef>
                <a:spcPts val="100"/>
              </a:spcBef>
            </a:pPr>
            <a:r>
              <a:rPr sz="1050" spc="-50" dirty="0">
                <a:solidFill>
                  <a:srgbClr val="616161"/>
                </a:solidFill>
                <a:latin typeface="Segoe UI"/>
                <a:cs typeface="Segoe UI"/>
              </a:rPr>
              <a:t>0</a:t>
            </a:r>
            <a:endParaRPr sz="105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96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Replenishment_Risk_SKUs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97" name="object 19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83979" y="10178414"/>
            <a:ext cx="95249" cy="95249"/>
          </a:xfrm>
          <a:prstGeom prst="rect">
            <a:avLst/>
          </a:prstGeom>
        </p:spPr>
      </p:pic>
      <p:sp>
        <p:nvSpPr>
          <p:cNvPr id="198" name="object 198"/>
          <p:cNvSpPr txBox="1"/>
          <p:nvPr/>
        </p:nvSpPr>
        <p:spPr>
          <a:xfrm>
            <a:off x="9043550" y="9839324"/>
            <a:ext cx="1755139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5555" algn="l"/>
              </a:tabLst>
            </a:pP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100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	</a:t>
            </a:r>
            <a:r>
              <a:rPr sz="1050" spc="-25" dirty="0">
                <a:solidFill>
                  <a:srgbClr val="616161"/>
                </a:solidFill>
                <a:latin typeface="Segoe UI"/>
                <a:cs typeface="Segoe UI"/>
              </a:rPr>
              <a:t>200</a:t>
            </a:r>
            <a:endParaRPr sz="1050">
              <a:latin typeface="Segoe UI"/>
              <a:cs typeface="Segoe UI"/>
            </a:endParaRPr>
          </a:p>
          <a:p>
            <a:pPr marL="57150">
              <a:lnSpc>
                <a:spcPct val="100000"/>
              </a:lnSpc>
              <a:spcBef>
                <a:spcPts val="965"/>
              </a:spcBef>
            </a:pP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Sum</a:t>
            </a:r>
            <a:r>
              <a:rPr sz="1050" spc="-15" dirty="0">
                <a:solidFill>
                  <a:srgbClr val="616161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16161"/>
                </a:solidFill>
                <a:latin typeface="Segoe UI"/>
                <a:cs typeface="Segoe UI"/>
              </a:rPr>
              <a:t>of</a:t>
            </a:r>
            <a:r>
              <a:rPr sz="1050" spc="-10" dirty="0">
                <a:solidFill>
                  <a:srgbClr val="616161"/>
                </a:solidFill>
                <a:latin typeface="Segoe UI"/>
                <a:cs typeface="Segoe UI"/>
              </a:rPr>
              <a:t> Overstock_Risk_SKUs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00" name="Title 1">
            <a:extLst>
              <a:ext uri="{FF2B5EF4-FFF2-40B4-BE49-F238E27FC236}">
                <a16:creationId xmlns:a16="http://schemas.microsoft.com/office/drawing/2014/main" id="{94B970C2-B99C-F83E-6DA8-4145836920A6}"/>
              </a:ext>
            </a:extLst>
          </p:cNvPr>
          <p:cNvSpPr txBox="1">
            <a:spLocks/>
          </p:cNvSpPr>
          <p:nvPr/>
        </p:nvSpPr>
        <p:spPr>
          <a:xfrm>
            <a:off x="6183401" y="305748"/>
            <a:ext cx="744577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616161"/>
                </a:solidFill>
                <a:latin typeface="Segoe UI"/>
                <a:ea typeface="+mj-ea"/>
                <a:cs typeface="Segoe UI"/>
              </a:defRPr>
            </a:lvl1pPr>
          </a:lstStyle>
          <a:p>
            <a:r>
              <a:rPr lang="en-US" sz="2800" dirty="0"/>
              <a:t>Store Inventory Health &amp;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8562-DED0-491D-19AF-5EB2D78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1028700"/>
            <a:ext cx="7445772" cy="430887"/>
          </a:xfrm>
        </p:spPr>
        <p:txBody>
          <a:bodyPr/>
          <a:lstStyle/>
          <a:p>
            <a:r>
              <a:rPr lang="en-US" sz="2800" dirty="0"/>
              <a:t>Business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BAE55-4E05-918D-0867-62465C6A3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7260" y="2471166"/>
            <a:ext cx="8154162" cy="5262979"/>
          </a:xfrm>
        </p:spPr>
        <p:txBody>
          <a:bodyPr/>
          <a:lstStyle/>
          <a:p>
            <a:r>
              <a:rPr lang="en-US" b="1" dirty="0"/>
              <a:t>Business Insights– Key Insights</a:t>
            </a:r>
          </a:p>
          <a:p>
            <a:endParaRPr lang="en-US" dirty="0"/>
          </a:p>
          <a:p>
            <a:endParaRPr lang="en-US" b="1" dirty="0"/>
          </a:p>
          <a:p>
            <a:r>
              <a:rPr lang="en-US" b="1" dirty="0"/>
              <a:t>01 | Sales Performance</a:t>
            </a:r>
          </a:p>
          <a:p>
            <a:r>
              <a:rPr lang="en-US" dirty="0"/>
              <a:t>Revenue is strongly associated with sales volume, with a store-level correlation of 0.975 between Units Sold and Revenue.</a:t>
            </a:r>
          </a:p>
          <a:p>
            <a:endParaRPr lang="en-US" dirty="0"/>
          </a:p>
          <a:p>
            <a:r>
              <a:rPr lang="en-US" b="1" dirty="0"/>
              <a:t>02 | Product &amp; Category</a:t>
            </a:r>
            <a:endParaRPr lang="en-US" dirty="0"/>
          </a:p>
          <a:p>
            <a:r>
              <a:rPr lang="en-US" dirty="0"/>
              <a:t>High-revenue categories do not always have the highest gross margins. Some high-volume categories combine strong revenue contribution with relatively lower margin.</a:t>
            </a:r>
          </a:p>
          <a:p>
            <a:endParaRPr lang="en-US" dirty="0"/>
          </a:p>
          <a:p>
            <a:r>
              <a:rPr lang="en-US" b="1" dirty="0"/>
              <a:t>03 | Store Performance</a:t>
            </a:r>
            <a:endParaRPr lang="en-US" dirty="0"/>
          </a:p>
          <a:p>
            <a:r>
              <a:rPr lang="en-US" dirty="0"/>
              <a:t>Differences between stores are primarily reflected in sales volume, while gross margins remain broadly consistent across stores.</a:t>
            </a:r>
          </a:p>
          <a:p>
            <a:endParaRPr lang="en-US" dirty="0"/>
          </a:p>
          <a:p>
            <a:r>
              <a:rPr lang="en-US" b="1" dirty="0"/>
              <a:t>04 | Inventory Risk</a:t>
            </a:r>
            <a:endParaRPr lang="en-US" dirty="0"/>
          </a:p>
          <a:p>
            <a:r>
              <a:rPr lang="en-US" dirty="0"/>
              <a:t>The inventory analysis identified both replenishment-risk and potential-overstock SKU groups, highlighting opportunities for more targeted inventory management.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8591C-57ED-F2B3-7E54-05CDC1DF6D6C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9653778" y="2471166"/>
            <a:ext cx="8154162" cy="5262979"/>
          </a:xfrm>
        </p:spPr>
        <p:txBody>
          <a:bodyPr/>
          <a:lstStyle/>
          <a:p>
            <a:r>
              <a:rPr lang="en-US" b="1" dirty="0"/>
              <a:t>Business Insights– Recommendations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01 | Margin </a:t>
            </a:r>
            <a:r>
              <a:rPr lang="en-US" b="1" dirty="0" err="1"/>
              <a:t>Optimisation</a:t>
            </a:r>
            <a:endParaRPr lang="en-US" dirty="0"/>
          </a:p>
          <a:p>
            <a:r>
              <a:rPr lang="en-US" dirty="0"/>
              <a:t>Review pricing, discounting and product costs for high-revenue, lower-margin categories.</a:t>
            </a:r>
          </a:p>
          <a:p>
            <a:endParaRPr lang="en-US" dirty="0"/>
          </a:p>
          <a:p>
            <a:r>
              <a:rPr lang="en-US" b="1" dirty="0"/>
              <a:t>02 | Inventory Management</a:t>
            </a:r>
            <a:endParaRPr lang="en-US" dirty="0"/>
          </a:p>
          <a:p>
            <a:r>
              <a:rPr lang="en-US" dirty="0"/>
              <a:t>Investigate store-SKU combinations with replenishment or potential-overstock risk before making inventory decisions.</a:t>
            </a:r>
          </a:p>
          <a:p>
            <a:endParaRPr lang="en-US" dirty="0"/>
          </a:p>
          <a:p>
            <a:r>
              <a:rPr lang="en-US" b="1" dirty="0"/>
              <a:t>03 | Product Management</a:t>
            </a:r>
            <a:endParaRPr lang="en-US" dirty="0"/>
          </a:p>
          <a:p>
            <a:r>
              <a:rPr lang="en-US" dirty="0" err="1"/>
              <a:t>Prioritise</a:t>
            </a:r>
            <a:r>
              <a:rPr lang="en-US" dirty="0"/>
              <a:t> products that generate strong revenue and gross profit, while reviewing high-volume products with relatively low margins.</a:t>
            </a:r>
          </a:p>
          <a:p>
            <a:endParaRPr lang="en-US" dirty="0"/>
          </a:p>
          <a:p>
            <a:r>
              <a:rPr lang="en-US" b="1" dirty="0"/>
              <a:t>04 | Store Management</a:t>
            </a:r>
            <a:endParaRPr lang="en-US" dirty="0"/>
          </a:p>
          <a:p>
            <a:r>
              <a:rPr lang="en-US" dirty="0"/>
              <a:t>Use sales volume and revenue together when investigating differences in store performance, rather than focusing on margin alone.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21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1672</Words>
  <Application>Microsoft Office PowerPoint</Application>
  <PresentationFormat>Custom</PresentationFormat>
  <Paragraphs>806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Calibri</vt:lpstr>
      <vt:lpstr>Segoe UI</vt:lpstr>
      <vt:lpstr>Segoe UI Semibold</vt:lpstr>
      <vt:lpstr>Tahoma</vt:lpstr>
      <vt:lpstr>Times New Roman</vt:lpstr>
      <vt:lpstr>Verdana</vt:lpstr>
      <vt:lpstr>Office Theme</vt:lpstr>
      <vt:lpstr>Revenue 2M</vt:lpstr>
      <vt:lpstr>PowerPoint Presentation</vt:lpstr>
      <vt:lpstr>PowerPoint Presentation</vt:lpstr>
      <vt:lpstr>PowerPoint Presentation</vt:lpstr>
      <vt:lpstr>Business Insights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eleven Zhang</dc:creator>
  <cp:lastModifiedBy>eleven Zhang</cp:lastModifiedBy>
  <cp:revision>1</cp:revision>
  <dcterms:created xsi:type="dcterms:W3CDTF">2026-09-23T03:12:38Z</dcterms:created>
  <dcterms:modified xsi:type="dcterms:W3CDTF">2026-09-23T03:22:08Z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2026-09-23T00:00:00Z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2026-09-23T00:00:00Z</vt:filetime>
  </property>
</Properties>
</file>